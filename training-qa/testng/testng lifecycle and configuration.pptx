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8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28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47" autoAdjust="0"/>
    <p:restoredTop sz="94660"/>
  </p:normalViewPr>
  <p:slideViewPr>
    <p:cSldViewPr snapToGrid="0">
      <p:cViewPr varScale="1">
        <p:scale>
          <a:sx n="97" d="100"/>
          <a:sy n="97" d="100"/>
        </p:scale>
        <p:origin x="72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969DC-181F-4921-8B5F-0EF62F4CE89E}" type="doc">
      <dgm:prSet loTypeId="urn:microsoft.com/office/officeart/2005/8/layout/targe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58F1BD4-D1AC-48B7-82A5-D4CB6FDB58AF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Assertion</a:t>
          </a:r>
        </a:p>
      </dgm:t>
    </dgm:pt>
    <dgm:pt modelId="{C8233260-4FEF-414B-83A3-06916B7AC6C0}" type="parTrans" cxnId="{E5C2701B-A741-404C-93F4-54BE3C18AAD9}">
      <dgm:prSet/>
      <dgm:spPr/>
      <dgm:t>
        <a:bodyPr/>
        <a:lstStyle/>
        <a:p>
          <a:endParaRPr lang="en-IN"/>
        </a:p>
      </dgm:t>
    </dgm:pt>
    <dgm:pt modelId="{C7BA27C1-80C6-4712-87E5-1D24817D2B93}" type="sibTrans" cxnId="{E5C2701B-A741-404C-93F4-54BE3C18AAD9}">
      <dgm:prSet/>
      <dgm:spPr/>
      <dgm:t>
        <a:bodyPr/>
        <a:lstStyle/>
        <a:p>
          <a:endParaRPr lang="en-IN"/>
        </a:p>
      </dgm:t>
    </dgm:pt>
    <dgm:pt modelId="{82FE992F-5167-4A97-8C49-EB87AB410172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Dependencies</a:t>
          </a:r>
        </a:p>
      </dgm:t>
    </dgm:pt>
    <dgm:pt modelId="{5ADB4CCE-F02A-4CC9-B4A9-FB8892D6C65F}" type="parTrans" cxnId="{4151C4E3-B0DC-4F9D-A15E-16111E84015F}">
      <dgm:prSet/>
      <dgm:spPr/>
      <dgm:t>
        <a:bodyPr/>
        <a:lstStyle/>
        <a:p>
          <a:endParaRPr lang="en-IN"/>
        </a:p>
      </dgm:t>
    </dgm:pt>
    <dgm:pt modelId="{BDFE517A-AAC8-44EA-A7FD-9132F9E6C697}" type="sibTrans" cxnId="{4151C4E3-B0DC-4F9D-A15E-16111E84015F}">
      <dgm:prSet/>
      <dgm:spPr/>
      <dgm:t>
        <a:bodyPr/>
        <a:lstStyle/>
        <a:p>
          <a:endParaRPr lang="en-IN"/>
        </a:p>
      </dgm:t>
    </dgm:pt>
    <dgm:pt modelId="{B68AF676-8A19-4713-B053-A02018CBE11A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testng.xml</a:t>
          </a:r>
        </a:p>
      </dgm:t>
    </dgm:pt>
    <dgm:pt modelId="{18EAABD9-7219-4CF4-93F5-7ED5926B28CC}" type="parTrans" cxnId="{D3D577F9-0EA5-4D0E-BC24-3C450F4DF6E8}">
      <dgm:prSet/>
      <dgm:spPr/>
      <dgm:t>
        <a:bodyPr/>
        <a:lstStyle/>
        <a:p>
          <a:endParaRPr lang="en-IN"/>
        </a:p>
      </dgm:t>
    </dgm:pt>
    <dgm:pt modelId="{18947C2A-2E4B-42C3-BD7A-E6776603BBD3}" type="sibTrans" cxnId="{D3D577F9-0EA5-4D0E-BC24-3C450F4DF6E8}">
      <dgm:prSet/>
      <dgm:spPr/>
      <dgm:t>
        <a:bodyPr/>
        <a:lstStyle/>
        <a:p>
          <a:endParaRPr lang="en-IN"/>
        </a:p>
      </dgm:t>
    </dgm:pt>
    <dgm:pt modelId="{FF78FBFE-E4E5-431C-BB27-B0EECEC700A2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Test Groups</a:t>
          </a:r>
        </a:p>
      </dgm:t>
    </dgm:pt>
    <dgm:pt modelId="{88787C94-8F1D-4F84-8F43-4239B3DDE8A1}" type="parTrans" cxnId="{25E54AC8-527E-4F3A-8577-EC2F30A0EBD7}">
      <dgm:prSet/>
      <dgm:spPr/>
      <dgm:t>
        <a:bodyPr/>
        <a:lstStyle/>
        <a:p>
          <a:endParaRPr lang="en-IN"/>
        </a:p>
      </dgm:t>
    </dgm:pt>
    <dgm:pt modelId="{CB25F753-64CF-4648-8846-28B06940A188}" type="sibTrans" cxnId="{25E54AC8-527E-4F3A-8577-EC2F30A0EBD7}">
      <dgm:prSet/>
      <dgm:spPr/>
      <dgm:t>
        <a:bodyPr/>
        <a:lstStyle/>
        <a:p>
          <a:endParaRPr lang="en-IN"/>
        </a:p>
      </dgm:t>
    </dgm:pt>
    <dgm:pt modelId="{DE860416-E6AE-46B5-862B-CD2595D1ACD2}" type="pres">
      <dgm:prSet presAssocID="{6BD969DC-181F-4921-8B5F-0EF62F4CE89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DCB16D0-22AD-43BD-9E6D-75470D186BF0}" type="pres">
      <dgm:prSet presAssocID="{558F1BD4-D1AC-48B7-82A5-D4CB6FDB58AF}" presName="circle1" presStyleLbl="node1" presStyleIdx="0" presStyleCnt="4"/>
      <dgm:spPr/>
    </dgm:pt>
    <dgm:pt modelId="{5BA02E4C-0180-460C-A76C-4BAB2238B1EC}" type="pres">
      <dgm:prSet presAssocID="{558F1BD4-D1AC-48B7-82A5-D4CB6FDB58AF}" presName="space" presStyleCnt="0"/>
      <dgm:spPr/>
    </dgm:pt>
    <dgm:pt modelId="{CF6DB830-3DD5-497F-8F0E-DBFF966E7638}" type="pres">
      <dgm:prSet presAssocID="{558F1BD4-D1AC-48B7-82A5-D4CB6FDB58AF}" presName="rect1" presStyleLbl="alignAcc1" presStyleIdx="0" presStyleCnt="4"/>
      <dgm:spPr/>
    </dgm:pt>
    <dgm:pt modelId="{DEE13DBB-668E-4BFA-9BFB-7A3C6E5243DB}" type="pres">
      <dgm:prSet presAssocID="{FF78FBFE-E4E5-431C-BB27-B0EECEC700A2}" presName="vertSpace2" presStyleLbl="node1" presStyleIdx="0" presStyleCnt="4"/>
      <dgm:spPr/>
    </dgm:pt>
    <dgm:pt modelId="{AB8709F0-ACB3-4EF9-AA32-CDC58FBAB494}" type="pres">
      <dgm:prSet presAssocID="{FF78FBFE-E4E5-431C-BB27-B0EECEC700A2}" presName="circle2" presStyleLbl="node1" presStyleIdx="1" presStyleCnt="4"/>
      <dgm:spPr/>
    </dgm:pt>
    <dgm:pt modelId="{6D68131A-AE50-4FE9-A11E-D50B01673F6F}" type="pres">
      <dgm:prSet presAssocID="{FF78FBFE-E4E5-431C-BB27-B0EECEC700A2}" presName="rect2" presStyleLbl="alignAcc1" presStyleIdx="1" presStyleCnt="4"/>
      <dgm:spPr/>
    </dgm:pt>
    <dgm:pt modelId="{2A0D3F47-8FE7-48A4-9239-C88F641C0211}" type="pres">
      <dgm:prSet presAssocID="{82FE992F-5167-4A97-8C49-EB87AB410172}" presName="vertSpace3" presStyleLbl="node1" presStyleIdx="1" presStyleCnt="4"/>
      <dgm:spPr/>
    </dgm:pt>
    <dgm:pt modelId="{E062147C-5B24-4C85-B079-47B3B8993900}" type="pres">
      <dgm:prSet presAssocID="{82FE992F-5167-4A97-8C49-EB87AB410172}" presName="circle3" presStyleLbl="node1" presStyleIdx="2" presStyleCnt="4"/>
      <dgm:spPr/>
    </dgm:pt>
    <dgm:pt modelId="{01EFB3B9-EF23-49E4-A4F6-7C7232FAD2EA}" type="pres">
      <dgm:prSet presAssocID="{82FE992F-5167-4A97-8C49-EB87AB410172}" presName="rect3" presStyleLbl="alignAcc1" presStyleIdx="2" presStyleCnt="4"/>
      <dgm:spPr/>
    </dgm:pt>
    <dgm:pt modelId="{B787B92C-A8E4-4F4E-8CFF-E6DF1B9DA434}" type="pres">
      <dgm:prSet presAssocID="{B68AF676-8A19-4713-B053-A02018CBE11A}" presName="vertSpace4" presStyleLbl="node1" presStyleIdx="2" presStyleCnt="4"/>
      <dgm:spPr/>
    </dgm:pt>
    <dgm:pt modelId="{099B7D01-B1C9-4FBC-94CF-6068594B6A11}" type="pres">
      <dgm:prSet presAssocID="{B68AF676-8A19-4713-B053-A02018CBE11A}" presName="circle4" presStyleLbl="node1" presStyleIdx="3" presStyleCnt="4"/>
      <dgm:spPr/>
    </dgm:pt>
    <dgm:pt modelId="{D31F5AF3-8014-4F6C-89CE-9115E52C9692}" type="pres">
      <dgm:prSet presAssocID="{B68AF676-8A19-4713-B053-A02018CBE11A}" presName="rect4" presStyleLbl="alignAcc1" presStyleIdx="3" presStyleCnt="4"/>
      <dgm:spPr/>
    </dgm:pt>
    <dgm:pt modelId="{EA2B1DC7-63C4-47A0-85B1-0AD28AE386E0}" type="pres">
      <dgm:prSet presAssocID="{558F1BD4-D1AC-48B7-82A5-D4CB6FDB58AF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C9967B30-E79A-437C-BA9A-677294284B47}" type="pres">
      <dgm:prSet presAssocID="{FF78FBFE-E4E5-431C-BB27-B0EECEC700A2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F700289C-B2B8-4FB8-9D92-57AD93E543B9}" type="pres">
      <dgm:prSet presAssocID="{82FE992F-5167-4A97-8C49-EB87AB410172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B6DA91A6-5549-4B69-8090-0D2FA54C1758}" type="pres">
      <dgm:prSet presAssocID="{B68AF676-8A19-4713-B053-A02018CBE11A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2C5FC812-45D5-418B-BCFD-96C05CE31ABB}" type="presOf" srcId="{6BD969DC-181F-4921-8B5F-0EF62F4CE89E}" destId="{DE860416-E6AE-46B5-862B-CD2595D1ACD2}" srcOrd="0" destOrd="0" presId="urn:microsoft.com/office/officeart/2005/8/layout/target3"/>
    <dgm:cxn modelId="{E5C2701B-A741-404C-93F4-54BE3C18AAD9}" srcId="{6BD969DC-181F-4921-8B5F-0EF62F4CE89E}" destId="{558F1BD4-D1AC-48B7-82A5-D4CB6FDB58AF}" srcOrd="0" destOrd="0" parTransId="{C8233260-4FEF-414B-83A3-06916B7AC6C0}" sibTransId="{C7BA27C1-80C6-4712-87E5-1D24817D2B93}"/>
    <dgm:cxn modelId="{4C09C226-7271-495B-88F9-B3FB95F16A6F}" type="presOf" srcId="{82FE992F-5167-4A97-8C49-EB87AB410172}" destId="{01EFB3B9-EF23-49E4-A4F6-7C7232FAD2EA}" srcOrd="0" destOrd="0" presId="urn:microsoft.com/office/officeart/2005/8/layout/target3"/>
    <dgm:cxn modelId="{270AA72A-63A8-4946-A4C0-7D1A4921B18C}" type="presOf" srcId="{B68AF676-8A19-4713-B053-A02018CBE11A}" destId="{B6DA91A6-5549-4B69-8090-0D2FA54C1758}" srcOrd="1" destOrd="0" presId="urn:microsoft.com/office/officeart/2005/8/layout/target3"/>
    <dgm:cxn modelId="{8A34BC45-6531-49D0-A3A2-12C6833BB18B}" type="presOf" srcId="{FF78FBFE-E4E5-431C-BB27-B0EECEC700A2}" destId="{6D68131A-AE50-4FE9-A11E-D50B01673F6F}" srcOrd="0" destOrd="0" presId="urn:microsoft.com/office/officeart/2005/8/layout/target3"/>
    <dgm:cxn modelId="{7C1F5F4A-7AA4-48BA-A5F3-87E73E960A80}" type="presOf" srcId="{B68AF676-8A19-4713-B053-A02018CBE11A}" destId="{D31F5AF3-8014-4F6C-89CE-9115E52C9692}" srcOrd="0" destOrd="0" presId="urn:microsoft.com/office/officeart/2005/8/layout/target3"/>
    <dgm:cxn modelId="{998B248C-BEF3-48E7-B1E8-463719CCBA28}" type="presOf" srcId="{558F1BD4-D1AC-48B7-82A5-D4CB6FDB58AF}" destId="{EA2B1DC7-63C4-47A0-85B1-0AD28AE386E0}" srcOrd="1" destOrd="0" presId="urn:microsoft.com/office/officeart/2005/8/layout/target3"/>
    <dgm:cxn modelId="{55C583A3-6A0D-4C7A-8DF9-1B02D5065C5A}" type="presOf" srcId="{FF78FBFE-E4E5-431C-BB27-B0EECEC700A2}" destId="{C9967B30-E79A-437C-BA9A-677294284B47}" srcOrd="1" destOrd="0" presId="urn:microsoft.com/office/officeart/2005/8/layout/target3"/>
    <dgm:cxn modelId="{25E54AC8-527E-4F3A-8577-EC2F30A0EBD7}" srcId="{6BD969DC-181F-4921-8B5F-0EF62F4CE89E}" destId="{FF78FBFE-E4E5-431C-BB27-B0EECEC700A2}" srcOrd="1" destOrd="0" parTransId="{88787C94-8F1D-4F84-8F43-4239B3DDE8A1}" sibTransId="{CB25F753-64CF-4648-8846-28B06940A188}"/>
    <dgm:cxn modelId="{4151C4E3-B0DC-4F9D-A15E-16111E84015F}" srcId="{6BD969DC-181F-4921-8B5F-0EF62F4CE89E}" destId="{82FE992F-5167-4A97-8C49-EB87AB410172}" srcOrd="2" destOrd="0" parTransId="{5ADB4CCE-F02A-4CC9-B4A9-FB8892D6C65F}" sibTransId="{BDFE517A-AAC8-44EA-A7FD-9132F9E6C697}"/>
    <dgm:cxn modelId="{CBBBCBE9-DAAB-4EF7-AC82-46231B2ADF86}" type="presOf" srcId="{82FE992F-5167-4A97-8C49-EB87AB410172}" destId="{F700289C-B2B8-4FB8-9D92-57AD93E543B9}" srcOrd="1" destOrd="0" presId="urn:microsoft.com/office/officeart/2005/8/layout/target3"/>
    <dgm:cxn modelId="{597929F1-BD19-4D2D-9D93-CDEB5C5C16A8}" type="presOf" srcId="{558F1BD4-D1AC-48B7-82A5-D4CB6FDB58AF}" destId="{CF6DB830-3DD5-497F-8F0E-DBFF966E7638}" srcOrd="0" destOrd="0" presId="urn:microsoft.com/office/officeart/2005/8/layout/target3"/>
    <dgm:cxn modelId="{D3D577F9-0EA5-4D0E-BC24-3C450F4DF6E8}" srcId="{6BD969DC-181F-4921-8B5F-0EF62F4CE89E}" destId="{B68AF676-8A19-4713-B053-A02018CBE11A}" srcOrd="3" destOrd="0" parTransId="{18EAABD9-7219-4CF4-93F5-7ED5926B28CC}" sibTransId="{18947C2A-2E4B-42C3-BD7A-E6776603BBD3}"/>
    <dgm:cxn modelId="{51A87777-0838-4D0F-9337-F1EF2A071357}" type="presParOf" srcId="{DE860416-E6AE-46B5-862B-CD2595D1ACD2}" destId="{9DCB16D0-22AD-43BD-9E6D-75470D186BF0}" srcOrd="0" destOrd="0" presId="urn:microsoft.com/office/officeart/2005/8/layout/target3"/>
    <dgm:cxn modelId="{1EBA75B2-33FA-44CD-ADCE-CBD84DCBFBDE}" type="presParOf" srcId="{DE860416-E6AE-46B5-862B-CD2595D1ACD2}" destId="{5BA02E4C-0180-460C-A76C-4BAB2238B1EC}" srcOrd="1" destOrd="0" presId="urn:microsoft.com/office/officeart/2005/8/layout/target3"/>
    <dgm:cxn modelId="{1ECD45C2-B381-4A07-8CE8-5D5DB59C86C3}" type="presParOf" srcId="{DE860416-E6AE-46B5-862B-CD2595D1ACD2}" destId="{CF6DB830-3DD5-497F-8F0E-DBFF966E7638}" srcOrd="2" destOrd="0" presId="urn:microsoft.com/office/officeart/2005/8/layout/target3"/>
    <dgm:cxn modelId="{097ABA28-FAE5-4AE2-A8CA-AF613A2A8D2E}" type="presParOf" srcId="{DE860416-E6AE-46B5-862B-CD2595D1ACD2}" destId="{DEE13DBB-668E-4BFA-9BFB-7A3C6E5243DB}" srcOrd="3" destOrd="0" presId="urn:microsoft.com/office/officeart/2005/8/layout/target3"/>
    <dgm:cxn modelId="{BF90563C-5A7E-4684-9153-2A338F54BDE7}" type="presParOf" srcId="{DE860416-E6AE-46B5-862B-CD2595D1ACD2}" destId="{AB8709F0-ACB3-4EF9-AA32-CDC58FBAB494}" srcOrd="4" destOrd="0" presId="urn:microsoft.com/office/officeart/2005/8/layout/target3"/>
    <dgm:cxn modelId="{C939679C-1B53-4AC5-9BB4-42160B033B82}" type="presParOf" srcId="{DE860416-E6AE-46B5-862B-CD2595D1ACD2}" destId="{6D68131A-AE50-4FE9-A11E-D50B01673F6F}" srcOrd="5" destOrd="0" presId="urn:microsoft.com/office/officeart/2005/8/layout/target3"/>
    <dgm:cxn modelId="{3D3CD361-4F88-4410-AD3E-B6ACC648B41E}" type="presParOf" srcId="{DE860416-E6AE-46B5-862B-CD2595D1ACD2}" destId="{2A0D3F47-8FE7-48A4-9239-C88F641C0211}" srcOrd="6" destOrd="0" presId="urn:microsoft.com/office/officeart/2005/8/layout/target3"/>
    <dgm:cxn modelId="{A6C0428B-9E61-4E62-8F28-E88902DAFF14}" type="presParOf" srcId="{DE860416-E6AE-46B5-862B-CD2595D1ACD2}" destId="{E062147C-5B24-4C85-B079-47B3B8993900}" srcOrd="7" destOrd="0" presId="urn:microsoft.com/office/officeart/2005/8/layout/target3"/>
    <dgm:cxn modelId="{592D81F0-E484-4F85-99A1-1DC2B1CD66AC}" type="presParOf" srcId="{DE860416-E6AE-46B5-862B-CD2595D1ACD2}" destId="{01EFB3B9-EF23-49E4-A4F6-7C7232FAD2EA}" srcOrd="8" destOrd="0" presId="urn:microsoft.com/office/officeart/2005/8/layout/target3"/>
    <dgm:cxn modelId="{5C013263-C9F6-424E-A0A4-412BCB268BD4}" type="presParOf" srcId="{DE860416-E6AE-46B5-862B-CD2595D1ACD2}" destId="{B787B92C-A8E4-4F4E-8CFF-E6DF1B9DA434}" srcOrd="9" destOrd="0" presId="urn:microsoft.com/office/officeart/2005/8/layout/target3"/>
    <dgm:cxn modelId="{2950DF2B-1AC8-4996-8511-CDD1402CEB3F}" type="presParOf" srcId="{DE860416-E6AE-46B5-862B-CD2595D1ACD2}" destId="{099B7D01-B1C9-4FBC-94CF-6068594B6A11}" srcOrd="10" destOrd="0" presId="urn:microsoft.com/office/officeart/2005/8/layout/target3"/>
    <dgm:cxn modelId="{B26F6F27-15B9-4CD5-BD6B-4601E882BE80}" type="presParOf" srcId="{DE860416-E6AE-46B5-862B-CD2595D1ACD2}" destId="{D31F5AF3-8014-4F6C-89CE-9115E52C9692}" srcOrd="11" destOrd="0" presId="urn:microsoft.com/office/officeart/2005/8/layout/target3"/>
    <dgm:cxn modelId="{2A8D0A9D-A166-4ADA-BC91-699C5DE7B0B0}" type="presParOf" srcId="{DE860416-E6AE-46B5-862B-CD2595D1ACD2}" destId="{EA2B1DC7-63C4-47A0-85B1-0AD28AE386E0}" srcOrd="12" destOrd="0" presId="urn:microsoft.com/office/officeart/2005/8/layout/target3"/>
    <dgm:cxn modelId="{78C44C58-BACC-45D7-A000-93D8C2352B6C}" type="presParOf" srcId="{DE860416-E6AE-46B5-862B-CD2595D1ACD2}" destId="{C9967B30-E79A-437C-BA9A-677294284B47}" srcOrd="13" destOrd="0" presId="urn:microsoft.com/office/officeart/2005/8/layout/target3"/>
    <dgm:cxn modelId="{D77C1821-10AB-49C9-8A83-36F6C8EE9856}" type="presParOf" srcId="{DE860416-E6AE-46B5-862B-CD2595D1ACD2}" destId="{F700289C-B2B8-4FB8-9D92-57AD93E543B9}" srcOrd="14" destOrd="0" presId="urn:microsoft.com/office/officeart/2005/8/layout/target3"/>
    <dgm:cxn modelId="{268EF9B3-633C-47F2-BAAD-76D798C4FB68}" type="presParOf" srcId="{DE860416-E6AE-46B5-862B-CD2595D1ACD2}" destId="{B6DA91A6-5549-4B69-8090-0D2FA54C1758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B16D0-22AD-43BD-9E6D-75470D186BF0}">
      <dsp:nvSpPr>
        <dsp:cNvPr id="0" name=""/>
        <dsp:cNvSpPr/>
      </dsp:nvSpPr>
      <dsp:spPr>
        <a:xfrm>
          <a:off x="0" y="0"/>
          <a:ext cx="5298895" cy="52988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F6DB830-3DD5-497F-8F0E-DBFF966E7638}">
      <dsp:nvSpPr>
        <dsp:cNvPr id="0" name=""/>
        <dsp:cNvSpPr/>
      </dsp:nvSpPr>
      <dsp:spPr>
        <a:xfrm>
          <a:off x="2649447" y="0"/>
          <a:ext cx="6396344" cy="52988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Assertion</a:t>
          </a:r>
        </a:p>
      </dsp:txBody>
      <dsp:txXfrm>
        <a:off x="2649447" y="0"/>
        <a:ext cx="6396344" cy="1126015"/>
      </dsp:txXfrm>
    </dsp:sp>
    <dsp:sp modelId="{AB8709F0-ACB3-4EF9-AA32-CDC58FBAB494}">
      <dsp:nvSpPr>
        <dsp:cNvPr id="0" name=""/>
        <dsp:cNvSpPr/>
      </dsp:nvSpPr>
      <dsp:spPr>
        <a:xfrm>
          <a:off x="695480" y="1126015"/>
          <a:ext cx="3907935" cy="390793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68131A-AE50-4FE9-A11E-D50B01673F6F}">
      <dsp:nvSpPr>
        <dsp:cNvPr id="0" name=""/>
        <dsp:cNvSpPr/>
      </dsp:nvSpPr>
      <dsp:spPr>
        <a:xfrm>
          <a:off x="2649447" y="1126015"/>
          <a:ext cx="6396344" cy="39079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Test Groups</a:t>
          </a:r>
        </a:p>
      </dsp:txBody>
      <dsp:txXfrm>
        <a:off x="2649447" y="1126015"/>
        <a:ext cx="6396344" cy="1126015"/>
      </dsp:txXfrm>
    </dsp:sp>
    <dsp:sp modelId="{E062147C-5B24-4C85-B079-47B3B8993900}">
      <dsp:nvSpPr>
        <dsp:cNvPr id="0" name=""/>
        <dsp:cNvSpPr/>
      </dsp:nvSpPr>
      <dsp:spPr>
        <a:xfrm>
          <a:off x="1390960" y="2252030"/>
          <a:ext cx="2516975" cy="251697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1EFB3B9-EF23-49E4-A4F6-7C7232FAD2EA}">
      <dsp:nvSpPr>
        <dsp:cNvPr id="0" name=""/>
        <dsp:cNvSpPr/>
      </dsp:nvSpPr>
      <dsp:spPr>
        <a:xfrm>
          <a:off x="2649447" y="2252030"/>
          <a:ext cx="6396344" cy="2516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Dependencies</a:t>
          </a:r>
        </a:p>
      </dsp:txBody>
      <dsp:txXfrm>
        <a:off x="2649447" y="2252030"/>
        <a:ext cx="6396344" cy="1126015"/>
      </dsp:txXfrm>
    </dsp:sp>
    <dsp:sp modelId="{099B7D01-B1C9-4FBC-94CF-6068594B6A11}">
      <dsp:nvSpPr>
        <dsp:cNvPr id="0" name=""/>
        <dsp:cNvSpPr/>
      </dsp:nvSpPr>
      <dsp:spPr>
        <a:xfrm>
          <a:off x="2086440" y="3378046"/>
          <a:ext cx="1126015" cy="112601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31F5AF3-8014-4F6C-89CE-9115E52C9692}">
      <dsp:nvSpPr>
        <dsp:cNvPr id="0" name=""/>
        <dsp:cNvSpPr/>
      </dsp:nvSpPr>
      <dsp:spPr>
        <a:xfrm>
          <a:off x="2649447" y="3378046"/>
          <a:ext cx="6396344" cy="112601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testng.xml</a:t>
          </a:r>
        </a:p>
      </dsp:txBody>
      <dsp:txXfrm>
        <a:off x="2649447" y="3378046"/>
        <a:ext cx="6396344" cy="1126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CF51D-2CA1-4036-9BAF-10979399AB3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FD81-BCC5-4427-8597-1D23DC5F3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26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968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A22F-A0E1-A549-9F20-21D540C3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753EF-363F-3BB9-1DB9-528A92BBD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3E294-BE78-5B66-3F11-9B10BCF0E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4D2B2-068C-7DEB-AFB7-B61074C29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915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A359E-8B3E-DE14-E98C-B18C02C5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84F2B-2D1C-46E0-A6B8-8B68D3F11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0C861-93CF-C4AD-098B-7B5018846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C8DF-5F54-E43D-09B1-2A29505D6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182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12C0-63F9-949C-0C26-0689B4B6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F0D08-8431-C807-341A-6208B38A6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85975-91B4-9DF8-64BE-574C1B3BD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7E99C-2C00-4FB4-49AC-B0AB9E280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306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8590-D074-A058-3324-BCE129AF5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8E963-E46F-F4CA-E8CF-20D8FCD4D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9E9CB-8674-1768-122E-47C2FD3A8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DB13F-1B05-D427-D265-85B783515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002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087D-BEE6-42B3-337F-59F317463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4AFF4-D8C2-DA2C-84F5-3BF6258C9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34EAD-887A-982F-9793-0D61EF2F3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1887F-DB78-2B09-53BC-0DC894041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0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733E-CD6D-065A-E419-17D40EE0D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CA858-2891-97E1-5CA9-21D4D9255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0A782-4274-323B-7610-607AD45A4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881A6-2F58-FB2F-BDF4-1B98E758C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372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77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8AF3-9417-6AEB-42A9-68B22B663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D3C6D-533F-E960-B2CF-35073E7CC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FE301-FC1C-CF8B-363C-5E4E11D8B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673D6-77E4-9FD4-61A2-0368C6B95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516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6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7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6" y="776216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78055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208315"/>
            <a:ext cx="10437812" cy="58109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208315"/>
            <a:ext cx="1602997" cy="581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726" y="-36183"/>
            <a:ext cx="9613861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47041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033" y="270769"/>
            <a:ext cx="945384" cy="447331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8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8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0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6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11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43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2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03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7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46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B59F-74D7-40A6-8C1E-2D62BF488C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55A1-778B-CBD3-2A30-970B27E7B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sz="4400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/&gt;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7B07-2AB6-250A-AB80-DE8B50BCA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Agency FB" panose="020B0503020202020204" pitchFamily="34" charset="0"/>
              </a:rPr>
              <a:t>TestNG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8916-F9E7-EBAC-BE3B-5EA90029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5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9174-4221-2E61-2BBA-A5675E5D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/>
              <a:t>TestNG {</a:t>
            </a:r>
            <a:r>
              <a:rPr lang="en-IN" sz="2000" dirty="0"/>
              <a:t>Agenda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9D6B-D71E-9A8C-F04C-695B0CF7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7DBE-7876-EDF4-6E90-83F9BF3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0D294A9-1C75-20B8-E943-80AC12FC0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4264605"/>
              </p:ext>
            </p:extLst>
          </p:nvPr>
        </p:nvGraphicFramePr>
        <p:xfrm>
          <a:off x="311150" y="1044755"/>
          <a:ext cx="9045792" cy="5298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93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AC8B-BB9D-1C73-7C6C-6DA31094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04C9-CF4E-F114-217D-A5DA9CBD3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Assertion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An </a:t>
            </a:r>
            <a:r>
              <a:rPr lang="en-US" sz="1600" b="1" dirty="0">
                <a:solidFill>
                  <a:schemeClr val="bg1"/>
                </a:solidFill>
              </a:rPr>
              <a:t>assertion</a:t>
            </a:r>
            <a:r>
              <a:rPr lang="en-US" sz="1600" dirty="0">
                <a:solidFill>
                  <a:schemeClr val="bg1"/>
                </a:solidFill>
              </a:rPr>
              <a:t> is a statement used in a test case to verify that the </a:t>
            </a:r>
            <a:r>
              <a:rPr lang="en-US" sz="1600" b="1" dirty="0">
                <a:solidFill>
                  <a:schemeClr val="bg1"/>
                </a:solidFill>
              </a:rPr>
              <a:t>actual result</a:t>
            </a:r>
            <a:r>
              <a:rPr lang="en-US" sz="1600" dirty="0">
                <a:solidFill>
                  <a:schemeClr val="bg1"/>
                </a:solidFill>
              </a:rPr>
              <a:t> of the program matches the </a:t>
            </a:r>
            <a:r>
              <a:rPr lang="en-US" sz="1600" b="1" dirty="0">
                <a:solidFill>
                  <a:schemeClr val="bg1"/>
                </a:solidFill>
              </a:rPr>
              <a:t>expected result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 simple terms, assertions decide whether a test </a:t>
            </a:r>
            <a:r>
              <a:rPr lang="en-US" sz="1600" b="1" dirty="0">
                <a:solidFill>
                  <a:schemeClr val="bg1"/>
                </a:solidFill>
              </a:rPr>
              <a:t>passes or fails</a:t>
            </a:r>
            <a:r>
              <a:rPr lang="en-US" sz="1600" dirty="0">
                <a:solidFill>
                  <a:schemeClr val="bg1"/>
                </a:solidFill>
              </a:rPr>
              <a:t>. If the condition in an assertion is true, the test continues.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If the condition is false, TestNG marks the test as </a:t>
            </a:r>
            <a:r>
              <a:rPr lang="en-US" sz="1600" b="1" dirty="0">
                <a:solidFill>
                  <a:schemeClr val="bg1"/>
                </a:solidFill>
              </a:rPr>
              <a:t>failed</a:t>
            </a:r>
            <a:r>
              <a:rPr lang="en-US" sz="1600" dirty="0">
                <a:solidFill>
                  <a:schemeClr val="bg1"/>
                </a:solidFill>
              </a:rPr>
              <a:t> and reports the error.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Importance of assertion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Running a test without assertions only checks that the code executes — it does not check correctness. Assertions make tests meaningful by validating behavior. They help to: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Confirm that the application behaves as expected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Detect defects automatically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Provide clear failure messages when results are wrong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Ensure reliability during regression testing</a:t>
            </a:r>
          </a:p>
          <a:p>
            <a:pPr marL="0" indent="0">
              <a:buNone/>
            </a:pPr>
            <a:endParaRPr lang="en-US" sz="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TestNG provides a class called </a:t>
            </a:r>
            <a:r>
              <a:rPr lang="en-US" sz="1600" b="1" dirty="0">
                <a:solidFill>
                  <a:schemeClr val="bg1"/>
                </a:solidFill>
              </a:rPr>
              <a:t>Assert</a:t>
            </a:r>
            <a:r>
              <a:rPr lang="en-US" sz="1600" dirty="0">
                <a:solidFill>
                  <a:schemeClr val="bg1"/>
                </a:solidFill>
              </a:rPr>
              <a:t> that contains different assertion methods.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28DD-DE8B-6C76-B10F-29710DE8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18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C964-D154-8593-E433-50EFF696A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E313-8016-3E4B-95CD-30D78F469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06CA-12E6-9FE0-AD81-565F6F380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8409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assertion works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An assertion compares two values or evaluates a condition: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	Actual Result</a:t>
            </a:r>
            <a:r>
              <a:rPr lang="en-US" sz="1700" dirty="0">
                <a:solidFill>
                  <a:schemeClr val="bg1"/>
                </a:solidFill>
              </a:rPr>
              <a:t> – What the program produced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	Expected Result</a:t>
            </a:r>
            <a:r>
              <a:rPr lang="en-US" sz="1700" dirty="0">
                <a:solidFill>
                  <a:schemeClr val="bg1"/>
                </a:solidFill>
              </a:rPr>
              <a:t> – What we believe should happen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If both match, the assertion passes. If they do not match, the assertion fails.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public class </a:t>
            </a:r>
            <a:r>
              <a:rPr lang="en-US" sz="1600" i="1" dirty="0" err="1">
                <a:solidFill>
                  <a:schemeClr val="bg1"/>
                </a:solidFill>
              </a:rPr>
              <a:t>AssertionExample</a:t>
            </a:r>
            <a:r>
              <a:rPr lang="en-US" sz="1600" i="1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endParaRPr lang="en-US" sz="1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@Test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public void </a:t>
            </a:r>
            <a:r>
              <a:rPr lang="en-US" sz="1600" i="1" dirty="0" err="1">
                <a:solidFill>
                  <a:schemeClr val="bg1"/>
                </a:solidFill>
              </a:rPr>
              <a:t>checkAddition</a:t>
            </a:r>
            <a:r>
              <a:rPr lang="en-US" sz="1600" i="1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    int result = 2 + 3;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    </a:t>
            </a:r>
            <a:r>
              <a:rPr lang="en-US" sz="1600" i="1" dirty="0" err="1">
                <a:solidFill>
                  <a:schemeClr val="bg1"/>
                </a:solidFill>
              </a:rPr>
              <a:t>Assert.assertEquals</a:t>
            </a:r>
            <a:r>
              <a:rPr lang="en-US" sz="1600" i="1" dirty="0">
                <a:solidFill>
                  <a:schemeClr val="bg1"/>
                </a:solidFill>
              </a:rPr>
              <a:t>(result, 5, "Addition result is incorrect");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endParaRPr lang="en-US" sz="1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@Test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public void </a:t>
            </a:r>
            <a:r>
              <a:rPr lang="en-US" sz="1600" i="1" dirty="0" err="1">
                <a:solidFill>
                  <a:schemeClr val="bg1"/>
                </a:solidFill>
              </a:rPr>
              <a:t>checkUserName</a:t>
            </a:r>
            <a:r>
              <a:rPr lang="en-US" sz="1600" i="1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    String name = "Sanat";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    </a:t>
            </a:r>
            <a:r>
              <a:rPr lang="en-US" sz="1600" i="1" dirty="0" err="1">
                <a:solidFill>
                  <a:schemeClr val="bg1"/>
                </a:solidFill>
              </a:rPr>
              <a:t>Assert.assertNotNull</a:t>
            </a:r>
            <a:r>
              <a:rPr lang="en-US" sz="1600" i="1" dirty="0">
                <a:solidFill>
                  <a:schemeClr val="bg1"/>
                </a:solidFill>
              </a:rPr>
              <a:t>(name, "Username should not be null");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1D234-81B7-2A76-B5C9-478B57B7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69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D2B1-3220-69ED-26F4-369CC7BA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9C10-6B0C-5078-521B-D25565EC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49A05-CEC5-D8DA-1099-B2101070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840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Common Assertion Methods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89EB1-E5C7-01AA-8F55-53F8AC2F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F324FF-FD2B-ABFF-99B6-44FB1D360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09486"/>
              </p:ext>
            </p:extLst>
          </p:nvPr>
        </p:nvGraphicFramePr>
        <p:xfrm>
          <a:off x="287867" y="1490133"/>
          <a:ext cx="10007072" cy="410913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5003536">
                  <a:extLst>
                    <a:ext uri="{9D8B030D-6E8A-4147-A177-3AD203B41FA5}">
                      <a16:colId xmlns:a16="http://schemas.microsoft.com/office/drawing/2014/main" val="152637574"/>
                    </a:ext>
                  </a:extLst>
                </a:gridCol>
                <a:gridCol w="5003536">
                  <a:extLst>
                    <a:ext uri="{9D8B030D-6E8A-4147-A177-3AD203B41FA5}">
                      <a16:colId xmlns:a16="http://schemas.microsoft.com/office/drawing/2014/main" val="2672683993"/>
                    </a:ext>
                  </a:extLst>
                </a:gridCol>
              </a:tblGrid>
              <a:tr h="51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Assertion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624847"/>
                  </a:ext>
                </a:extLst>
              </a:tr>
              <a:tr h="51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assertEquals(actual, expected)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Verifies two values are 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053630"/>
                  </a:ext>
                </a:extLst>
              </a:tr>
              <a:tr h="51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assertNotEquals(actual, expected)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Verifies two values are not 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90209"/>
                  </a:ext>
                </a:extLst>
              </a:tr>
              <a:tr h="51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assertTrue(condition)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Verifies a condition is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803148"/>
                  </a:ext>
                </a:extLst>
              </a:tr>
              <a:tr h="51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assertFalse(condition)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Verifies a condition is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4290"/>
                  </a:ext>
                </a:extLst>
              </a:tr>
              <a:tr h="51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assertNull(object)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Verifies an object is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026130"/>
                  </a:ext>
                </a:extLst>
              </a:tr>
              <a:tr h="51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assertNotNull(object)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Verifies an object is not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900564"/>
                  </a:ext>
                </a:extLst>
              </a:tr>
              <a:tr h="513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fail()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Forces the test to fail immediately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43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43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952E-5824-8C7E-5969-A8E29252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8DFA-8B43-8041-7994-A03EB067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57E42-5F35-7DA9-25EE-50791FBF6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840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Hard Assertions vs Soft Assertions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Assertions in TestNG are mainly classified into </a:t>
            </a:r>
            <a:r>
              <a:rPr lang="en-US" sz="1500" b="1" dirty="0">
                <a:solidFill>
                  <a:schemeClr val="bg1"/>
                </a:solidFill>
              </a:rPr>
              <a:t>Hard Assertions</a:t>
            </a:r>
            <a:r>
              <a:rPr lang="en-US" sz="1500" dirty="0">
                <a:solidFill>
                  <a:schemeClr val="bg1"/>
                </a:solidFill>
              </a:rPr>
              <a:t> and </a:t>
            </a:r>
            <a:r>
              <a:rPr lang="en-US" sz="1500" b="1" dirty="0">
                <a:solidFill>
                  <a:schemeClr val="bg1"/>
                </a:solidFill>
              </a:rPr>
              <a:t>Soft Assertions</a:t>
            </a:r>
            <a:r>
              <a:rPr lang="en-US" sz="1500" dirty="0">
                <a:solidFill>
                  <a:schemeClr val="bg1"/>
                </a:solidFill>
              </a:rPr>
              <a:t> based on how they behave when a validation fails.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1. Hard Assertion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 </a:t>
            </a:r>
            <a:r>
              <a:rPr lang="en-US" sz="1500" b="1" dirty="0">
                <a:solidFill>
                  <a:schemeClr val="bg1"/>
                </a:solidFill>
              </a:rPr>
              <a:t>Hard Assertion</a:t>
            </a:r>
            <a:r>
              <a:rPr lang="en-US" sz="1500" dirty="0">
                <a:solidFill>
                  <a:schemeClr val="bg1"/>
                </a:solidFill>
              </a:rPr>
              <a:t> is the default type of assertion in TestNG. When a hard assertion fails, the </a:t>
            </a:r>
            <a:r>
              <a:rPr lang="en-US" sz="1500" b="1" dirty="0">
                <a:solidFill>
                  <a:schemeClr val="bg1"/>
                </a:solidFill>
              </a:rPr>
              <a:t>current test method stops execution immediately</a:t>
            </a:r>
            <a:r>
              <a:rPr lang="en-US" sz="1500" dirty="0">
                <a:solidFill>
                  <a:schemeClr val="bg1"/>
                </a:solidFill>
              </a:rPr>
              <a:t>, and the remaining lines in that method are not executed.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Key Characteristics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Execution stops at the point of failure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Remaining code in the test method is skipped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The test is marked as </a:t>
            </a:r>
            <a:r>
              <a:rPr lang="en-US" sz="1500" b="1" dirty="0">
                <a:solidFill>
                  <a:schemeClr val="bg1"/>
                </a:solidFill>
              </a:rPr>
              <a:t>failed immediately</a:t>
            </a:r>
            <a:endParaRPr lang="en-US" sz="1500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Implemented using the Assert class</a:t>
            </a:r>
          </a:p>
          <a:p>
            <a:pPr marL="457200" lvl="1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2. Soft Assertion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 </a:t>
            </a:r>
            <a:r>
              <a:rPr lang="en-US" sz="1500" b="1" dirty="0">
                <a:solidFill>
                  <a:schemeClr val="bg1"/>
                </a:solidFill>
              </a:rPr>
              <a:t>Soft Assertion</a:t>
            </a:r>
            <a:r>
              <a:rPr lang="en-US" sz="1500" dirty="0">
                <a:solidFill>
                  <a:schemeClr val="bg1"/>
                </a:solidFill>
              </a:rPr>
              <a:t> allows the test method to continue execution even if an assertion fails. Failures are collected and reported at the end of the test. Soft assertions are implemented using the </a:t>
            </a:r>
            <a:r>
              <a:rPr lang="en-US" sz="1500" b="1" dirty="0" err="1">
                <a:solidFill>
                  <a:schemeClr val="bg1"/>
                </a:solidFill>
              </a:rPr>
              <a:t>SoftAssert</a:t>
            </a:r>
            <a:r>
              <a:rPr lang="en-US" sz="1500" dirty="0">
                <a:solidFill>
                  <a:schemeClr val="bg1"/>
                </a:solidFill>
              </a:rPr>
              <a:t> class.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Key Characteristics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Test execution continues even after failure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Multiple assertion failures can be reported together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Must call </a:t>
            </a:r>
            <a:r>
              <a:rPr lang="en-US" sz="1500" dirty="0" err="1">
                <a:solidFill>
                  <a:schemeClr val="bg1"/>
                </a:solidFill>
              </a:rPr>
              <a:t>assertAll</a:t>
            </a:r>
            <a:r>
              <a:rPr lang="en-US" sz="1500" dirty="0">
                <a:solidFill>
                  <a:schemeClr val="bg1"/>
                </a:solidFill>
              </a:rPr>
              <a:t>() to mark test as failed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Useful for validating multiple conditions in a single test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137FF-B85C-0A83-ADFA-2B5E29C6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2705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F7637-BF9A-1AC1-EFF2-5F2DF538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C9F5-8CF4-2296-4CBF-36112E728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9E4C8-7428-AB8D-F571-EAF9D9767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15434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Hard Assertions vs Soft Assertions [Example]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0CF33-2CF2-06C0-6AD8-9D849176F4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ED183-6DB2-8F83-24E2-5957041BF09D}"/>
              </a:ext>
            </a:extLst>
          </p:cNvPr>
          <p:cNvSpPr txBox="1"/>
          <p:nvPr/>
        </p:nvSpPr>
        <p:spPr>
          <a:xfrm>
            <a:off x="6701219" y="1789761"/>
            <a:ext cx="5235873" cy="355481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i="1" dirty="0">
                <a:solidFill>
                  <a:schemeClr val="bg1"/>
                </a:solidFill>
              </a:rPr>
              <a:t>import </a:t>
            </a:r>
            <a:r>
              <a:rPr lang="en-IN" sz="1500" i="1" dirty="0" err="1">
                <a:solidFill>
                  <a:schemeClr val="bg1"/>
                </a:solidFill>
              </a:rPr>
              <a:t>org.testng.Assert</a:t>
            </a:r>
            <a:r>
              <a:rPr lang="en-IN" sz="1500" i="1" dirty="0">
                <a:solidFill>
                  <a:schemeClr val="bg1"/>
                </a:solidFill>
              </a:rPr>
              <a:t>;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import </a:t>
            </a:r>
            <a:r>
              <a:rPr lang="en-IN" sz="1500" i="1" dirty="0" err="1">
                <a:solidFill>
                  <a:schemeClr val="bg1"/>
                </a:solidFill>
              </a:rPr>
              <a:t>org.testng.annotations.Test</a:t>
            </a:r>
            <a:r>
              <a:rPr lang="en-IN" sz="1500" i="1" dirty="0">
                <a:solidFill>
                  <a:schemeClr val="bg1"/>
                </a:solidFill>
              </a:rPr>
              <a:t>;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public class </a:t>
            </a:r>
            <a:r>
              <a:rPr lang="en-IN" sz="1500" i="1" dirty="0" err="1">
                <a:solidFill>
                  <a:schemeClr val="bg1"/>
                </a:solidFill>
              </a:rPr>
              <a:t>HardAssertionDemo</a:t>
            </a:r>
            <a:r>
              <a:rPr lang="en-IN" sz="1500" i="1" dirty="0">
                <a:solidFill>
                  <a:schemeClr val="bg1"/>
                </a:solidFill>
              </a:rPr>
              <a:t> {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    @Test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    public void </a:t>
            </a:r>
            <a:r>
              <a:rPr lang="en-IN" sz="1500" i="1" dirty="0" err="1">
                <a:solidFill>
                  <a:schemeClr val="bg1"/>
                </a:solidFill>
              </a:rPr>
              <a:t>hardAssertionExample</a:t>
            </a:r>
            <a:r>
              <a:rPr lang="en-IN" sz="1500" i="1" dirty="0">
                <a:solidFill>
                  <a:schemeClr val="bg1"/>
                </a:solidFill>
              </a:rPr>
              <a:t>() {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System.out.println</a:t>
            </a:r>
            <a:r>
              <a:rPr lang="en-IN" sz="1500" i="1" dirty="0">
                <a:solidFill>
                  <a:schemeClr val="bg1"/>
                </a:solidFill>
              </a:rPr>
              <a:t>("Step 1: Open application");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Assert.assertEquals</a:t>
            </a:r>
            <a:r>
              <a:rPr lang="en-IN" sz="1500" i="1" dirty="0">
                <a:solidFill>
                  <a:schemeClr val="bg1"/>
                </a:solidFill>
              </a:rPr>
              <a:t>(5, 3, "Values are not equal");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System.out.println</a:t>
            </a:r>
            <a:r>
              <a:rPr lang="en-IN" sz="1500" i="1" dirty="0">
                <a:solidFill>
                  <a:schemeClr val="bg1"/>
                </a:solidFill>
              </a:rPr>
              <a:t>("Step 2: This line will NOT execute");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187822-C281-68E1-26D9-AC89C6BEF7B3}"/>
              </a:ext>
            </a:extLst>
          </p:cNvPr>
          <p:cNvSpPr txBox="1"/>
          <p:nvPr/>
        </p:nvSpPr>
        <p:spPr>
          <a:xfrm>
            <a:off x="1765517" y="1348854"/>
            <a:ext cx="1705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Soft Assertion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C5B487-753B-2564-D6A1-E36C570F4159}"/>
              </a:ext>
            </a:extLst>
          </p:cNvPr>
          <p:cNvSpPr txBox="1"/>
          <p:nvPr/>
        </p:nvSpPr>
        <p:spPr>
          <a:xfrm>
            <a:off x="152401" y="1789761"/>
            <a:ext cx="6014290" cy="493981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i="1" dirty="0">
                <a:solidFill>
                  <a:schemeClr val="bg1"/>
                </a:solidFill>
              </a:rPr>
              <a:t>import </a:t>
            </a:r>
            <a:r>
              <a:rPr lang="en-IN" sz="1500" i="1" dirty="0" err="1">
                <a:solidFill>
                  <a:schemeClr val="bg1"/>
                </a:solidFill>
              </a:rPr>
              <a:t>org.testng.annotations.Test</a:t>
            </a:r>
            <a:r>
              <a:rPr lang="en-IN" sz="1500" i="1" dirty="0">
                <a:solidFill>
                  <a:schemeClr val="bg1"/>
                </a:solidFill>
              </a:rPr>
              <a:t>;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import </a:t>
            </a:r>
            <a:r>
              <a:rPr lang="en-IN" sz="1500" i="1" dirty="0" err="1">
                <a:solidFill>
                  <a:schemeClr val="bg1"/>
                </a:solidFill>
              </a:rPr>
              <a:t>org.testng.asserts.SoftAssert</a:t>
            </a:r>
            <a:r>
              <a:rPr lang="en-IN" sz="1500" i="1" dirty="0">
                <a:solidFill>
                  <a:schemeClr val="bg1"/>
                </a:solidFill>
              </a:rPr>
              <a:t>;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public class </a:t>
            </a:r>
            <a:r>
              <a:rPr lang="en-IN" sz="1500" i="1" dirty="0" err="1">
                <a:solidFill>
                  <a:schemeClr val="bg1"/>
                </a:solidFill>
              </a:rPr>
              <a:t>SoftAssertionDemo</a:t>
            </a:r>
            <a:r>
              <a:rPr lang="en-IN" sz="1500" i="1" dirty="0">
                <a:solidFill>
                  <a:schemeClr val="bg1"/>
                </a:solidFill>
              </a:rPr>
              <a:t> {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    @Test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    public void </a:t>
            </a:r>
            <a:r>
              <a:rPr lang="en-IN" sz="1500" i="1" dirty="0" err="1">
                <a:solidFill>
                  <a:schemeClr val="bg1"/>
                </a:solidFill>
              </a:rPr>
              <a:t>softAssertionExample</a:t>
            </a:r>
            <a:r>
              <a:rPr lang="en-IN" sz="1500" i="1" dirty="0">
                <a:solidFill>
                  <a:schemeClr val="bg1"/>
                </a:solidFill>
              </a:rPr>
              <a:t>() {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SoftAssert</a:t>
            </a:r>
            <a:r>
              <a:rPr lang="en-IN" sz="1500" i="1" dirty="0">
                <a:solidFill>
                  <a:schemeClr val="bg1"/>
                </a:solidFill>
              </a:rPr>
              <a:t> </a:t>
            </a:r>
            <a:r>
              <a:rPr lang="en-IN" sz="1500" i="1" dirty="0" err="1">
                <a:solidFill>
                  <a:schemeClr val="bg1"/>
                </a:solidFill>
              </a:rPr>
              <a:t>softAssert</a:t>
            </a:r>
            <a:r>
              <a:rPr lang="en-IN" sz="1500" i="1" dirty="0">
                <a:solidFill>
                  <a:schemeClr val="bg1"/>
                </a:solidFill>
              </a:rPr>
              <a:t> = new </a:t>
            </a:r>
            <a:r>
              <a:rPr lang="en-IN" sz="1500" i="1" dirty="0" err="1">
                <a:solidFill>
                  <a:schemeClr val="bg1"/>
                </a:solidFill>
              </a:rPr>
              <a:t>SoftAssert</a:t>
            </a:r>
            <a:r>
              <a:rPr lang="en-IN" sz="1500" i="1" dirty="0">
                <a:solidFill>
                  <a:schemeClr val="bg1"/>
                </a:solidFill>
              </a:rPr>
              <a:t>();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System.out.println</a:t>
            </a:r>
            <a:r>
              <a:rPr lang="en-IN" sz="1500" i="1" dirty="0">
                <a:solidFill>
                  <a:schemeClr val="bg1"/>
                </a:solidFill>
              </a:rPr>
              <a:t>("Step 1");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softAssert.assertEquals</a:t>
            </a:r>
            <a:r>
              <a:rPr lang="en-IN" sz="1500" i="1" dirty="0">
                <a:solidFill>
                  <a:schemeClr val="bg1"/>
                </a:solidFill>
              </a:rPr>
              <a:t>(5, 3, "First validation failed");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System.out.println</a:t>
            </a:r>
            <a:r>
              <a:rPr lang="en-IN" sz="1500" i="1" dirty="0">
                <a:solidFill>
                  <a:schemeClr val="bg1"/>
                </a:solidFill>
              </a:rPr>
              <a:t>("Step 2");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softAssert.assertTrue</a:t>
            </a:r>
            <a:r>
              <a:rPr lang="en-IN" sz="1500" i="1" dirty="0">
                <a:solidFill>
                  <a:schemeClr val="bg1"/>
                </a:solidFill>
              </a:rPr>
              <a:t>(false, "Second validation failed");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System.out.println</a:t>
            </a:r>
            <a:r>
              <a:rPr lang="en-IN" sz="1500" i="1" dirty="0">
                <a:solidFill>
                  <a:schemeClr val="bg1"/>
                </a:solidFill>
              </a:rPr>
              <a:t>("Step 3: Test continues despite failures");</a:t>
            </a:r>
          </a:p>
          <a:p>
            <a:endParaRPr lang="en-IN" sz="1500" i="1" dirty="0">
              <a:solidFill>
                <a:schemeClr val="bg1"/>
              </a:solidFill>
            </a:endParaRPr>
          </a:p>
          <a:p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softAssert.assertAll</a:t>
            </a:r>
            <a:r>
              <a:rPr lang="en-IN" sz="1500" i="1" dirty="0">
                <a:solidFill>
                  <a:schemeClr val="bg1"/>
                </a:solidFill>
              </a:rPr>
              <a:t>(); // Marks test as failed if any assertion failed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i="1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F95C7-A244-1452-2C33-8CE045A15451}"/>
              </a:ext>
            </a:extLst>
          </p:cNvPr>
          <p:cNvSpPr txBox="1"/>
          <p:nvPr/>
        </p:nvSpPr>
        <p:spPr>
          <a:xfrm>
            <a:off x="8072533" y="1348854"/>
            <a:ext cx="1705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Hard Assertion</a:t>
            </a:r>
          </a:p>
        </p:txBody>
      </p:sp>
    </p:spTree>
    <p:extLst>
      <p:ext uri="{BB962C8B-B14F-4D97-AF65-F5344CB8AC3E}">
        <p14:creationId xmlns:p14="http://schemas.microsoft.com/office/powerpoint/2010/main" val="259673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A9CA-9D85-E919-E8B4-DA9293C9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5A25-F399-06C5-4F30-1C0A258B0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EAA9-3592-EF08-8524-AC93D9F75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4"/>
            <a:ext cx="11784691" cy="5389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Hard Assertions vs Soft Assertions [Example]</a:t>
            </a: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Best Practice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Use </a:t>
            </a:r>
            <a:r>
              <a:rPr lang="en-US" sz="1600" b="1" dirty="0">
                <a:solidFill>
                  <a:schemeClr val="bg1"/>
                </a:solidFill>
              </a:rPr>
              <a:t>hard assertions</a:t>
            </a:r>
            <a:r>
              <a:rPr lang="en-US" sz="1600" dirty="0">
                <a:solidFill>
                  <a:schemeClr val="bg1"/>
                </a:solidFill>
              </a:rPr>
              <a:t> for critical checkpoints that determine whether the test should continue.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Use </a:t>
            </a:r>
            <a:r>
              <a:rPr lang="en-US" sz="1600" b="1" dirty="0">
                <a:solidFill>
                  <a:schemeClr val="bg1"/>
                </a:solidFill>
              </a:rPr>
              <a:t>soft assertions</a:t>
            </a:r>
            <a:r>
              <a:rPr lang="en-US" sz="1600" dirty="0">
                <a:solidFill>
                  <a:schemeClr val="bg1"/>
                </a:solidFill>
              </a:rPr>
              <a:t> when you want to validate multiple UI elements or fields in one test and see all failures at once.</a:t>
            </a: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F90FE-BD6A-24CC-EEBA-9271FC6E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CA9AEC0-9DAF-B99D-E660-DFA2A29B2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690227"/>
              </p:ext>
            </p:extLst>
          </p:nvPr>
        </p:nvGraphicFramePr>
        <p:xfrm>
          <a:off x="171085" y="1495022"/>
          <a:ext cx="9613899" cy="20116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3204633">
                  <a:extLst>
                    <a:ext uri="{9D8B030D-6E8A-4147-A177-3AD203B41FA5}">
                      <a16:colId xmlns:a16="http://schemas.microsoft.com/office/drawing/2014/main" val="1490719524"/>
                    </a:ext>
                  </a:extLst>
                </a:gridCol>
                <a:gridCol w="3204633">
                  <a:extLst>
                    <a:ext uri="{9D8B030D-6E8A-4147-A177-3AD203B41FA5}">
                      <a16:colId xmlns:a16="http://schemas.microsoft.com/office/drawing/2014/main" val="539615277"/>
                    </a:ext>
                  </a:extLst>
                </a:gridCol>
                <a:gridCol w="3204633">
                  <a:extLst>
                    <a:ext uri="{9D8B030D-6E8A-4147-A177-3AD203B41FA5}">
                      <a16:colId xmlns:a16="http://schemas.microsoft.com/office/drawing/2014/main" val="4183001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Hard Assertion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Soft Assertion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224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Execution after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Stops immediately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Continues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89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Failure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Only first failure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All failures shown together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5228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Implementation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SoftAssert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14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Need for assertAll()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107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Critical validations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Multiple independent validations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843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410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FA59-F793-81B7-0BF0-384702DC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A32F-3AD5-F4F4-7EBE-DF86873E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Test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FC7C1-A976-C674-EC7A-A472AA3FD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4"/>
            <a:ext cx="11974294" cy="57885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Test Groups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</a:t>
            </a:r>
            <a:r>
              <a:rPr lang="en-US" sz="1600" b="1" dirty="0">
                <a:solidFill>
                  <a:schemeClr val="bg1"/>
                </a:solidFill>
              </a:rPr>
              <a:t>group</a:t>
            </a:r>
            <a:r>
              <a:rPr lang="en-US" sz="1600" dirty="0">
                <a:solidFill>
                  <a:schemeClr val="bg1"/>
                </a:solidFill>
              </a:rPr>
              <a:t> in TestNG is a logical label assigned to one or more test methods so they can be </a:t>
            </a:r>
            <a:r>
              <a:rPr lang="en-US" sz="1600" b="1" dirty="0">
                <a:solidFill>
                  <a:schemeClr val="bg1"/>
                </a:solidFill>
              </a:rPr>
              <a:t>organized and executed together as a category</a:t>
            </a:r>
            <a:r>
              <a:rPr lang="en-US" sz="1600" dirty="0">
                <a:solidFill>
                  <a:schemeClr val="bg1"/>
                </a:solidFill>
              </a:rPr>
              <a:t>. Groups help testers manage large test suites by allowing selective execution based on the </a:t>
            </a:r>
            <a:r>
              <a:rPr lang="en-US" sz="1600" b="1" dirty="0">
                <a:solidFill>
                  <a:schemeClr val="bg1"/>
                </a:solidFill>
              </a:rPr>
              <a:t>type, purpose, or priority</a:t>
            </a:r>
            <a:r>
              <a:rPr lang="en-US" sz="1600" dirty="0">
                <a:solidFill>
                  <a:schemeClr val="bg1"/>
                </a:solidFill>
              </a:rPr>
              <a:t> of tests.</a:t>
            </a:r>
          </a:p>
          <a:p>
            <a:pPr marL="0" indent="0">
              <a:buNone/>
            </a:pPr>
            <a:endParaRPr lang="en-US" sz="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Why Groups Are Needed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 real-world projects, test suites may contain hundreds or thousands of test cases. Running all of them every time is often unnecessary and time-consuming. Groups allow teams to: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Run only critical tests (smoke tests)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Run full regression tests before release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Separate functional tests from integration tests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Organize tests by feature, module, or priority</a:t>
            </a:r>
          </a:p>
          <a:p>
            <a:pPr marL="0" indent="0">
              <a:buNone/>
            </a:pPr>
            <a:endParaRPr lang="en-US" sz="3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When a test method is assigned to a group, TestNG tags it with that group name. Later, during execution, the test suite can be configured to include or exclude certain groups. This means: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You write the test once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You can add a test into multiple groups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You decide when it runs based on group selection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7417-3037-79A2-7F77-195718FE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130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7DDC-AB76-2404-0E06-DCCCAFE7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B3A50-B38F-942B-F019-F2503C00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Test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4FF3A-0965-F0CC-C230-FC7CCC8C3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4"/>
            <a:ext cx="11974294" cy="57885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Defining Groups</a:t>
            </a:r>
          </a:p>
          <a:p>
            <a:pPr marL="0" indent="0">
              <a:buNone/>
            </a:pPr>
            <a:endParaRPr lang="en-IN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@Test(</a:t>
            </a:r>
            <a:r>
              <a:rPr lang="en-US" sz="1500" b="1" i="1" dirty="0">
                <a:solidFill>
                  <a:schemeClr val="bg1"/>
                </a:solidFill>
              </a:rPr>
              <a:t>groups = "smoke"</a:t>
            </a:r>
            <a:r>
              <a:rPr lang="en-US" sz="1500" i="1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public void </a:t>
            </a:r>
            <a:r>
              <a:rPr lang="en-US" sz="1500" i="1" dirty="0" err="1">
                <a:solidFill>
                  <a:schemeClr val="bg1"/>
                </a:solidFill>
              </a:rPr>
              <a:t>loginTest</a:t>
            </a:r>
            <a:r>
              <a:rPr lang="en-US" sz="1500" i="1" dirty="0">
                <a:solidFill>
                  <a:schemeClr val="bg1"/>
                </a:solidFill>
              </a:rPr>
              <a:t>() {}</a:t>
            </a:r>
          </a:p>
          <a:p>
            <a:pPr marL="0" indent="0">
              <a:buNone/>
            </a:pPr>
            <a:endParaRPr lang="en-US" sz="2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@Test(</a:t>
            </a:r>
            <a:r>
              <a:rPr lang="en-US" sz="1500" b="1" i="1" dirty="0">
                <a:solidFill>
                  <a:schemeClr val="bg1"/>
                </a:solidFill>
              </a:rPr>
              <a:t>groups = "regression"</a:t>
            </a:r>
            <a:r>
              <a:rPr lang="en-US" sz="1500" i="1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public void </a:t>
            </a:r>
            <a:r>
              <a:rPr lang="en-US" sz="1500" i="1" dirty="0" err="1">
                <a:solidFill>
                  <a:schemeClr val="bg1"/>
                </a:solidFill>
              </a:rPr>
              <a:t>paymentTest</a:t>
            </a:r>
            <a:r>
              <a:rPr lang="en-US" sz="1500" i="1" dirty="0">
                <a:solidFill>
                  <a:schemeClr val="bg1"/>
                </a:solidFill>
              </a:rPr>
              <a:t>() {}</a:t>
            </a:r>
          </a:p>
          <a:p>
            <a:pPr marL="0" indent="0">
              <a:buNone/>
            </a:pPr>
            <a:endParaRPr lang="en-US" sz="2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@Test(groups = {</a:t>
            </a:r>
            <a:r>
              <a:rPr lang="en-US" sz="1500" b="1" i="1" dirty="0">
                <a:solidFill>
                  <a:schemeClr val="bg1"/>
                </a:solidFill>
              </a:rPr>
              <a:t>"regression", "security"}</a:t>
            </a:r>
            <a:r>
              <a:rPr lang="en-US" sz="1500" i="1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public void </a:t>
            </a:r>
            <a:r>
              <a:rPr lang="en-US" sz="1500" i="1" dirty="0" err="1">
                <a:solidFill>
                  <a:schemeClr val="bg1"/>
                </a:solidFill>
              </a:rPr>
              <a:t>passwordEncryptionTest</a:t>
            </a:r>
            <a:r>
              <a:rPr lang="en-US" sz="1500" i="1" dirty="0">
                <a:solidFill>
                  <a:schemeClr val="bg1"/>
                </a:solidFill>
              </a:rPr>
              <a:t>() {}</a:t>
            </a:r>
          </a:p>
          <a:p>
            <a:pPr marL="0" indent="0">
              <a:buNone/>
            </a:pPr>
            <a:endParaRPr lang="en-US" sz="3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Key Characteristics of Groups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Groups are labels, not test logic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A test can belong to multiple groups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Groups help in selective test 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They improve test suite organization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Commonly used in CI/CD pipelines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BFF5E-69A7-EA10-71FE-681A2578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3521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3AABB-FEE7-01DD-7A4E-8A1783355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0F9A-1E0E-7BEE-16E8-A4366F66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32C2C-314E-27C0-369C-2C8046A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4"/>
            <a:ext cx="11974294" cy="57885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Dependencies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 TestNG, a </a:t>
            </a:r>
            <a:r>
              <a:rPr lang="en-US" sz="1600" b="1" dirty="0">
                <a:solidFill>
                  <a:schemeClr val="bg1"/>
                </a:solidFill>
              </a:rPr>
              <a:t>dependency</a:t>
            </a:r>
            <a:r>
              <a:rPr lang="en-US" sz="1600" dirty="0">
                <a:solidFill>
                  <a:schemeClr val="bg1"/>
                </a:solidFill>
              </a:rPr>
              <a:t> is a relationship between test methods where one test method is allowed to run </a:t>
            </a:r>
            <a:r>
              <a:rPr lang="en-US" sz="1600" b="1" dirty="0">
                <a:solidFill>
                  <a:schemeClr val="bg1"/>
                </a:solidFill>
              </a:rPr>
              <a:t>only if another test (or group of tests) has executed successfully</a:t>
            </a:r>
            <a:r>
              <a:rPr lang="en-US" sz="1600" dirty="0">
                <a:solidFill>
                  <a:schemeClr val="bg1"/>
                </a:solidFill>
              </a:rPr>
              <a:t>. Dependencies help control </a:t>
            </a:r>
            <a:r>
              <a:rPr lang="en-US" sz="1600" b="1" dirty="0">
                <a:solidFill>
                  <a:schemeClr val="bg1"/>
                </a:solidFill>
              </a:rPr>
              <a:t>test execution order and conditions</a:t>
            </a:r>
            <a:r>
              <a:rPr lang="en-US" sz="1600" dirty="0">
                <a:solidFill>
                  <a:schemeClr val="bg1"/>
                </a:solidFill>
              </a:rPr>
              <a:t>, ensuring that certain prerequisite steps are completed before dependent tests run.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Why Dependencies Are Needed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 real applications, some tests cannot run independently. They require certain steps to be completed first.</a:t>
            </a:r>
          </a:p>
          <a:p>
            <a:pPr marL="0" indent="0">
              <a:buNone/>
            </a:pPr>
            <a:endParaRPr lang="en-US" sz="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Examples: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A user must log in before accessing the dashboard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An order must be created before it can be canceled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Types of Dependencies in TestNG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TestNG supports two main types of dependencies: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bg1"/>
                </a:solidFill>
              </a:rPr>
              <a:t>Method Dependency</a:t>
            </a:r>
            <a:r>
              <a:rPr lang="en-US" sz="1600" dirty="0">
                <a:solidFill>
                  <a:schemeClr val="bg1"/>
                </a:solidFill>
              </a:rPr>
              <a:t> – A test depends on another test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bg1"/>
                </a:solidFill>
              </a:rPr>
              <a:t>Group Dependency</a:t>
            </a:r>
            <a:r>
              <a:rPr lang="en-US" sz="1600" dirty="0">
                <a:solidFill>
                  <a:schemeClr val="bg1"/>
                </a:solidFill>
              </a:rPr>
              <a:t> – A test depends on a group of test methods</a:t>
            </a: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513AC-715F-091C-08E3-3843DFB0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597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A9B98-87BD-5779-8170-3009E7B4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B163D-87EA-B11F-031E-0EBE6627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0CC7-7239-DF2B-1A5D-29628C8A0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4"/>
            <a:ext cx="11974294" cy="57885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>
                <a:solidFill>
                  <a:schemeClr val="bg1"/>
                </a:solidFill>
              </a:rPr>
              <a:t>Dependency on Methods</a:t>
            </a:r>
            <a:endParaRPr lang="en-US" sz="19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This is used when one test method depends on another specific test method.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public class </a:t>
            </a:r>
            <a:r>
              <a:rPr lang="en-US" sz="1500" i="1" dirty="0" err="1">
                <a:solidFill>
                  <a:schemeClr val="bg1"/>
                </a:solidFill>
              </a:rPr>
              <a:t>DependencyExample</a:t>
            </a:r>
            <a:r>
              <a:rPr lang="en-US" sz="1500" i="1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endParaRPr lang="en-US" sz="4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    @Test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    public void </a:t>
            </a:r>
            <a:r>
              <a:rPr lang="en-US" sz="1500" i="1" dirty="0" err="1">
                <a:solidFill>
                  <a:schemeClr val="bg1"/>
                </a:solidFill>
              </a:rPr>
              <a:t>openApplication</a:t>
            </a:r>
            <a:r>
              <a:rPr lang="en-US" sz="1500" i="1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        </a:t>
            </a:r>
            <a:r>
              <a:rPr lang="en-US" sz="1500" i="1" dirty="0" err="1">
                <a:solidFill>
                  <a:schemeClr val="bg1"/>
                </a:solidFill>
              </a:rPr>
              <a:t>System.out.println</a:t>
            </a:r>
            <a:r>
              <a:rPr lang="en-US" sz="1500" i="1" dirty="0">
                <a:solidFill>
                  <a:schemeClr val="bg1"/>
                </a:solidFill>
              </a:rPr>
              <a:t>("Application opened");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endParaRPr lang="en-US" sz="4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    @Test(dependsOnMethods = "</a:t>
            </a:r>
            <a:r>
              <a:rPr lang="en-US" sz="1500" i="1" dirty="0" err="1">
                <a:solidFill>
                  <a:schemeClr val="bg1"/>
                </a:solidFill>
              </a:rPr>
              <a:t>openApplication</a:t>
            </a:r>
            <a:r>
              <a:rPr lang="en-US" sz="1500" i="1" dirty="0">
                <a:solidFill>
                  <a:schemeClr val="bg1"/>
                </a:solidFill>
              </a:rPr>
              <a:t>")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    public void </a:t>
            </a:r>
            <a:r>
              <a:rPr lang="en-US" sz="1500" i="1" dirty="0" err="1">
                <a:solidFill>
                  <a:schemeClr val="bg1"/>
                </a:solidFill>
              </a:rPr>
              <a:t>loginTest</a:t>
            </a:r>
            <a:r>
              <a:rPr lang="en-US" sz="1500" i="1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        </a:t>
            </a:r>
            <a:r>
              <a:rPr lang="en-US" sz="1500" i="1" dirty="0" err="1">
                <a:solidFill>
                  <a:schemeClr val="bg1"/>
                </a:solidFill>
              </a:rPr>
              <a:t>System.out.println</a:t>
            </a:r>
            <a:r>
              <a:rPr lang="en-US" sz="1500" i="1" dirty="0">
                <a:solidFill>
                  <a:schemeClr val="bg1"/>
                </a:solidFill>
              </a:rPr>
              <a:t>("Login successful");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How It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solidFill>
                  <a:schemeClr val="bg1"/>
                </a:solidFill>
              </a:rPr>
              <a:t>openApplication</a:t>
            </a:r>
            <a:r>
              <a:rPr lang="en-US" sz="1700" dirty="0">
                <a:solidFill>
                  <a:schemeClr val="bg1"/>
                </a:solidFill>
              </a:rPr>
              <a:t> runs first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bg1"/>
                </a:solidFill>
              </a:rPr>
              <a:t>If it passes → </a:t>
            </a:r>
            <a:r>
              <a:rPr lang="en-US" sz="1700" dirty="0" err="1">
                <a:solidFill>
                  <a:schemeClr val="bg1"/>
                </a:solidFill>
              </a:rPr>
              <a:t>loginTest</a:t>
            </a:r>
            <a:r>
              <a:rPr lang="en-US" sz="1700" dirty="0">
                <a:solidFill>
                  <a:schemeClr val="bg1"/>
                </a:solidFill>
              </a:rPr>
              <a:t> runs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bg1"/>
                </a:solidFill>
              </a:rPr>
              <a:t>If it fails → </a:t>
            </a:r>
            <a:r>
              <a:rPr lang="en-US" sz="1700" dirty="0" err="1">
                <a:solidFill>
                  <a:schemeClr val="bg1"/>
                </a:solidFill>
              </a:rPr>
              <a:t>loginTest</a:t>
            </a:r>
            <a:r>
              <a:rPr lang="en-US" sz="1700" dirty="0">
                <a:solidFill>
                  <a:schemeClr val="bg1"/>
                </a:solidFill>
              </a:rPr>
              <a:t> is skipped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A1EFB-C435-5CBD-5596-00F427E1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364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2AB3-7DB6-2857-6E0C-57BAF1ACE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614A-88FB-A42C-C635-302B466B9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9B69-2013-53E5-3553-F5884FB6A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4"/>
            <a:ext cx="11974294" cy="57885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Dependency on Methods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Instead of depending on a single method, a test can depend on an entire group.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@Test(groups = "</a:t>
            </a:r>
            <a:r>
              <a:rPr lang="en-US" sz="1500" i="1" dirty="0" err="1">
                <a:solidFill>
                  <a:schemeClr val="bg1"/>
                </a:solidFill>
              </a:rPr>
              <a:t>init</a:t>
            </a:r>
            <a:r>
              <a:rPr lang="en-US" sz="1500" i="1" dirty="0">
                <a:solidFill>
                  <a:schemeClr val="bg1"/>
                </a:solidFill>
              </a:rPr>
              <a:t>")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public void </a:t>
            </a:r>
            <a:r>
              <a:rPr lang="en-US" sz="1500" i="1" dirty="0" err="1">
                <a:solidFill>
                  <a:schemeClr val="bg1"/>
                </a:solidFill>
              </a:rPr>
              <a:t>setupDatabase</a:t>
            </a:r>
            <a:r>
              <a:rPr lang="en-US" sz="1500" i="1" dirty="0">
                <a:solidFill>
                  <a:schemeClr val="bg1"/>
                </a:solidFill>
              </a:rPr>
              <a:t>() {}</a:t>
            </a:r>
          </a:p>
          <a:p>
            <a:pPr marL="0" indent="0">
              <a:buNone/>
            </a:pPr>
            <a:endParaRPr lang="en-US" sz="15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@Test(groups = "</a:t>
            </a:r>
            <a:r>
              <a:rPr lang="en-US" sz="1500" i="1" dirty="0" err="1">
                <a:solidFill>
                  <a:schemeClr val="bg1"/>
                </a:solidFill>
              </a:rPr>
              <a:t>init</a:t>
            </a:r>
            <a:r>
              <a:rPr lang="en-US" sz="1500" i="1" dirty="0">
                <a:solidFill>
                  <a:schemeClr val="bg1"/>
                </a:solidFill>
              </a:rPr>
              <a:t>")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public void </a:t>
            </a:r>
            <a:r>
              <a:rPr lang="en-US" sz="1500" i="1" dirty="0" err="1">
                <a:solidFill>
                  <a:schemeClr val="bg1"/>
                </a:solidFill>
              </a:rPr>
              <a:t>loadTestData</a:t>
            </a:r>
            <a:r>
              <a:rPr lang="en-US" sz="1500" i="1" dirty="0">
                <a:solidFill>
                  <a:schemeClr val="bg1"/>
                </a:solidFill>
              </a:rPr>
              <a:t>() {}</a:t>
            </a:r>
          </a:p>
          <a:p>
            <a:pPr marL="0" indent="0">
              <a:buNone/>
            </a:pPr>
            <a:endParaRPr lang="en-US" sz="15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@Test(dependsOnGroups = "</a:t>
            </a:r>
            <a:r>
              <a:rPr lang="en-US" sz="1500" i="1" dirty="0" err="1">
                <a:solidFill>
                  <a:schemeClr val="bg1"/>
                </a:solidFill>
              </a:rPr>
              <a:t>init</a:t>
            </a:r>
            <a:r>
              <a:rPr lang="en-US" sz="1500" i="1" dirty="0">
                <a:solidFill>
                  <a:schemeClr val="bg1"/>
                </a:solidFill>
              </a:rPr>
              <a:t>")</a:t>
            </a:r>
          </a:p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</a:rPr>
              <a:t>public void </a:t>
            </a:r>
            <a:r>
              <a:rPr lang="en-US" sz="1500" i="1" dirty="0" err="1">
                <a:solidFill>
                  <a:schemeClr val="bg1"/>
                </a:solidFill>
              </a:rPr>
              <a:t>runApplicationTests</a:t>
            </a:r>
            <a:r>
              <a:rPr lang="en-US" sz="1500" i="1" dirty="0">
                <a:solidFill>
                  <a:schemeClr val="bg1"/>
                </a:solidFill>
              </a:rPr>
              <a:t>() {}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How It Works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Here, </a:t>
            </a:r>
            <a:r>
              <a:rPr lang="en-US" sz="1600" dirty="0" err="1">
                <a:solidFill>
                  <a:schemeClr val="bg1"/>
                </a:solidFill>
              </a:rPr>
              <a:t>runApplicationTests</a:t>
            </a:r>
            <a:r>
              <a:rPr lang="en-US" sz="1600" dirty="0">
                <a:solidFill>
                  <a:schemeClr val="bg1"/>
                </a:solidFill>
              </a:rPr>
              <a:t> runs only after all tests in the </a:t>
            </a:r>
            <a:r>
              <a:rPr lang="en-US" sz="1600" b="1" dirty="0" err="1">
                <a:solidFill>
                  <a:schemeClr val="bg1"/>
                </a:solidFill>
              </a:rPr>
              <a:t>init</a:t>
            </a:r>
            <a:r>
              <a:rPr lang="en-US" sz="1600" dirty="0">
                <a:solidFill>
                  <a:schemeClr val="bg1"/>
                </a:solidFill>
              </a:rPr>
              <a:t> group pass.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46136-9B9A-EC43-323A-D1343ED9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163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F08A-B1DA-0342-559C-C1693815A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EDC64-DF42-A01A-3C81-F0AD6A46B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39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Happens When a Dependency Fails?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If a test method that is depended upon fails, the dependent test is </a:t>
            </a:r>
            <a:r>
              <a:rPr lang="en-US" sz="1600" b="1" dirty="0">
                <a:solidFill>
                  <a:schemeClr val="bg1"/>
                </a:solidFill>
              </a:rPr>
              <a:t>skipped</a:t>
            </a:r>
            <a:r>
              <a:rPr lang="en-US" sz="1600" dirty="0">
                <a:solidFill>
                  <a:schemeClr val="bg1"/>
                </a:solidFill>
              </a:rPr>
              <a:t>, not failed. TestNG marks it as </a:t>
            </a:r>
            <a:r>
              <a:rPr lang="en-US" sz="1600" b="1" dirty="0">
                <a:solidFill>
                  <a:schemeClr val="bg1"/>
                </a:solidFill>
              </a:rPr>
              <a:t>SKIPPED</a:t>
            </a:r>
            <a:r>
              <a:rPr lang="en-US" sz="1600" dirty="0">
                <a:solidFill>
                  <a:schemeClr val="bg1"/>
                </a:solidFill>
              </a:rPr>
              <a:t> in the report. This indicates the test was not executed due to unmet prerequisites. This prevents false failures when earlier steps fail.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Dependency Execution Order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Dependencies automatically define execution order.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→ B → C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If: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B depends on A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 depends on B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TestNG will execute in the order A → B → C.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D6EC-DC82-3B4E-6CDD-752E5A07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21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451BA-ABCA-D671-557D-B82AC0E3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7271-3C41-F344-2603-DB951448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86E3F-E66D-CB7B-3213-9E58686C3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39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Using Multiple Dependencies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test can depend on multiple methods.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@Test(dependsOnMethods = {"</a:t>
            </a:r>
            <a:r>
              <a:rPr lang="en-IN" sz="1500" i="1" dirty="0" err="1">
                <a:solidFill>
                  <a:schemeClr val="bg1"/>
                </a:solidFill>
              </a:rPr>
              <a:t>loginTest</a:t>
            </a:r>
            <a:r>
              <a:rPr lang="en-IN" sz="1500" i="1" dirty="0">
                <a:solidFill>
                  <a:schemeClr val="bg1"/>
                </a:solidFill>
              </a:rPr>
              <a:t>", "</a:t>
            </a:r>
            <a:r>
              <a:rPr lang="en-IN" sz="1500" i="1" dirty="0" err="1">
                <a:solidFill>
                  <a:schemeClr val="bg1"/>
                </a:solidFill>
              </a:rPr>
              <a:t>loadProfile</a:t>
            </a:r>
            <a:r>
              <a:rPr lang="en-IN" sz="1500" i="1" dirty="0">
                <a:solidFill>
                  <a:schemeClr val="bg1"/>
                </a:solidFill>
              </a:rPr>
              <a:t>"})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public void </a:t>
            </a:r>
            <a:r>
              <a:rPr lang="en-IN" sz="1500" i="1" dirty="0" err="1">
                <a:solidFill>
                  <a:schemeClr val="bg1"/>
                </a:solidFill>
              </a:rPr>
              <a:t>updateSettings</a:t>
            </a:r>
            <a:r>
              <a:rPr lang="en-IN" sz="1500" i="1" dirty="0">
                <a:solidFill>
                  <a:schemeClr val="bg1"/>
                </a:solidFill>
              </a:rPr>
              <a:t>() {}</a:t>
            </a:r>
          </a:p>
          <a:p>
            <a:pPr marL="0" indent="0">
              <a:buNone/>
            </a:pPr>
            <a:endParaRPr lang="en-IN" sz="15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A test can depend on a/multiple method(s) and on a/multiple groups.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@Test(dependsOnMethods = "</a:t>
            </a:r>
            <a:r>
              <a:rPr lang="en-IN" sz="1500" i="1" dirty="0" err="1">
                <a:solidFill>
                  <a:schemeClr val="bg1"/>
                </a:solidFill>
              </a:rPr>
              <a:t>loginTest</a:t>
            </a:r>
            <a:r>
              <a:rPr lang="en-IN" sz="1500" i="1" dirty="0">
                <a:solidFill>
                  <a:schemeClr val="bg1"/>
                </a:solidFill>
              </a:rPr>
              <a:t>", </a:t>
            </a:r>
            <a:r>
              <a:rPr lang="en-IN" sz="1500" i="1" dirty="0" err="1">
                <a:solidFill>
                  <a:schemeClr val="bg1"/>
                </a:solidFill>
              </a:rPr>
              <a:t>dependsOnGroups</a:t>
            </a:r>
            <a:r>
              <a:rPr lang="en-IN" sz="1500" i="1" dirty="0">
                <a:solidFill>
                  <a:schemeClr val="bg1"/>
                </a:solidFill>
              </a:rPr>
              <a:t> = "</a:t>
            </a:r>
            <a:r>
              <a:rPr lang="en-IN" sz="1500" i="1" dirty="0" err="1">
                <a:solidFill>
                  <a:schemeClr val="bg1"/>
                </a:solidFill>
              </a:rPr>
              <a:t>init</a:t>
            </a:r>
            <a:r>
              <a:rPr lang="en-IN" sz="1500" i="1" dirty="0">
                <a:solidFill>
                  <a:schemeClr val="bg1"/>
                </a:solidFill>
              </a:rPr>
              <a:t>")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public void </a:t>
            </a:r>
            <a:r>
              <a:rPr lang="en-IN" sz="1500" i="1" dirty="0" err="1">
                <a:solidFill>
                  <a:schemeClr val="bg1"/>
                </a:solidFill>
              </a:rPr>
              <a:t>runMainTest</a:t>
            </a:r>
            <a:r>
              <a:rPr lang="en-IN" sz="1500" i="1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    </a:t>
            </a:r>
            <a:r>
              <a:rPr lang="en-IN" sz="1500" i="1" dirty="0" err="1">
                <a:solidFill>
                  <a:schemeClr val="bg1"/>
                </a:solidFill>
              </a:rPr>
              <a:t>System.out.println</a:t>
            </a:r>
            <a:r>
              <a:rPr lang="en-IN" sz="1500" i="1" dirty="0">
                <a:solidFill>
                  <a:schemeClr val="bg1"/>
                </a:solidFill>
              </a:rPr>
              <a:t>("Main test executed");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Important Attribute: </a:t>
            </a:r>
            <a:r>
              <a:rPr lang="en-IN" sz="1600" b="1" dirty="0" err="1">
                <a:solidFill>
                  <a:schemeClr val="bg1"/>
                </a:solidFill>
              </a:rPr>
              <a:t>alwaysRun</a:t>
            </a:r>
            <a:endParaRPr lang="en-IN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Sometimes, you want a dependent method to run even if its dependency fails. Here, </a:t>
            </a:r>
            <a:r>
              <a:rPr lang="en-US" sz="1600" dirty="0" err="1">
                <a:solidFill>
                  <a:schemeClr val="bg1"/>
                </a:solidFill>
              </a:rPr>
              <a:t>logoutTest</a:t>
            </a:r>
            <a:r>
              <a:rPr lang="en-US" sz="1600" dirty="0">
                <a:solidFill>
                  <a:schemeClr val="bg1"/>
                </a:solidFill>
              </a:rPr>
              <a:t> will run even if </a:t>
            </a:r>
            <a:r>
              <a:rPr lang="en-US" sz="1600" dirty="0" err="1">
                <a:solidFill>
                  <a:schemeClr val="bg1"/>
                </a:solidFill>
              </a:rPr>
              <a:t>loginTest</a:t>
            </a:r>
            <a:r>
              <a:rPr lang="en-US" sz="1600" dirty="0">
                <a:solidFill>
                  <a:schemeClr val="bg1"/>
                </a:solidFill>
              </a:rPr>
              <a:t> fails.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@Test(dependsOnMethods = "</a:t>
            </a:r>
            <a:r>
              <a:rPr lang="en-IN" sz="1500" i="1" dirty="0" err="1">
                <a:solidFill>
                  <a:schemeClr val="bg1"/>
                </a:solidFill>
              </a:rPr>
              <a:t>loginTest</a:t>
            </a:r>
            <a:r>
              <a:rPr lang="en-IN" sz="1500" i="1" dirty="0">
                <a:solidFill>
                  <a:schemeClr val="bg1"/>
                </a:solidFill>
              </a:rPr>
              <a:t>", </a:t>
            </a:r>
            <a:r>
              <a:rPr lang="en-IN" sz="1500" i="1" dirty="0" err="1">
                <a:solidFill>
                  <a:schemeClr val="bg1"/>
                </a:solidFill>
              </a:rPr>
              <a:t>alwaysRun</a:t>
            </a:r>
            <a:r>
              <a:rPr lang="en-IN" sz="1500" i="1" dirty="0">
                <a:solidFill>
                  <a:schemeClr val="bg1"/>
                </a:solidFill>
              </a:rPr>
              <a:t> = true)</a:t>
            </a:r>
          </a:p>
          <a:p>
            <a:pPr marL="0" indent="0">
              <a:buNone/>
            </a:pPr>
            <a:r>
              <a:rPr lang="en-IN" sz="1500" i="1" dirty="0">
                <a:solidFill>
                  <a:schemeClr val="bg1"/>
                </a:solidFill>
              </a:rPr>
              <a:t>public void </a:t>
            </a:r>
            <a:r>
              <a:rPr lang="en-IN" sz="1500" i="1" dirty="0" err="1">
                <a:solidFill>
                  <a:schemeClr val="bg1"/>
                </a:solidFill>
              </a:rPr>
              <a:t>logoutTest</a:t>
            </a:r>
            <a:r>
              <a:rPr lang="en-IN" sz="1500" i="1" dirty="0">
                <a:solidFill>
                  <a:schemeClr val="bg1"/>
                </a:solidFill>
              </a:rPr>
              <a:t>() {}</a:t>
            </a:r>
          </a:p>
          <a:p>
            <a:pPr marL="0" indent="0">
              <a:buNone/>
            </a:pPr>
            <a:endParaRPr lang="en-IN" sz="16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5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500" i="1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D54F4-1B0E-896F-D48B-8953B49F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992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D2B4-9F9E-2FA1-2638-946B83CF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testng.xml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67838-6371-357C-9BA0-4D63CD99B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942204"/>
            <a:ext cx="11784691" cy="586890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100" b="1" dirty="0">
                <a:solidFill>
                  <a:schemeClr val="bg1"/>
                </a:solidFill>
              </a:rPr>
              <a:t>testng.xml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testng.xml is a configuration file used by TestNG to define </a:t>
            </a:r>
            <a:r>
              <a:rPr lang="en-US" sz="1900" b="1" dirty="0">
                <a:solidFill>
                  <a:schemeClr val="bg1"/>
                </a:solidFill>
              </a:rPr>
              <a:t>how tests should be executed</a:t>
            </a:r>
            <a:r>
              <a:rPr lang="en-US" sz="1900" dirty="0">
                <a:solidFill>
                  <a:schemeClr val="bg1"/>
                </a:solidFill>
              </a:rPr>
              <a:t>. It allows you to: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bg1"/>
                </a:solidFill>
              </a:rPr>
              <a:t>Organize test cases into suites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bg1"/>
                </a:solidFill>
              </a:rPr>
              <a:t>Select which classes or methods to run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bg1"/>
                </a:solidFill>
              </a:rPr>
              <a:t>Include or exclude groups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bg1"/>
                </a:solidFill>
              </a:rPr>
              <a:t>Pass parameters to tests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bg1"/>
                </a:solidFill>
              </a:rPr>
              <a:t>Configure parallel execution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Instead of running tests individually from code, testng.xml gives centralized control over execution.</a:t>
            </a:r>
          </a:p>
          <a:p>
            <a:pPr marL="0" indent="0">
              <a:buNone/>
            </a:pPr>
            <a:endParaRPr lang="en-US" sz="5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Basic Structure of testng.xml</a:t>
            </a:r>
          </a:p>
          <a:p>
            <a:pPr marL="0" indent="0">
              <a:buNone/>
            </a:pPr>
            <a:endParaRPr lang="en-US" sz="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&lt;!DOCTYPE suite SYSTEM "https://testng.org/testng-1.0.dtd"&gt;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&lt;suite name="</a:t>
            </a:r>
            <a:r>
              <a:rPr lang="en-US" sz="1800" dirty="0" err="1">
                <a:solidFill>
                  <a:schemeClr val="bg1"/>
                </a:solidFill>
              </a:rPr>
              <a:t>TestSuite</a:t>
            </a:r>
            <a:r>
              <a:rPr lang="en-US" sz="1800" dirty="0">
                <a:solidFill>
                  <a:schemeClr val="bg1"/>
                </a:solidFill>
              </a:rPr>
              <a:t>"&gt;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&lt;test name="</a:t>
            </a:r>
            <a:r>
              <a:rPr lang="en-US" sz="1800" dirty="0" err="1">
                <a:solidFill>
                  <a:schemeClr val="bg1"/>
                </a:solidFill>
              </a:rPr>
              <a:t>RegressionTests</a:t>
            </a:r>
            <a:r>
              <a:rPr lang="en-US" sz="1800" dirty="0">
                <a:solidFill>
                  <a:schemeClr val="bg1"/>
                </a:solidFill>
              </a:rPr>
              <a:t>"&gt;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 &lt;classes&gt;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     &lt;class name="</a:t>
            </a:r>
            <a:r>
              <a:rPr lang="en-US" sz="1800" dirty="0" err="1">
                <a:solidFill>
                  <a:schemeClr val="bg1"/>
                </a:solidFill>
              </a:rPr>
              <a:t>com.example.LoginTest</a:t>
            </a:r>
            <a:r>
              <a:rPr lang="en-US" sz="1800" dirty="0">
                <a:solidFill>
                  <a:schemeClr val="bg1"/>
                </a:solidFill>
              </a:rPr>
              <a:t>"/&gt;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     &lt;class name="</a:t>
            </a:r>
            <a:r>
              <a:rPr lang="en-US" sz="1800" dirty="0" err="1">
                <a:solidFill>
                  <a:schemeClr val="bg1"/>
                </a:solidFill>
              </a:rPr>
              <a:t>com.example.PaymentTest</a:t>
            </a:r>
            <a:r>
              <a:rPr lang="en-US" sz="1800" dirty="0">
                <a:solidFill>
                  <a:schemeClr val="bg1"/>
                </a:solidFill>
              </a:rPr>
              <a:t>"/&gt;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 &lt;/classes&gt;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&lt;/test&gt;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&lt;/suite&gt;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B524CF8-E68B-6D83-5964-961F8225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40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646A8-A209-4EDB-221B-4F617128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5EB7-ED22-823C-7D1A-D5CD70F2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testng.xml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76884-A58B-A032-68D6-BDAE5C8FF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942204"/>
            <a:ext cx="11784691" cy="5868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Main tags in testng.xml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746A77-117B-CE13-4A52-423348142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680547"/>
              </p:ext>
            </p:extLst>
          </p:nvPr>
        </p:nvGraphicFramePr>
        <p:xfrm>
          <a:off x="157955" y="1372684"/>
          <a:ext cx="10814845" cy="486360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1650556">
                  <a:extLst>
                    <a:ext uri="{9D8B030D-6E8A-4147-A177-3AD203B41FA5}">
                      <a16:colId xmlns:a16="http://schemas.microsoft.com/office/drawing/2014/main" val="2303708215"/>
                    </a:ext>
                  </a:extLst>
                </a:gridCol>
                <a:gridCol w="3754743">
                  <a:extLst>
                    <a:ext uri="{9D8B030D-6E8A-4147-A177-3AD203B41FA5}">
                      <a16:colId xmlns:a16="http://schemas.microsoft.com/office/drawing/2014/main" val="2251826584"/>
                    </a:ext>
                  </a:extLst>
                </a:gridCol>
                <a:gridCol w="5409546">
                  <a:extLst>
                    <a:ext uri="{9D8B030D-6E8A-4147-A177-3AD203B41FA5}">
                      <a16:colId xmlns:a16="http://schemas.microsoft.com/office/drawing/2014/main" val="2729370914"/>
                    </a:ext>
                  </a:extLst>
                </a:gridCol>
              </a:tblGrid>
              <a:tr h="396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Tag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Level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2673393313"/>
                  </a:ext>
                </a:extLst>
              </a:tr>
              <a:tr h="680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bg1"/>
                          </a:solidFill>
                        </a:rPr>
                        <a:t>&lt;suite&gt;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Top level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Defines the entire test suite. Used to configure suite name, parallel execution, and thread count.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2031075567"/>
                  </a:ext>
                </a:extLst>
              </a:tr>
              <a:tr h="478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&lt;test&gt;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&lt;suite&gt;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Represents a logical set of test classes to be executed together.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4114535702"/>
                  </a:ext>
                </a:extLst>
              </a:tr>
              <a:tr h="29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&lt;classes&gt;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&lt;test&gt;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Contains the list of test classes to run.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1296573855"/>
                  </a:ext>
                </a:extLst>
              </a:tr>
              <a:tr h="29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&lt;class&gt;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&lt;classes&gt;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Specifies a single test class by its fully qualified name.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112680397"/>
                  </a:ext>
                </a:extLst>
              </a:tr>
              <a:tr h="478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&lt;methods&gt;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&lt;class&gt;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Used to include or exclude specific test methods within a class.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3129761740"/>
                  </a:ext>
                </a:extLst>
              </a:tr>
              <a:tr h="29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&lt;include&gt;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&lt;methods&gt; or &lt;groups&gt;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Includes specific methods or groups for execution.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2039128758"/>
                  </a:ext>
                </a:extLst>
              </a:tr>
              <a:tr h="29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&lt;exclude&gt;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&lt;methods&gt; or &lt;groups&gt;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Excludes specific methods or groups from execution.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723554120"/>
                  </a:ext>
                </a:extLst>
              </a:tr>
              <a:tr h="424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&lt;groups&gt;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&lt;test&gt;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Defines which test groups should be included or excluded.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3017229972"/>
                  </a:ext>
                </a:extLst>
              </a:tr>
              <a:tr h="29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&lt;run&gt;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&lt;groups&gt;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Wraps the list of groups to include or exclude.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1917897447"/>
                  </a:ext>
                </a:extLst>
              </a:tr>
              <a:tr h="29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&lt;parameter&gt;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&lt;suite&gt; or &lt;test&gt;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Passes parameter values from XML to test methods.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2988220756"/>
                  </a:ext>
                </a:extLst>
              </a:tr>
              <a:tr h="29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&lt;listeners&gt;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&lt;suite&gt;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Registers listener classes to monitor test execution.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3293930605"/>
                  </a:ext>
                </a:extLst>
              </a:tr>
              <a:tr h="29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&lt;listener&gt;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chemeClr val="bg1"/>
                          </a:solidFill>
                        </a:rPr>
                        <a:t>Inside &lt;listeners&gt;</a:t>
                      </a:r>
                    </a:p>
                  </a:txBody>
                  <a:tcPr marL="34940" marR="34940" marT="17470" marB="174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Specifies a single listener class.</a:t>
                      </a:r>
                    </a:p>
                  </a:txBody>
                  <a:tcPr marL="34940" marR="34940" marT="17470" marB="17470" anchor="ctr"/>
                </a:tc>
                <a:extLst>
                  <a:ext uri="{0D108BD9-81ED-4DB2-BD59-A6C34878D82A}">
                    <a16:rowId xmlns:a16="http://schemas.microsoft.com/office/drawing/2014/main" val="4167563387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105CB8-80A3-FE4D-9B14-606B8A81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0688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38A3-0F48-1346-12A5-ED17FC2D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testng.xml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FC96C-4D51-6359-3F36-E06897E18F07}"/>
              </a:ext>
            </a:extLst>
          </p:cNvPr>
          <p:cNvSpPr txBox="1"/>
          <p:nvPr/>
        </p:nvSpPr>
        <p:spPr>
          <a:xfrm>
            <a:off x="123092" y="853839"/>
            <a:ext cx="5574323" cy="550920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&lt;!DOCTYPE suite SYSTEM "https://testng.org/testng-1.0.dtd"&gt;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&lt;suite name="</a:t>
            </a:r>
            <a:r>
              <a:rPr lang="en-IN" sz="1400" dirty="0" err="1">
                <a:solidFill>
                  <a:schemeClr val="bg1"/>
                </a:solidFill>
              </a:rPr>
              <a:t>FullTestSuite</a:t>
            </a:r>
            <a:r>
              <a:rPr lang="en-IN" sz="1400" dirty="0">
                <a:solidFill>
                  <a:schemeClr val="bg1"/>
                </a:solidFill>
              </a:rPr>
              <a:t>" parallel="tests" thread-count="2"&gt;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&lt;!-- Suite Level Parameter --&gt;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&lt;parameter name="environment" value="QA"/&gt;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&lt;!-- Registering Listeners --&gt;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&lt;listeners&gt;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&lt;listener class-name="</a:t>
            </a:r>
            <a:r>
              <a:rPr lang="en-IN" sz="1400" dirty="0" err="1">
                <a:solidFill>
                  <a:schemeClr val="bg1"/>
                </a:solidFill>
              </a:rPr>
              <a:t>com.example.listeners.TestListener</a:t>
            </a:r>
            <a:r>
              <a:rPr lang="en-IN" sz="1400" dirty="0">
                <a:solidFill>
                  <a:schemeClr val="bg1"/>
                </a:solidFill>
              </a:rPr>
              <a:t>"/&gt;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&lt;/listeners&gt;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&lt;!-- First Test Block --&gt;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&lt;test name="</a:t>
            </a:r>
            <a:r>
              <a:rPr lang="en-IN" sz="1400" dirty="0" err="1">
                <a:solidFill>
                  <a:schemeClr val="bg1"/>
                </a:solidFill>
              </a:rPr>
              <a:t>SmokeTests</a:t>
            </a:r>
            <a:r>
              <a:rPr lang="en-IN" sz="1400" dirty="0">
                <a:solidFill>
                  <a:schemeClr val="bg1"/>
                </a:solidFill>
              </a:rPr>
              <a:t>"&gt;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    &lt;!-- Test Level Parameter --&gt;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&lt;parameter name="browser" value="chrome"/&gt;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    &lt;!-- Group Execution Control --&gt;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&lt;groups&gt;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&lt;run&gt;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    &lt;include name="smoke"/&gt;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    &lt;exclude name="regression"/&gt;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&lt;/run&gt;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&lt;/groups&gt;        </a:t>
            </a:r>
          </a:p>
          <a:p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77168-8F94-813A-7BFE-C862BA3D8B97}"/>
              </a:ext>
            </a:extLst>
          </p:cNvPr>
          <p:cNvSpPr txBox="1"/>
          <p:nvPr/>
        </p:nvSpPr>
        <p:spPr>
          <a:xfrm>
            <a:off x="5903004" y="866648"/>
            <a:ext cx="5227393" cy="563231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&lt;classes&gt;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&lt;class name="</a:t>
            </a:r>
            <a:r>
              <a:rPr lang="en-IN" sz="1400" dirty="0" err="1">
                <a:solidFill>
                  <a:schemeClr val="bg1"/>
                </a:solidFill>
              </a:rPr>
              <a:t>com.example.tests.LoginTest</a:t>
            </a:r>
            <a:r>
              <a:rPr lang="en-IN" sz="1400" dirty="0">
                <a:solidFill>
                  <a:schemeClr val="bg1"/>
                </a:solidFill>
              </a:rPr>
              <a:t>"&gt;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    &lt;methods&gt;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        &lt;include name="</a:t>
            </a:r>
            <a:r>
              <a:rPr lang="en-IN" sz="1400" dirty="0" err="1">
                <a:solidFill>
                  <a:schemeClr val="bg1"/>
                </a:solidFill>
              </a:rPr>
              <a:t>validLoginTest</a:t>
            </a:r>
            <a:r>
              <a:rPr lang="en-IN" sz="1400" dirty="0">
                <a:solidFill>
                  <a:schemeClr val="bg1"/>
                </a:solidFill>
              </a:rPr>
              <a:t>"/&gt;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        &lt;exclude name="</a:t>
            </a:r>
            <a:r>
              <a:rPr lang="en-IN" sz="1400" dirty="0" err="1">
                <a:solidFill>
                  <a:schemeClr val="bg1"/>
                </a:solidFill>
              </a:rPr>
              <a:t>invalidLoginTest</a:t>
            </a:r>
            <a:r>
              <a:rPr lang="en-IN" sz="1400" dirty="0">
                <a:solidFill>
                  <a:schemeClr val="bg1"/>
                </a:solidFill>
              </a:rPr>
              <a:t>"/&gt;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    &lt;/methods&gt;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&lt;/class&gt;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&lt;class name="</a:t>
            </a:r>
            <a:r>
              <a:rPr lang="en-IN" sz="1400" dirty="0" err="1">
                <a:solidFill>
                  <a:schemeClr val="bg1"/>
                </a:solidFill>
              </a:rPr>
              <a:t>com.example.tests.LogoutTest</a:t>
            </a:r>
            <a:r>
              <a:rPr lang="en-IN" sz="1400" dirty="0">
                <a:solidFill>
                  <a:schemeClr val="bg1"/>
                </a:solidFill>
              </a:rPr>
              <a:t>"/&gt;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&lt;/classes&gt;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&lt;/test&gt;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&lt;!-- Second Test Block --&gt;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&lt;test name="</a:t>
            </a:r>
            <a:r>
              <a:rPr lang="en-IN" sz="1400" dirty="0" err="1">
                <a:solidFill>
                  <a:schemeClr val="bg1"/>
                </a:solidFill>
              </a:rPr>
              <a:t>RegressionTests</a:t>
            </a:r>
            <a:r>
              <a:rPr lang="en-IN" sz="1400" dirty="0">
                <a:solidFill>
                  <a:schemeClr val="bg1"/>
                </a:solidFill>
              </a:rPr>
              <a:t>"&gt;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    &lt;parameter name="browser" value="</a:t>
            </a:r>
            <a:r>
              <a:rPr lang="en-IN" sz="1400" dirty="0" err="1">
                <a:solidFill>
                  <a:schemeClr val="bg1"/>
                </a:solidFill>
              </a:rPr>
              <a:t>firefox</a:t>
            </a:r>
            <a:r>
              <a:rPr lang="en-IN" sz="1400" dirty="0">
                <a:solidFill>
                  <a:schemeClr val="bg1"/>
                </a:solidFill>
              </a:rPr>
              <a:t>"/&gt;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    &lt;groups&gt;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&lt;run&gt;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    &lt;include name="regression"/&gt;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&lt;/run&gt;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&lt;/groups&gt;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      &lt;classes&gt;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&lt;class name="</a:t>
            </a:r>
            <a:r>
              <a:rPr lang="en-IN" sz="1400" dirty="0" err="1">
                <a:solidFill>
                  <a:schemeClr val="bg1"/>
                </a:solidFill>
              </a:rPr>
              <a:t>com.example.tests.PaymentTest</a:t>
            </a:r>
            <a:r>
              <a:rPr lang="en-IN" sz="1400" dirty="0">
                <a:solidFill>
                  <a:schemeClr val="bg1"/>
                </a:solidFill>
              </a:rPr>
              <a:t>"/&gt;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&lt;class name="</a:t>
            </a:r>
            <a:r>
              <a:rPr lang="en-IN" sz="1400" dirty="0" err="1">
                <a:solidFill>
                  <a:schemeClr val="bg1"/>
                </a:solidFill>
              </a:rPr>
              <a:t>com.example.tests.ProfileUpdateTest</a:t>
            </a:r>
            <a:r>
              <a:rPr lang="en-IN" sz="1400" dirty="0">
                <a:solidFill>
                  <a:schemeClr val="bg1"/>
                </a:solidFill>
              </a:rPr>
              <a:t>"/&gt;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&lt;/classes&gt;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&lt;/test&gt;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&lt;/suite&gt;</a:t>
            </a:r>
            <a:endParaRPr lang="en-IN" sz="1400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D032884-0D58-EC9F-C9E3-831FF58F2F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265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F1F8-E09E-EEFD-DCDD-ED3EFECA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uhaus 93" panose="04030905020B02020C02" pitchFamily="82" charset="0"/>
              </a:rPr>
              <a:t>Thank you!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F2CC60C-CCCA-D126-A44D-7042E9DE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36652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1326</TotalTime>
  <Words>2408</Words>
  <Application>Microsoft Office PowerPoint</Application>
  <PresentationFormat>Widescreen</PresentationFormat>
  <Paragraphs>447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Agency FB</vt:lpstr>
      <vt:lpstr>Aptos</vt:lpstr>
      <vt:lpstr>Arial</vt:lpstr>
      <vt:lpstr>Arial Black</vt:lpstr>
      <vt:lpstr>Bauhaus 93</vt:lpstr>
      <vt:lpstr>Trebuchet MS</vt:lpstr>
      <vt:lpstr>Berlin</vt:lpstr>
      <vt:lpstr>&lt;ai/&gt; &lt;IQ/&gt; LABS</vt:lpstr>
      <vt:lpstr>TestNG {Agenda}</vt:lpstr>
      <vt:lpstr>Assertion</vt:lpstr>
      <vt:lpstr>Assertion</vt:lpstr>
      <vt:lpstr>Assertion</vt:lpstr>
      <vt:lpstr>Assertion</vt:lpstr>
      <vt:lpstr>Assertion</vt:lpstr>
      <vt:lpstr>Assertion</vt:lpstr>
      <vt:lpstr>Test Groups</vt:lpstr>
      <vt:lpstr>Test Groups</vt:lpstr>
      <vt:lpstr>Dependencies</vt:lpstr>
      <vt:lpstr>Dependencies</vt:lpstr>
      <vt:lpstr>Dependencies</vt:lpstr>
      <vt:lpstr>Dependencies</vt:lpstr>
      <vt:lpstr>Dependencies</vt:lpstr>
      <vt:lpstr>testng.xml</vt:lpstr>
      <vt:lpstr>testng.xml</vt:lpstr>
      <vt:lpstr>testng.xml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Slick Ark</dc:creator>
  <cp:lastModifiedBy>Slick Ark</cp:lastModifiedBy>
  <cp:revision>263</cp:revision>
  <dcterms:created xsi:type="dcterms:W3CDTF">2026-02-04T04:23:12Z</dcterms:created>
  <dcterms:modified xsi:type="dcterms:W3CDTF">2026-02-11T17:15:02Z</dcterms:modified>
</cp:coreProperties>
</file>