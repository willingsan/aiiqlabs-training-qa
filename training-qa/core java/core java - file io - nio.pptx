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58" r:id="rId3"/>
    <p:sldId id="288" r:id="rId4"/>
    <p:sldId id="289" r:id="rId5"/>
    <p:sldId id="293" r:id="rId6"/>
    <p:sldId id="290" r:id="rId7"/>
    <p:sldId id="291" r:id="rId8"/>
    <p:sldId id="292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5" r:id="rId30"/>
    <p:sldId id="314" r:id="rId31"/>
    <p:sldId id="287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68" autoAdjust="0"/>
    <p:restoredTop sz="94660"/>
  </p:normalViewPr>
  <p:slideViewPr>
    <p:cSldViewPr snapToGrid="0">
      <p:cViewPr>
        <p:scale>
          <a:sx n="90" d="100"/>
          <a:sy n="90" d="100"/>
        </p:scale>
        <p:origin x="72" y="1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D969DC-181F-4921-8B5F-0EF62F4CE89E}" type="doc">
      <dgm:prSet loTypeId="urn:microsoft.com/office/officeart/2005/8/layout/target3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F07259D-CC92-40A2-B71A-EC53F9211F9A}">
      <dgm:prSet phldrT="[Text]" phldr="0" custT="1"/>
      <dgm:spPr/>
      <dgm:t>
        <a:bodyPr tIns="180000"/>
        <a:lstStyle/>
        <a:p>
          <a:pPr algn="l"/>
          <a:r>
            <a:rPr lang="en-IN" sz="3200" dirty="0" err="1"/>
            <a:t>InputStream</a:t>
          </a:r>
          <a:r>
            <a:rPr lang="en-IN" sz="3200" dirty="0"/>
            <a:t>/</a:t>
          </a:r>
          <a:r>
            <a:rPr lang="en-IN" sz="3200" dirty="0" err="1"/>
            <a:t>OutputStream</a:t>
          </a:r>
          <a:endParaRPr lang="en-IN" sz="3200" dirty="0"/>
        </a:p>
      </dgm:t>
    </dgm:pt>
    <dgm:pt modelId="{CDA5EB07-4899-4932-BD18-04FBCCD240D5}" type="parTrans" cxnId="{7C5D232D-E9B4-4960-B9C9-71A7B8F558DB}">
      <dgm:prSet/>
      <dgm:spPr/>
      <dgm:t>
        <a:bodyPr/>
        <a:lstStyle/>
        <a:p>
          <a:endParaRPr lang="en-IN"/>
        </a:p>
      </dgm:t>
    </dgm:pt>
    <dgm:pt modelId="{0B90EAA4-646A-462C-BE6B-22BCE114692F}" type="sibTrans" cxnId="{7C5D232D-E9B4-4960-B9C9-71A7B8F558DB}">
      <dgm:prSet/>
      <dgm:spPr/>
      <dgm:t>
        <a:bodyPr/>
        <a:lstStyle/>
        <a:p>
          <a:endParaRPr lang="en-IN"/>
        </a:p>
      </dgm:t>
    </dgm:pt>
    <dgm:pt modelId="{29513CEE-C872-4255-A290-C4BDE6E5CDB4}">
      <dgm:prSet phldrT="[Text]" phldr="0" custT="1"/>
      <dgm:spPr/>
      <dgm:t>
        <a:bodyPr tIns="180000" bIns="180000"/>
        <a:lstStyle/>
        <a:p>
          <a:pPr algn="l"/>
          <a:r>
            <a:rPr lang="en-IN" sz="3200" dirty="0"/>
            <a:t>Serialization/Deserialization</a:t>
          </a:r>
        </a:p>
      </dgm:t>
    </dgm:pt>
    <dgm:pt modelId="{92813842-A6E0-423F-864C-7A4FE3BBE7AA}" type="parTrans" cxnId="{1DB5F0D3-C7E7-4977-A2B2-0078BCE78EFC}">
      <dgm:prSet/>
      <dgm:spPr/>
      <dgm:t>
        <a:bodyPr/>
        <a:lstStyle/>
        <a:p>
          <a:endParaRPr lang="en-IN"/>
        </a:p>
      </dgm:t>
    </dgm:pt>
    <dgm:pt modelId="{DE6A4B1D-F319-4794-8014-0FFD2623E4CB}" type="sibTrans" cxnId="{1DB5F0D3-C7E7-4977-A2B2-0078BCE78EFC}">
      <dgm:prSet/>
      <dgm:spPr/>
      <dgm:t>
        <a:bodyPr/>
        <a:lstStyle/>
        <a:p>
          <a:endParaRPr lang="en-IN"/>
        </a:p>
      </dgm:t>
    </dgm:pt>
    <dgm:pt modelId="{870B91A1-7977-4CE3-B27C-6AE86C41D6F9}">
      <dgm:prSet phldrT="[Text]" phldr="0" custT="1"/>
      <dgm:spPr/>
      <dgm:t>
        <a:bodyPr tIns="180000" bIns="180000"/>
        <a:lstStyle/>
        <a:p>
          <a:pPr algn="l"/>
          <a:r>
            <a:rPr lang="en-IN" sz="3200" dirty="0" err="1"/>
            <a:t>Java.NIO</a:t>
          </a:r>
          <a:endParaRPr lang="en-IN" sz="3200" dirty="0"/>
        </a:p>
      </dgm:t>
    </dgm:pt>
    <dgm:pt modelId="{4868F0FF-0A7D-4007-80CE-5DC4ED195136}" type="parTrans" cxnId="{6BD3B303-D7CC-40D7-88A1-7989F3A107CC}">
      <dgm:prSet/>
      <dgm:spPr/>
      <dgm:t>
        <a:bodyPr/>
        <a:lstStyle/>
        <a:p>
          <a:endParaRPr lang="en-IN"/>
        </a:p>
      </dgm:t>
    </dgm:pt>
    <dgm:pt modelId="{E7DBC3EA-52F7-4308-A19A-2140A9695EF9}" type="sibTrans" cxnId="{6BD3B303-D7CC-40D7-88A1-7989F3A107CC}">
      <dgm:prSet/>
      <dgm:spPr/>
      <dgm:t>
        <a:bodyPr/>
        <a:lstStyle/>
        <a:p>
          <a:endParaRPr lang="en-IN"/>
        </a:p>
      </dgm:t>
    </dgm:pt>
    <dgm:pt modelId="{AE21209F-7D24-4CB6-AD9C-E5EF802F5A1B}">
      <dgm:prSet phldrT="[Text]" phldr="0" custT="1"/>
      <dgm:spPr/>
      <dgm:t>
        <a:bodyPr tIns="180000"/>
        <a:lstStyle/>
        <a:p>
          <a:pPr algn="l"/>
          <a:r>
            <a:rPr lang="en-IN" sz="3200" dirty="0"/>
            <a:t>Reader/Writer</a:t>
          </a:r>
        </a:p>
      </dgm:t>
    </dgm:pt>
    <dgm:pt modelId="{45AD07B5-F8D1-44A6-B39E-5FB7B0EF4F16}" type="parTrans" cxnId="{D0F7279C-246F-41E1-8E5C-902C45407CD9}">
      <dgm:prSet/>
      <dgm:spPr/>
      <dgm:t>
        <a:bodyPr/>
        <a:lstStyle/>
        <a:p>
          <a:endParaRPr lang="en-IN"/>
        </a:p>
      </dgm:t>
    </dgm:pt>
    <dgm:pt modelId="{C63E4574-1D14-48F3-B09C-D07828D068CF}" type="sibTrans" cxnId="{D0F7279C-246F-41E1-8E5C-902C45407CD9}">
      <dgm:prSet/>
      <dgm:spPr/>
      <dgm:t>
        <a:bodyPr/>
        <a:lstStyle/>
        <a:p>
          <a:endParaRPr lang="en-IN"/>
        </a:p>
      </dgm:t>
    </dgm:pt>
    <dgm:pt modelId="{DE860416-E6AE-46B5-862B-CD2595D1ACD2}" type="pres">
      <dgm:prSet presAssocID="{6BD969DC-181F-4921-8B5F-0EF62F4CE89E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DD66BBEE-7F67-4E6F-A56A-94C435C76A0E}" type="pres">
      <dgm:prSet presAssocID="{BF07259D-CC92-40A2-B71A-EC53F9211F9A}" presName="circle1" presStyleLbl="node1" presStyleIdx="0" presStyleCnt="4"/>
      <dgm:spPr/>
    </dgm:pt>
    <dgm:pt modelId="{FDE74903-F762-4C18-A9EA-82E9B3622505}" type="pres">
      <dgm:prSet presAssocID="{BF07259D-CC92-40A2-B71A-EC53F9211F9A}" presName="space" presStyleCnt="0"/>
      <dgm:spPr/>
    </dgm:pt>
    <dgm:pt modelId="{7340E5E1-75B9-4AC7-BC8E-760EBCEC593A}" type="pres">
      <dgm:prSet presAssocID="{BF07259D-CC92-40A2-B71A-EC53F9211F9A}" presName="rect1" presStyleLbl="alignAcc1" presStyleIdx="0" presStyleCnt="4"/>
      <dgm:spPr/>
    </dgm:pt>
    <dgm:pt modelId="{4350FF3B-86F0-424B-947A-DEEE3D168949}" type="pres">
      <dgm:prSet presAssocID="{AE21209F-7D24-4CB6-AD9C-E5EF802F5A1B}" presName="vertSpace2" presStyleLbl="node1" presStyleIdx="0" presStyleCnt="4"/>
      <dgm:spPr/>
    </dgm:pt>
    <dgm:pt modelId="{CD90A3B7-009E-4398-B561-EE71CC60C11B}" type="pres">
      <dgm:prSet presAssocID="{AE21209F-7D24-4CB6-AD9C-E5EF802F5A1B}" presName="circle2" presStyleLbl="node1" presStyleIdx="1" presStyleCnt="4"/>
      <dgm:spPr/>
    </dgm:pt>
    <dgm:pt modelId="{7FF3767B-A142-410A-A211-A342406B26E2}" type="pres">
      <dgm:prSet presAssocID="{AE21209F-7D24-4CB6-AD9C-E5EF802F5A1B}" presName="rect2" presStyleLbl="alignAcc1" presStyleIdx="1" presStyleCnt="4"/>
      <dgm:spPr/>
    </dgm:pt>
    <dgm:pt modelId="{492F3133-497F-4D30-89A4-E128FDA1B105}" type="pres">
      <dgm:prSet presAssocID="{29513CEE-C872-4255-A290-C4BDE6E5CDB4}" presName="vertSpace3" presStyleLbl="node1" presStyleIdx="1" presStyleCnt="4"/>
      <dgm:spPr/>
    </dgm:pt>
    <dgm:pt modelId="{BAF0B66C-ABFC-4012-9038-6E8433ED2727}" type="pres">
      <dgm:prSet presAssocID="{29513CEE-C872-4255-A290-C4BDE6E5CDB4}" presName="circle3" presStyleLbl="node1" presStyleIdx="2" presStyleCnt="4"/>
      <dgm:spPr/>
    </dgm:pt>
    <dgm:pt modelId="{0502FDA4-88B9-4EDE-B454-5F0C0E5FBF48}" type="pres">
      <dgm:prSet presAssocID="{29513CEE-C872-4255-A290-C4BDE6E5CDB4}" presName="rect3" presStyleLbl="alignAcc1" presStyleIdx="2" presStyleCnt="4"/>
      <dgm:spPr/>
    </dgm:pt>
    <dgm:pt modelId="{6EBC34CE-C5DA-496D-AD14-B2FB534EDDD5}" type="pres">
      <dgm:prSet presAssocID="{870B91A1-7977-4CE3-B27C-6AE86C41D6F9}" presName="vertSpace4" presStyleLbl="node1" presStyleIdx="2" presStyleCnt="4"/>
      <dgm:spPr/>
    </dgm:pt>
    <dgm:pt modelId="{666FC3F5-6FCE-4860-B741-4A59AC94D441}" type="pres">
      <dgm:prSet presAssocID="{870B91A1-7977-4CE3-B27C-6AE86C41D6F9}" presName="circle4" presStyleLbl="node1" presStyleIdx="3" presStyleCnt="4"/>
      <dgm:spPr/>
    </dgm:pt>
    <dgm:pt modelId="{E61D944F-392B-476A-9D49-D82FD8971894}" type="pres">
      <dgm:prSet presAssocID="{870B91A1-7977-4CE3-B27C-6AE86C41D6F9}" presName="rect4" presStyleLbl="alignAcc1" presStyleIdx="3" presStyleCnt="4"/>
      <dgm:spPr/>
    </dgm:pt>
    <dgm:pt modelId="{AE2DCCCF-C4D9-4127-A2D1-BA19241541A9}" type="pres">
      <dgm:prSet presAssocID="{BF07259D-CC92-40A2-B71A-EC53F9211F9A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7DF42CA0-87E0-4DDC-AA4A-536266C43DB0}" type="pres">
      <dgm:prSet presAssocID="{AE21209F-7D24-4CB6-AD9C-E5EF802F5A1B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D65D16CA-65F1-4F38-B190-0CA964B0144A}" type="pres">
      <dgm:prSet presAssocID="{29513CEE-C872-4255-A290-C4BDE6E5CDB4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AA353DBE-A88B-4C46-BE47-214492FB885B}" type="pres">
      <dgm:prSet presAssocID="{870B91A1-7977-4CE3-B27C-6AE86C41D6F9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6BD3B303-D7CC-40D7-88A1-7989F3A107CC}" srcId="{6BD969DC-181F-4921-8B5F-0EF62F4CE89E}" destId="{870B91A1-7977-4CE3-B27C-6AE86C41D6F9}" srcOrd="3" destOrd="0" parTransId="{4868F0FF-0A7D-4007-80CE-5DC4ED195136}" sibTransId="{E7DBC3EA-52F7-4308-A19A-2140A9695EF9}"/>
    <dgm:cxn modelId="{A559870B-7859-4DC3-BE58-A2A33CE7600F}" type="presOf" srcId="{29513CEE-C872-4255-A290-C4BDE6E5CDB4}" destId="{D65D16CA-65F1-4F38-B190-0CA964B0144A}" srcOrd="1" destOrd="0" presId="urn:microsoft.com/office/officeart/2005/8/layout/target3"/>
    <dgm:cxn modelId="{2C5FC812-45D5-418B-BCFD-96C05CE31ABB}" type="presOf" srcId="{6BD969DC-181F-4921-8B5F-0EF62F4CE89E}" destId="{DE860416-E6AE-46B5-862B-CD2595D1ACD2}" srcOrd="0" destOrd="0" presId="urn:microsoft.com/office/officeart/2005/8/layout/target3"/>
    <dgm:cxn modelId="{7C5D232D-E9B4-4960-B9C9-71A7B8F558DB}" srcId="{6BD969DC-181F-4921-8B5F-0EF62F4CE89E}" destId="{BF07259D-CC92-40A2-B71A-EC53F9211F9A}" srcOrd="0" destOrd="0" parTransId="{CDA5EB07-4899-4932-BD18-04FBCCD240D5}" sibTransId="{0B90EAA4-646A-462C-BE6B-22BCE114692F}"/>
    <dgm:cxn modelId="{B9748D48-19F4-4E34-8D1E-CFD69FE68F78}" type="presOf" srcId="{BF07259D-CC92-40A2-B71A-EC53F9211F9A}" destId="{7340E5E1-75B9-4AC7-BC8E-760EBCEC593A}" srcOrd="0" destOrd="0" presId="urn:microsoft.com/office/officeart/2005/8/layout/target3"/>
    <dgm:cxn modelId="{8E9C4151-0980-4C74-A7A6-9783DF9D8457}" type="presOf" srcId="{870B91A1-7977-4CE3-B27C-6AE86C41D6F9}" destId="{E61D944F-392B-476A-9D49-D82FD8971894}" srcOrd="0" destOrd="0" presId="urn:microsoft.com/office/officeart/2005/8/layout/target3"/>
    <dgm:cxn modelId="{1BFFC85A-6E56-4EB8-81C8-49BD4C29B295}" type="presOf" srcId="{870B91A1-7977-4CE3-B27C-6AE86C41D6F9}" destId="{AA353DBE-A88B-4C46-BE47-214492FB885B}" srcOrd="1" destOrd="0" presId="urn:microsoft.com/office/officeart/2005/8/layout/target3"/>
    <dgm:cxn modelId="{D17F5F99-DA88-41AF-92B9-4A5CD114F449}" type="presOf" srcId="{AE21209F-7D24-4CB6-AD9C-E5EF802F5A1B}" destId="{7FF3767B-A142-410A-A211-A342406B26E2}" srcOrd="0" destOrd="0" presId="urn:microsoft.com/office/officeart/2005/8/layout/target3"/>
    <dgm:cxn modelId="{D0F7279C-246F-41E1-8E5C-902C45407CD9}" srcId="{6BD969DC-181F-4921-8B5F-0EF62F4CE89E}" destId="{AE21209F-7D24-4CB6-AD9C-E5EF802F5A1B}" srcOrd="1" destOrd="0" parTransId="{45AD07B5-F8D1-44A6-B39E-5FB7B0EF4F16}" sibTransId="{C63E4574-1D14-48F3-B09C-D07828D068CF}"/>
    <dgm:cxn modelId="{9FB51FC7-350C-4032-963A-E9F080E97618}" type="presOf" srcId="{29513CEE-C872-4255-A290-C4BDE6E5CDB4}" destId="{0502FDA4-88B9-4EDE-B454-5F0C0E5FBF48}" srcOrd="0" destOrd="0" presId="urn:microsoft.com/office/officeart/2005/8/layout/target3"/>
    <dgm:cxn modelId="{1DB5F0D3-C7E7-4977-A2B2-0078BCE78EFC}" srcId="{6BD969DC-181F-4921-8B5F-0EF62F4CE89E}" destId="{29513CEE-C872-4255-A290-C4BDE6E5CDB4}" srcOrd="2" destOrd="0" parTransId="{92813842-A6E0-423F-864C-7A4FE3BBE7AA}" sibTransId="{DE6A4B1D-F319-4794-8014-0FFD2623E4CB}"/>
    <dgm:cxn modelId="{B3D374D4-E24B-46A4-9D27-56178AE41B34}" type="presOf" srcId="{BF07259D-CC92-40A2-B71A-EC53F9211F9A}" destId="{AE2DCCCF-C4D9-4127-A2D1-BA19241541A9}" srcOrd="1" destOrd="0" presId="urn:microsoft.com/office/officeart/2005/8/layout/target3"/>
    <dgm:cxn modelId="{FEEA89E9-D78C-4D97-9C5E-5D2F45CCC7B7}" type="presOf" srcId="{AE21209F-7D24-4CB6-AD9C-E5EF802F5A1B}" destId="{7DF42CA0-87E0-4DDC-AA4A-536266C43DB0}" srcOrd="1" destOrd="0" presId="urn:microsoft.com/office/officeart/2005/8/layout/target3"/>
    <dgm:cxn modelId="{A15BE67A-6750-4650-8738-EDAD6AFC28DE}" type="presParOf" srcId="{DE860416-E6AE-46B5-862B-CD2595D1ACD2}" destId="{DD66BBEE-7F67-4E6F-A56A-94C435C76A0E}" srcOrd="0" destOrd="0" presId="urn:microsoft.com/office/officeart/2005/8/layout/target3"/>
    <dgm:cxn modelId="{3223D544-F4DF-466A-BCC5-D1858842068D}" type="presParOf" srcId="{DE860416-E6AE-46B5-862B-CD2595D1ACD2}" destId="{FDE74903-F762-4C18-A9EA-82E9B3622505}" srcOrd="1" destOrd="0" presId="urn:microsoft.com/office/officeart/2005/8/layout/target3"/>
    <dgm:cxn modelId="{F9F17FAA-59BF-457D-AF9C-F83D9268917F}" type="presParOf" srcId="{DE860416-E6AE-46B5-862B-CD2595D1ACD2}" destId="{7340E5E1-75B9-4AC7-BC8E-760EBCEC593A}" srcOrd="2" destOrd="0" presId="urn:microsoft.com/office/officeart/2005/8/layout/target3"/>
    <dgm:cxn modelId="{E31E7D54-F0ED-4081-B7C1-0D7FB4EA8C7D}" type="presParOf" srcId="{DE860416-E6AE-46B5-862B-CD2595D1ACD2}" destId="{4350FF3B-86F0-424B-947A-DEEE3D168949}" srcOrd="3" destOrd="0" presId="urn:microsoft.com/office/officeart/2005/8/layout/target3"/>
    <dgm:cxn modelId="{573102ED-ECA5-4230-9BD2-EF3A924EDD47}" type="presParOf" srcId="{DE860416-E6AE-46B5-862B-CD2595D1ACD2}" destId="{CD90A3B7-009E-4398-B561-EE71CC60C11B}" srcOrd="4" destOrd="0" presId="urn:microsoft.com/office/officeart/2005/8/layout/target3"/>
    <dgm:cxn modelId="{C53FD30C-EEED-41FB-8BA4-35883278939D}" type="presParOf" srcId="{DE860416-E6AE-46B5-862B-CD2595D1ACD2}" destId="{7FF3767B-A142-410A-A211-A342406B26E2}" srcOrd="5" destOrd="0" presId="urn:microsoft.com/office/officeart/2005/8/layout/target3"/>
    <dgm:cxn modelId="{A5A983BC-F965-440B-8981-10FCF6C98158}" type="presParOf" srcId="{DE860416-E6AE-46B5-862B-CD2595D1ACD2}" destId="{492F3133-497F-4D30-89A4-E128FDA1B105}" srcOrd="6" destOrd="0" presId="urn:microsoft.com/office/officeart/2005/8/layout/target3"/>
    <dgm:cxn modelId="{BFD5E680-B8F6-45A2-90F0-90CDC2468F3F}" type="presParOf" srcId="{DE860416-E6AE-46B5-862B-CD2595D1ACD2}" destId="{BAF0B66C-ABFC-4012-9038-6E8433ED2727}" srcOrd="7" destOrd="0" presId="urn:microsoft.com/office/officeart/2005/8/layout/target3"/>
    <dgm:cxn modelId="{B2721806-B332-4594-9BF6-8F66D489040E}" type="presParOf" srcId="{DE860416-E6AE-46B5-862B-CD2595D1ACD2}" destId="{0502FDA4-88B9-4EDE-B454-5F0C0E5FBF48}" srcOrd="8" destOrd="0" presId="urn:microsoft.com/office/officeart/2005/8/layout/target3"/>
    <dgm:cxn modelId="{35960C98-6F0F-465F-BBD6-94060ADA746F}" type="presParOf" srcId="{DE860416-E6AE-46B5-862B-CD2595D1ACD2}" destId="{6EBC34CE-C5DA-496D-AD14-B2FB534EDDD5}" srcOrd="9" destOrd="0" presId="urn:microsoft.com/office/officeart/2005/8/layout/target3"/>
    <dgm:cxn modelId="{E6139588-00F6-4826-91DE-63F5A079FC97}" type="presParOf" srcId="{DE860416-E6AE-46B5-862B-CD2595D1ACD2}" destId="{666FC3F5-6FCE-4860-B741-4A59AC94D441}" srcOrd="10" destOrd="0" presId="urn:microsoft.com/office/officeart/2005/8/layout/target3"/>
    <dgm:cxn modelId="{4EC3B001-00C6-4A05-ABD1-300821FF31EB}" type="presParOf" srcId="{DE860416-E6AE-46B5-862B-CD2595D1ACD2}" destId="{E61D944F-392B-476A-9D49-D82FD8971894}" srcOrd="11" destOrd="0" presId="urn:microsoft.com/office/officeart/2005/8/layout/target3"/>
    <dgm:cxn modelId="{A238F773-EC2D-450B-929D-25C13150D21C}" type="presParOf" srcId="{DE860416-E6AE-46B5-862B-CD2595D1ACD2}" destId="{AE2DCCCF-C4D9-4127-A2D1-BA19241541A9}" srcOrd="12" destOrd="0" presId="urn:microsoft.com/office/officeart/2005/8/layout/target3"/>
    <dgm:cxn modelId="{358E8FB3-7D06-4DAC-B336-63B7FDC94E4C}" type="presParOf" srcId="{DE860416-E6AE-46B5-862B-CD2595D1ACD2}" destId="{7DF42CA0-87E0-4DDC-AA4A-536266C43DB0}" srcOrd="13" destOrd="0" presId="urn:microsoft.com/office/officeart/2005/8/layout/target3"/>
    <dgm:cxn modelId="{85364540-5494-4F63-B2CE-B5B6501F6BDC}" type="presParOf" srcId="{DE860416-E6AE-46B5-862B-CD2595D1ACD2}" destId="{D65D16CA-65F1-4F38-B190-0CA964B0144A}" srcOrd="14" destOrd="0" presId="urn:microsoft.com/office/officeart/2005/8/layout/target3"/>
    <dgm:cxn modelId="{B78838B9-ECC9-46D2-B609-2D0333A0AC80}" type="presParOf" srcId="{DE860416-E6AE-46B5-862B-CD2595D1ACD2}" destId="{AA353DBE-A88B-4C46-BE47-214492FB885B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66BBEE-7F67-4E6F-A56A-94C435C76A0E}">
      <dsp:nvSpPr>
        <dsp:cNvPr id="0" name=""/>
        <dsp:cNvSpPr/>
      </dsp:nvSpPr>
      <dsp:spPr>
        <a:xfrm>
          <a:off x="0" y="0"/>
          <a:ext cx="5298895" cy="529889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340E5E1-75B9-4AC7-BC8E-760EBCEC593A}">
      <dsp:nvSpPr>
        <dsp:cNvPr id="0" name=""/>
        <dsp:cNvSpPr/>
      </dsp:nvSpPr>
      <dsp:spPr>
        <a:xfrm>
          <a:off x="2649447" y="0"/>
          <a:ext cx="6396344" cy="529889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8000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 err="1"/>
            <a:t>InputStream</a:t>
          </a:r>
          <a:r>
            <a:rPr lang="en-IN" sz="3200" kern="1200" dirty="0"/>
            <a:t>/</a:t>
          </a:r>
          <a:r>
            <a:rPr lang="en-IN" sz="3200" kern="1200" dirty="0" err="1"/>
            <a:t>OutputStream</a:t>
          </a:r>
          <a:endParaRPr lang="en-IN" sz="3200" kern="1200" dirty="0"/>
        </a:p>
      </dsp:txBody>
      <dsp:txXfrm>
        <a:off x="2649447" y="0"/>
        <a:ext cx="6396344" cy="1126015"/>
      </dsp:txXfrm>
    </dsp:sp>
    <dsp:sp modelId="{CD90A3B7-009E-4398-B561-EE71CC60C11B}">
      <dsp:nvSpPr>
        <dsp:cNvPr id="0" name=""/>
        <dsp:cNvSpPr/>
      </dsp:nvSpPr>
      <dsp:spPr>
        <a:xfrm>
          <a:off x="695480" y="1126015"/>
          <a:ext cx="3907935" cy="390793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FF3767B-A142-410A-A211-A342406B26E2}">
      <dsp:nvSpPr>
        <dsp:cNvPr id="0" name=""/>
        <dsp:cNvSpPr/>
      </dsp:nvSpPr>
      <dsp:spPr>
        <a:xfrm>
          <a:off x="2649447" y="1126015"/>
          <a:ext cx="6396344" cy="390793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8000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Reader/Writer</a:t>
          </a:r>
        </a:p>
      </dsp:txBody>
      <dsp:txXfrm>
        <a:off x="2649447" y="1126015"/>
        <a:ext cx="6396344" cy="1126015"/>
      </dsp:txXfrm>
    </dsp:sp>
    <dsp:sp modelId="{BAF0B66C-ABFC-4012-9038-6E8433ED2727}">
      <dsp:nvSpPr>
        <dsp:cNvPr id="0" name=""/>
        <dsp:cNvSpPr/>
      </dsp:nvSpPr>
      <dsp:spPr>
        <a:xfrm>
          <a:off x="1390960" y="2252030"/>
          <a:ext cx="2516975" cy="251697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502FDA4-88B9-4EDE-B454-5F0C0E5FBF48}">
      <dsp:nvSpPr>
        <dsp:cNvPr id="0" name=""/>
        <dsp:cNvSpPr/>
      </dsp:nvSpPr>
      <dsp:spPr>
        <a:xfrm>
          <a:off x="2649447" y="2252030"/>
          <a:ext cx="6396344" cy="2516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80000" rIns="121920" bIns="1800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Serialization/Deserialization</a:t>
          </a:r>
        </a:p>
      </dsp:txBody>
      <dsp:txXfrm>
        <a:off x="2649447" y="2252030"/>
        <a:ext cx="6396344" cy="1126015"/>
      </dsp:txXfrm>
    </dsp:sp>
    <dsp:sp modelId="{666FC3F5-6FCE-4860-B741-4A59AC94D441}">
      <dsp:nvSpPr>
        <dsp:cNvPr id="0" name=""/>
        <dsp:cNvSpPr/>
      </dsp:nvSpPr>
      <dsp:spPr>
        <a:xfrm>
          <a:off x="2086440" y="3378046"/>
          <a:ext cx="1126015" cy="112601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61D944F-392B-476A-9D49-D82FD8971894}">
      <dsp:nvSpPr>
        <dsp:cNvPr id="0" name=""/>
        <dsp:cNvSpPr/>
      </dsp:nvSpPr>
      <dsp:spPr>
        <a:xfrm>
          <a:off x="2649447" y="3378046"/>
          <a:ext cx="6396344" cy="112601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80000" rIns="121920" bIns="1800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 err="1"/>
            <a:t>Java.NIO</a:t>
          </a:r>
          <a:endParaRPr lang="en-IN" sz="3200" kern="1200" dirty="0"/>
        </a:p>
      </dsp:txBody>
      <dsp:txXfrm>
        <a:off x="2649447" y="3378046"/>
        <a:ext cx="6396344" cy="11260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CF51D-2CA1-4036-9BAF-10979399AB3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31FD81-BCC5-4427-8597-1D23DC5F3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29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826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988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568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17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>
            <a:lumMod val="20000"/>
            <a:lumOff val="80000"/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6" y="776216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78055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208315"/>
            <a:ext cx="10437812" cy="58109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208315"/>
            <a:ext cx="1602997" cy="581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6726" y="-36183"/>
            <a:ext cx="9613861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47041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6033" y="270769"/>
            <a:ext cx="945384" cy="447331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687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547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38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035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2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996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80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56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119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437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224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003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971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9468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286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120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255A1-778B-CBD3-2A30-970B27E7B1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sz="4400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</a:t>
            </a:r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/&gt;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67B07-2AB6-250A-AB80-DE8B50BCA0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Agency FB" panose="020B0503020202020204" pitchFamily="34" charset="0"/>
              </a:rPr>
              <a:t>Core JAVA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98916-F9E7-EBAC-BE3B-5EA900294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0542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9174-4221-2E61-2BBA-A5675E5D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Input/Output in Java {</a:t>
            </a:r>
            <a:r>
              <a:rPr lang="en-IN" sz="2000" dirty="0"/>
              <a:t>Agenda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D9D6B-D71E-9A8C-F04C-695B0CF7B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D7DBE-7876-EDF4-6E90-83F9BF3C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0D294A9-1C75-20B8-E943-80AC12FC0B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9082117"/>
              </p:ext>
            </p:extLst>
          </p:nvPr>
        </p:nvGraphicFramePr>
        <p:xfrm>
          <a:off x="311150" y="1044755"/>
          <a:ext cx="9045792" cy="5298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938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AC8B-BB9D-1C73-7C6C-6DA31094E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InputStream</a:t>
            </a:r>
            <a:r>
              <a:rPr lang="en-IN" sz="2400" dirty="0"/>
              <a:t>/</a:t>
            </a:r>
            <a:r>
              <a:rPr lang="en-IN" sz="2400" dirty="0" err="1"/>
              <a:t>OutputStream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004C9-CF4E-F114-217D-A5DA9CBD3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799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In Java, </a:t>
            </a:r>
            <a:r>
              <a:rPr lang="en-US" sz="1800" b="1" dirty="0">
                <a:solidFill>
                  <a:schemeClr val="bg1"/>
                </a:solidFill>
              </a:rPr>
              <a:t>everything in I/O is built on streams</a:t>
            </a:r>
            <a:r>
              <a:rPr lang="en-US" sz="1800" dirty="0">
                <a:solidFill>
                  <a:schemeClr val="bg1"/>
                </a:solidFill>
              </a:rPr>
              <a:t>. A </a:t>
            </a:r>
            <a:r>
              <a:rPr lang="en-US" sz="1800" b="1" dirty="0">
                <a:solidFill>
                  <a:schemeClr val="bg1"/>
                </a:solidFill>
              </a:rPr>
              <a:t>stream</a:t>
            </a:r>
            <a:r>
              <a:rPr lang="en-US" sz="1800" dirty="0">
                <a:solidFill>
                  <a:schemeClr val="bg1"/>
                </a:solidFill>
              </a:rPr>
              <a:t> = a </a:t>
            </a:r>
            <a:r>
              <a:rPr lang="en-US" sz="1800" b="1" dirty="0">
                <a:solidFill>
                  <a:schemeClr val="bg1"/>
                </a:solidFill>
              </a:rPr>
              <a:t>one-way flow of data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 err="1">
                <a:solidFill>
                  <a:schemeClr val="bg1"/>
                </a:solidFill>
              </a:rPr>
              <a:t>InputStream</a:t>
            </a:r>
            <a:r>
              <a:rPr lang="en-US" sz="1800" dirty="0">
                <a:solidFill>
                  <a:schemeClr val="bg1"/>
                </a:solidFill>
              </a:rPr>
              <a:t> → data flows </a:t>
            </a:r>
            <a:r>
              <a:rPr lang="en-US" sz="1800" b="1" dirty="0">
                <a:solidFill>
                  <a:schemeClr val="bg1"/>
                </a:solidFill>
              </a:rPr>
              <a:t>into</a:t>
            </a:r>
            <a:r>
              <a:rPr lang="en-US" sz="1800" dirty="0">
                <a:solidFill>
                  <a:schemeClr val="bg1"/>
                </a:solidFill>
              </a:rPr>
              <a:t> your program</a:t>
            </a:r>
          </a:p>
          <a:p>
            <a:pPr marL="0" indent="0">
              <a:buNone/>
            </a:pPr>
            <a:r>
              <a:rPr lang="en-US" sz="1800" b="1" dirty="0" err="1">
                <a:solidFill>
                  <a:schemeClr val="bg1"/>
                </a:solidFill>
              </a:rPr>
              <a:t>OutputStream</a:t>
            </a:r>
            <a:r>
              <a:rPr lang="en-US" sz="1800" dirty="0">
                <a:solidFill>
                  <a:schemeClr val="bg1"/>
                </a:solidFill>
              </a:rPr>
              <a:t> → data flows </a:t>
            </a:r>
            <a:r>
              <a:rPr lang="en-US" sz="1800" b="1" dirty="0">
                <a:solidFill>
                  <a:schemeClr val="bg1"/>
                </a:solidFill>
              </a:rPr>
              <a:t>out of</a:t>
            </a:r>
            <a:r>
              <a:rPr lang="en-US" sz="1800" dirty="0">
                <a:solidFill>
                  <a:schemeClr val="bg1"/>
                </a:solidFill>
              </a:rPr>
              <a:t> your program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These streams work with </a:t>
            </a:r>
            <a:r>
              <a:rPr lang="en-US" sz="1800" b="1" dirty="0">
                <a:solidFill>
                  <a:schemeClr val="bg1"/>
                </a:solidFill>
              </a:rPr>
              <a:t>bytes</a:t>
            </a:r>
            <a:r>
              <a:rPr lang="en-US" sz="1800" dirty="0">
                <a:solidFill>
                  <a:schemeClr val="bg1"/>
                </a:solidFill>
              </a:rPr>
              <a:t> (8-bit data).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b="1" dirty="0" err="1">
                <a:solidFill>
                  <a:schemeClr val="bg1"/>
                </a:solidFill>
              </a:rPr>
              <a:t>InputStream</a:t>
            </a:r>
            <a:endParaRPr lang="en-IN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chemeClr val="bg1"/>
                </a:solidFill>
              </a:rPr>
              <a:t>InputStream</a:t>
            </a:r>
            <a:r>
              <a:rPr lang="en-US" sz="1800" dirty="0">
                <a:solidFill>
                  <a:schemeClr val="bg1"/>
                </a:solidFill>
              </a:rPr>
              <a:t> is an </a:t>
            </a:r>
            <a:r>
              <a:rPr lang="en-US" sz="1800" b="1" dirty="0">
                <a:solidFill>
                  <a:schemeClr val="bg1"/>
                </a:solidFill>
              </a:rPr>
              <a:t>abstract class</a:t>
            </a:r>
            <a:r>
              <a:rPr lang="en-US" sz="1800" dirty="0">
                <a:solidFill>
                  <a:schemeClr val="bg1"/>
                </a:solidFill>
              </a:rPr>
              <a:t> used to </a:t>
            </a:r>
            <a:r>
              <a:rPr lang="en-US" sz="1800" b="1" dirty="0">
                <a:solidFill>
                  <a:schemeClr val="bg1"/>
                </a:solidFill>
              </a:rPr>
              <a:t>read bytes</a:t>
            </a:r>
            <a:r>
              <a:rPr lang="en-US" sz="1800" dirty="0">
                <a:solidFill>
                  <a:schemeClr val="bg1"/>
                </a:solidFill>
              </a:rPr>
              <a:t> from a source. A source can be:-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endParaRPr lang="en-US" sz="200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Network socket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Keyboard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Memory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Another program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928DD-DE8B-6C76-B10F-29710DE8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183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E9331-BDB0-2BB3-7F8E-EEECA807E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2C0B0-F4DE-3BAB-BF13-E7C5200EA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InputStream</a:t>
            </a:r>
            <a:r>
              <a:rPr lang="en-IN" sz="2400" dirty="0"/>
              <a:t>/</a:t>
            </a:r>
            <a:r>
              <a:rPr lang="en-IN" sz="2400" dirty="0" err="1"/>
              <a:t>OutputStream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17224-E372-7CE3-27A1-5E51B4A23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799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Key methods 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C9710-CB3F-A1F9-9933-E43E95D640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B9C639-678A-1220-0D89-7757435E4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950473"/>
              </p:ext>
            </p:extLst>
          </p:nvPr>
        </p:nvGraphicFramePr>
        <p:xfrm>
          <a:off x="173037" y="1633936"/>
          <a:ext cx="10884430" cy="3389622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5442215">
                  <a:extLst>
                    <a:ext uri="{9D8B030D-6E8A-4147-A177-3AD203B41FA5}">
                      <a16:colId xmlns:a16="http://schemas.microsoft.com/office/drawing/2014/main" val="4125286207"/>
                    </a:ext>
                  </a:extLst>
                </a:gridCol>
                <a:gridCol w="5442215">
                  <a:extLst>
                    <a:ext uri="{9D8B030D-6E8A-4147-A177-3AD203B41FA5}">
                      <a16:colId xmlns:a16="http://schemas.microsoft.com/office/drawing/2014/main" val="3042094004"/>
                    </a:ext>
                  </a:extLst>
                </a:gridCol>
              </a:tblGrid>
              <a:tr h="564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0954856"/>
                  </a:ext>
                </a:extLst>
              </a:tr>
              <a:tr h="564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int read()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Reads </a:t>
                      </a:r>
                      <a:r>
                        <a:rPr lang="en-IN" b="0" dirty="0">
                          <a:solidFill>
                            <a:schemeClr val="bg1"/>
                          </a:solidFill>
                        </a:rPr>
                        <a:t>one byte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0087583"/>
                  </a:ext>
                </a:extLst>
              </a:tr>
              <a:tr h="564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int read(byte[] 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Reads multiple bytes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4008001"/>
                  </a:ext>
                </a:extLst>
              </a:tr>
              <a:tr h="564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close()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Releases resources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7056771"/>
                  </a:ext>
                </a:extLst>
              </a:tr>
              <a:tr h="564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available()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Bytes that can be read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2181315"/>
                  </a:ext>
                </a:extLst>
              </a:tr>
              <a:tr h="564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skip(long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Skips bytes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393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0658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40147-4794-D209-62AD-DA368DEB0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1F76E-026D-2A13-14AB-9EC20489E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InputStream</a:t>
            </a:r>
            <a:r>
              <a:rPr lang="en-IN" sz="2400" dirty="0"/>
              <a:t>/</a:t>
            </a:r>
            <a:r>
              <a:rPr lang="en-IN" sz="2400" dirty="0" err="1"/>
              <a:t>OutputStream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82CAE-3C16-7516-A086-992E86D9F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2123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Useful subclasses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61934-9D50-9DFF-17B6-BB9E6DF3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A55E0C-5253-223A-928C-452CD3355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118233"/>
              </p:ext>
            </p:extLst>
          </p:nvPr>
        </p:nvGraphicFramePr>
        <p:xfrm>
          <a:off x="179752" y="1716127"/>
          <a:ext cx="9667632" cy="3195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4833816">
                  <a:extLst>
                    <a:ext uri="{9D8B030D-6E8A-4147-A177-3AD203B41FA5}">
                      <a16:colId xmlns:a16="http://schemas.microsoft.com/office/drawing/2014/main" val="2762852813"/>
                    </a:ext>
                  </a:extLst>
                </a:gridCol>
                <a:gridCol w="4833816">
                  <a:extLst>
                    <a:ext uri="{9D8B030D-6E8A-4147-A177-3AD203B41FA5}">
                      <a16:colId xmlns:a16="http://schemas.microsoft.com/office/drawing/2014/main" val="2709834847"/>
                    </a:ext>
                  </a:extLst>
                </a:gridCol>
              </a:tblGrid>
              <a:tr h="639168">
                <a:tc>
                  <a:txBody>
                    <a:bodyPr/>
                    <a:lstStyle/>
                    <a:p>
                      <a:r>
                        <a:rPr lang="en-IN" dirty="0" err="1"/>
                        <a:t>InputStream</a:t>
                      </a:r>
                      <a:r>
                        <a:rPr lang="en-IN" dirty="0"/>
                        <a:t> 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OutputStream</a:t>
                      </a:r>
                      <a:r>
                        <a:rPr lang="en-IN" dirty="0"/>
                        <a:t> Side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688993"/>
                  </a:ext>
                </a:extLst>
              </a:tr>
              <a:tr h="639168">
                <a:tc>
                  <a:txBody>
                    <a:bodyPr/>
                    <a:lstStyle/>
                    <a:p>
                      <a:r>
                        <a:rPr lang="en-IN" dirty="0" err="1"/>
                        <a:t>FileInputStream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FileOutputStream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29599"/>
                  </a:ext>
                </a:extLst>
              </a:tr>
              <a:tr h="639168">
                <a:tc>
                  <a:txBody>
                    <a:bodyPr/>
                    <a:lstStyle/>
                    <a:p>
                      <a:r>
                        <a:rPr lang="en-IN" dirty="0" err="1"/>
                        <a:t>BufferedInputStream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BufferedOutputStream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8684"/>
                  </a:ext>
                </a:extLst>
              </a:tr>
              <a:tr h="639168">
                <a:tc>
                  <a:txBody>
                    <a:bodyPr/>
                    <a:lstStyle/>
                    <a:p>
                      <a:r>
                        <a:rPr lang="en-IN" dirty="0" err="1"/>
                        <a:t>ByteArrayInputStream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ByteArrayOutputStream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539067"/>
                  </a:ext>
                </a:extLst>
              </a:tr>
              <a:tr h="639168">
                <a:tc>
                  <a:txBody>
                    <a:bodyPr/>
                    <a:lstStyle/>
                    <a:p>
                      <a:r>
                        <a:rPr lang="en-IN" dirty="0" err="1"/>
                        <a:t>ObjectInputStream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ObjectOutputStream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266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307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DD828-67EE-3A7F-7E8F-DD71F851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51D2-EFA1-0EA6-5EAD-D4079D60D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InputStream</a:t>
            </a:r>
            <a:r>
              <a:rPr lang="en-IN" sz="2400" dirty="0"/>
              <a:t>/</a:t>
            </a:r>
            <a:r>
              <a:rPr lang="en-IN" sz="2400" dirty="0" err="1"/>
              <a:t>OutputStream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B4B34-A400-95FA-5063-BC49C80C4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799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Reading from a file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DE752-B700-209C-3793-F5F2846E7F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8D0BA6-9568-70A2-3B2B-655638546F6A}"/>
              </a:ext>
            </a:extLst>
          </p:cNvPr>
          <p:cNvSpPr txBox="1"/>
          <p:nvPr/>
        </p:nvSpPr>
        <p:spPr>
          <a:xfrm>
            <a:off x="135467" y="1822937"/>
            <a:ext cx="5458177" cy="353943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public class </a:t>
            </a:r>
            <a:r>
              <a:rPr lang="en-IN" sz="1600" dirty="0" err="1">
                <a:solidFill>
                  <a:schemeClr val="bg1"/>
                </a:solidFill>
              </a:rPr>
              <a:t>InputStreamDemo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600" dirty="0" err="1">
                <a:solidFill>
                  <a:schemeClr val="bg1"/>
                </a:solidFill>
              </a:rPr>
              <a:t>args</a:t>
            </a:r>
            <a:r>
              <a:rPr lang="en-IN" sz="1600" dirty="0">
                <a:solidFill>
                  <a:schemeClr val="bg1"/>
                </a:solidFill>
              </a:rPr>
              <a:t>) throws </a:t>
            </a:r>
            <a:r>
              <a:rPr lang="en-IN" sz="1600" dirty="0" err="1">
                <a:solidFill>
                  <a:schemeClr val="bg1"/>
                </a:solidFill>
              </a:rPr>
              <a:t>IOException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FileInputStream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  <a:r>
              <a:rPr lang="en-IN" sz="1600" dirty="0" err="1">
                <a:solidFill>
                  <a:schemeClr val="bg1"/>
                </a:solidFill>
              </a:rPr>
              <a:t>fis</a:t>
            </a:r>
            <a:r>
              <a:rPr lang="en-IN" sz="1600" dirty="0">
                <a:solidFill>
                  <a:schemeClr val="bg1"/>
                </a:solidFill>
              </a:rPr>
              <a:t> = new </a:t>
            </a:r>
            <a:r>
              <a:rPr lang="en-IN" sz="1600" dirty="0" err="1">
                <a:solidFill>
                  <a:schemeClr val="bg1"/>
                </a:solidFill>
              </a:rPr>
              <a:t>FileInputStream</a:t>
            </a:r>
            <a:r>
              <a:rPr lang="en-IN" sz="1600" dirty="0">
                <a:solidFill>
                  <a:schemeClr val="bg1"/>
                </a:solidFill>
              </a:rPr>
              <a:t>("</a:t>
            </a:r>
            <a:r>
              <a:rPr lang="en-IN" sz="1600" dirty="0" err="1">
                <a:solidFill>
                  <a:schemeClr val="bg1"/>
                </a:solidFill>
              </a:rPr>
              <a:t>data.bin</a:t>
            </a:r>
            <a:r>
              <a:rPr lang="en-IN" sz="1600" dirty="0">
                <a:solidFill>
                  <a:schemeClr val="bg1"/>
                </a:solidFill>
              </a:rPr>
              <a:t>");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int data;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while ((data = </a:t>
            </a:r>
            <a:r>
              <a:rPr lang="en-IN" sz="1600" dirty="0" err="1">
                <a:solidFill>
                  <a:schemeClr val="bg1"/>
                </a:solidFill>
              </a:rPr>
              <a:t>fis.read</a:t>
            </a:r>
            <a:r>
              <a:rPr lang="en-IN" sz="1600" dirty="0">
                <a:solidFill>
                  <a:schemeClr val="bg1"/>
                </a:solidFill>
              </a:rPr>
              <a:t>()) != -1)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</a:t>
            </a:r>
            <a:r>
              <a:rPr lang="en-IN" sz="1600" dirty="0" err="1">
                <a:solidFill>
                  <a:schemeClr val="bg1"/>
                </a:solidFill>
              </a:rPr>
              <a:t>System.out.print</a:t>
            </a:r>
            <a:r>
              <a:rPr lang="en-IN" sz="1600" dirty="0">
                <a:solidFill>
                  <a:schemeClr val="bg1"/>
                </a:solidFill>
              </a:rPr>
              <a:t>(data + " ");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}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fis.close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FA5E9A-D7FD-BB7A-0E3F-7335D7277AE6}"/>
              </a:ext>
            </a:extLst>
          </p:cNvPr>
          <p:cNvSpPr txBox="1"/>
          <p:nvPr/>
        </p:nvSpPr>
        <p:spPr>
          <a:xfrm>
            <a:off x="5989801" y="1822937"/>
            <a:ext cx="5458177" cy="4031873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public class </a:t>
            </a:r>
            <a:r>
              <a:rPr lang="en-IN" sz="1600" dirty="0" err="1">
                <a:solidFill>
                  <a:schemeClr val="bg1"/>
                </a:solidFill>
              </a:rPr>
              <a:t>BufferedInputStreamExample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600" dirty="0" err="1">
                <a:solidFill>
                  <a:schemeClr val="bg1"/>
                </a:solidFill>
              </a:rPr>
              <a:t>args</a:t>
            </a:r>
            <a:r>
              <a:rPr lang="en-IN" sz="1600" dirty="0">
                <a:solidFill>
                  <a:schemeClr val="bg1"/>
                </a:solidFill>
              </a:rPr>
              <a:t>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try (</a:t>
            </a:r>
            <a:r>
              <a:rPr lang="en-IN" sz="1600" dirty="0" err="1">
                <a:solidFill>
                  <a:schemeClr val="bg1"/>
                </a:solidFill>
              </a:rPr>
              <a:t>BufferedInputStream</a:t>
            </a:r>
            <a:r>
              <a:rPr lang="en-IN" sz="1600" dirty="0">
                <a:solidFill>
                  <a:schemeClr val="bg1"/>
                </a:solidFill>
              </a:rPr>
              <a:t> bis =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     new </a:t>
            </a:r>
            <a:r>
              <a:rPr lang="en-IN" sz="1600" dirty="0" err="1">
                <a:solidFill>
                  <a:schemeClr val="bg1"/>
                </a:solidFill>
              </a:rPr>
              <a:t>BufferedInputStream</a:t>
            </a:r>
            <a:r>
              <a:rPr lang="en-IN" sz="1600" dirty="0">
                <a:solidFill>
                  <a:schemeClr val="bg1"/>
                </a:solidFill>
              </a:rPr>
              <a:t>(new </a:t>
            </a:r>
            <a:r>
              <a:rPr lang="en-IN" sz="1600" dirty="0" err="1">
                <a:solidFill>
                  <a:schemeClr val="bg1"/>
                </a:solidFill>
              </a:rPr>
              <a:t>FileInputStream</a:t>
            </a:r>
            <a:r>
              <a:rPr lang="en-IN" sz="1600" dirty="0">
                <a:solidFill>
                  <a:schemeClr val="bg1"/>
                </a:solidFill>
              </a:rPr>
              <a:t>("input.txt"))) {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    int data;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while ((data = </a:t>
            </a:r>
            <a:r>
              <a:rPr lang="en-IN" sz="1600" dirty="0" err="1">
                <a:solidFill>
                  <a:schemeClr val="bg1"/>
                </a:solidFill>
              </a:rPr>
              <a:t>bis.read</a:t>
            </a:r>
            <a:r>
              <a:rPr lang="en-IN" sz="1600" dirty="0">
                <a:solidFill>
                  <a:schemeClr val="bg1"/>
                </a:solidFill>
              </a:rPr>
              <a:t>()) != -1)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    </a:t>
            </a:r>
            <a:r>
              <a:rPr lang="en-IN" sz="1600" dirty="0" err="1">
                <a:solidFill>
                  <a:schemeClr val="bg1"/>
                </a:solidFill>
              </a:rPr>
              <a:t>System.out.print</a:t>
            </a:r>
            <a:r>
              <a:rPr lang="en-IN" sz="1600" dirty="0">
                <a:solidFill>
                  <a:schemeClr val="bg1"/>
                </a:solidFill>
              </a:rPr>
              <a:t>((char) data);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}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} catch (</a:t>
            </a:r>
            <a:r>
              <a:rPr lang="en-IN" sz="1600" dirty="0" err="1">
                <a:solidFill>
                  <a:schemeClr val="bg1"/>
                </a:solidFill>
              </a:rPr>
              <a:t>IOException</a:t>
            </a:r>
            <a:r>
              <a:rPr lang="en-IN" sz="1600" dirty="0">
                <a:solidFill>
                  <a:schemeClr val="bg1"/>
                </a:solidFill>
              </a:rPr>
              <a:t> e)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</a:t>
            </a:r>
            <a:r>
              <a:rPr lang="en-IN" sz="1600" dirty="0" err="1">
                <a:solidFill>
                  <a:schemeClr val="bg1"/>
                </a:solidFill>
              </a:rPr>
              <a:t>e.printStackTrace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B9293-D04A-6D38-8EFB-86D4AD68C8FC}"/>
              </a:ext>
            </a:extLst>
          </p:cNvPr>
          <p:cNvSpPr txBox="1"/>
          <p:nvPr/>
        </p:nvSpPr>
        <p:spPr>
          <a:xfrm>
            <a:off x="1359876" y="1453605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Using </a:t>
            </a:r>
            <a:r>
              <a:rPr lang="en-IN" dirty="0" err="1">
                <a:solidFill>
                  <a:schemeClr val="bg1"/>
                </a:solidFill>
              </a:rPr>
              <a:t>FileInputStream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16AA3E-D1E7-7CE4-DA6D-496E8BA55AF7}"/>
              </a:ext>
            </a:extLst>
          </p:cNvPr>
          <p:cNvSpPr txBox="1"/>
          <p:nvPr/>
        </p:nvSpPr>
        <p:spPr>
          <a:xfrm>
            <a:off x="7344507" y="1453605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Using </a:t>
            </a:r>
            <a:r>
              <a:rPr lang="en-IN" dirty="0" err="1">
                <a:solidFill>
                  <a:schemeClr val="bg1"/>
                </a:solidFill>
              </a:rPr>
              <a:t>BufferedInputStream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182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1E46F-9AA3-1964-A24C-FA727214E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5E181-F1B6-15CB-6138-AF3E2BB52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InputStream</a:t>
            </a:r>
            <a:r>
              <a:rPr lang="en-IN" sz="2400" dirty="0"/>
              <a:t>/</a:t>
            </a:r>
            <a:r>
              <a:rPr lang="en-IN" sz="2400" dirty="0" err="1"/>
              <a:t>OutputStream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F1B54-D5A8-51D0-8A1F-C50EF0564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799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 err="1">
                <a:solidFill>
                  <a:schemeClr val="bg1"/>
                </a:solidFill>
              </a:rPr>
              <a:t>OutputStream</a:t>
            </a:r>
            <a:endParaRPr lang="en-IN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chemeClr val="bg1"/>
                </a:solidFill>
              </a:rPr>
              <a:t>OutputStream</a:t>
            </a:r>
            <a:r>
              <a:rPr lang="en-US" sz="1800" dirty="0">
                <a:solidFill>
                  <a:schemeClr val="bg1"/>
                </a:solidFill>
              </a:rPr>
              <a:t> is an </a:t>
            </a:r>
            <a:r>
              <a:rPr lang="en-US" sz="1800" b="1" dirty="0">
                <a:solidFill>
                  <a:schemeClr val="bg1"/>
                </a:solidFill>
              </a:rPr>
              <a:t>abstract class</a:t>
            </a:r>
            <a:r>
              <a:rPr lang="en-US" sz="1800" dirty="0">
                <a:solidFill>
                  <a:schemeClr val="bg1"/>
                </a:solidFill>
              </a:rPr>
              <a:t> used to </a:t>
            </a:r>
            <a:r>
              <a:rPr lang="en-US" sz="1800" b="1" dirty="0">
                <a:solidFill>
                  <a:schemeClr val="bg1"/>
                </a:solidFill>
              </a:rPr>
              <a:t>write bytes</a:t>
            </a:r>
            <a:r>
              <a:rPr lang="en-US" sz="1800" dirty="0">
                <a:solidFill>
                  <a:schemeClr val="bg1"/>
                </a:solidFill>
              </a:rPr>
              <a:t> to a destination. A</a:t>
            </a:r>
            <a:r>
              <a:rPr lang="en-US" sz="1800" b="1" dirty="0">
                <a:solidFill>
                  <a:schemeClr val="bg1"/>
                </a:solidFill>
              </a:rPr>
              <a:t> destination </a:t>
            </a:r>
            <a:r>
              <a:rPr lang="en-US" sz="1800" dirty="0">
                <a:solidFill>
                  <a:schemeClr val="bg1"/>
                </a:solidFill>
              </a:rPr>
              <a:t>can be: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Network socket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Console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Memory</a:t>
            </a:r>
          </a:p>
          <a:p>
            <a:pPr marL="0" indent="0">
              <a:buNone/>
            </a:pPr>
            <a:endParaRPr lang="en-IN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Key Methods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46D55-F87F-E529-0837-A467361390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071295-8325-39AA-BCC5-93B198745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680686"/>
              </p:ext>
            </p:extLst>
          </p:nvPr>
        </p:nvGraphicFramePr>
        <p:xfrm>
          <a:off x="144666" y="4243474"/>
          <a:ext cx="9613900" cy="1828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4806950">
                  <a:extLst>
                    <a:ext uri="{9D8B030D-6E8A-4147-A177-3AD203B41FA5}">
                      <a16:colId xmlns:a16="http://schemas.microsoft.com/office/drawing/2014/main" val="4076824826"/>
                    </a:ext>
                  </a:extLst>
                </a:gridCol>
                <a:gridCol w="4806950">
                  <a:extLst>
                    <a:ext uri="{9D8B030D-6E8A-4147-A177-3AD203B41FA5}">
                      <a16:colId xmlns:a16="http://schemas.microsoft.com/office/drawing/2014/main" val="11195379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8969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write(int 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</a:rPr>
                        <a:t>Writes one byte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712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write(byte[] 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Writes multiple bytes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0728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flush()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Forces write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1897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close()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Closes stream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22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361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C2EA-56DE-85E4-B2B8-20935D31D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D565C-74EE-45E0-080F-AE3727D8E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InputStream</a:t>
            </a:r>
            <a:r>
              <a:rPr lang="en-IN" sz="2400" dirty="0"/>
              <a:t>/</a:t>
            </a:r>
            <a:r>
              <a:rPr lang="en-IN" sz="2400" dirty="0" err="1"/>
              <a:t>OutputStream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574E3-01E4-6F2F-CF49-C3EB85AD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2123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Writing to a file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DC08-246A-ED0C-19B0-744F64DD30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52D6E-BCAF-FC74-1921-8784A3A23185}"/>
              </a:ext>
            </a:extLst>
          </p:cNvPr>
          <p:cNvSpPr txBox="1"/>
          <p:nvPr/>
        </p:nvSpPr>
        <p:spPr>
          <a:xfrm>
            <a:off x="123093" y="1848555"/>
            <a:ext cx="5597769" cy="378565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import </a:t>
            </a:r>
            <a:r>
              <a:rPr lang="en-IN" sz="1600" dirty="0" err="1">
                <a:solidFill>
                  <a:schemeClr val="bg1"/>
                </a:solidFill>
              </a:rPr>
              <a:t>java.io.FileOutputStream</a:t>
            </a:r>
            <a:r>
              <a:rPr lang="en-IN" sz="1600" dirty="0">
                <a:solidFill>
                  <a:schemeClr val="bg1"/>
                </a:solidFill>
              </a:rPr>
              <a:t>;</a:t>
            </a:r>
          </a:p>
          <a:p>
            <a:r>
              <a:rPr lang="en-IN" sz="1600" dirty="0">
                <a:solidFill>
                  <a:schemeClr val="bg1"/>
                </a:solidFill>
              </a:rPr>
              <a:t>import </a:t>
            </a:r>
            <a:r>
              <a:rPr lang="en-IN" sz="1600" dirty="0" err="1">
                <a:solidFill>
                  <a:schemeClr val="bg1"/>
                </a:solidFill>
              </a:rPr>
              <a:t>java.io.IOException</a:t>
            </a:r>
            <a:r>
              <a:rPr lang="en-IN" sz="1600" dirty="0">
                <a:solidFill>
                  <a:schemeClr val="bg1"/>
                </a:solidFill>
              </a:rPr>
              <a:t>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public class </a:t>
            </a:r>
            <a:r>
              <a:rPr lang="en-IN" sz="1600" dirty="0" err="1">
                <a:solidFill>
                  <a:schemeClr val="bg1"/>
                </a:solidFill>
              </a:rPr>
              <a:t>OutputStreamDemo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600" dirty="0" err="1">
                <a:solidFill>
                  <a:schemeClr val="bg1"/>
                </a:solidFill>
              </a:rPr>
              <a:t>args</a:t>
            </a:r>
            <a:r>
              <a:rPr lang="en-IN" sz="1600" dirty="0">
                <a:solidFill>
                  <a:schemeClr val="bg1"/>
                </a:solidFill>
              </a:rPr>
              <a:t>) throws </a:t>
            </a:r>
            <a:r>
              <a:rPr lang="en-IN" sz="1600" dirty="0" err="1">
                <a:solidFill>
                  <a:schemeClr val="bg1"/>
                </a:solidFill>
              </a:rPr>
              <a:t>IOException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FileOutputStream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  <a:r>
              <a:rPr lang="en-IN" sz="1600" dirty="0" err="1">
                <a:solidFill>
                  <a:schemeClr val="bg1"/>
                </a:solidFill>
              </a:rPr>
              <a:t>fos</a:t>
            </a:r>
            <a:r>
              <a:rPr lang="en-IN" sz="1600" dirty="0">
                <a:solidFill>
                  <a:schemeClr val="bg1"/>
                </a:solidFill>
              </a:rPr>
              <a:t> = new 									</a:t>
            </a:r>
            <a:r>
              <a:rPr lang="en-IN" sz="1600" dirty="0" err="1">
                <a:solidFill>
                  <a:schemeClr val="bg1"/>
                </a:solidFill>
              </a:rPr>
              <a:t>FileOutputStream</a:t>
            </a:r>
            <a:r>
              <a:rPr lang="en-IN" sz="1600" dirty="0">
                <a:solidFill>
                  <a:schemeClr val="bg1"/>
                </a:solidFill>
              </a:rPr>
              <a:t>("</a:t>
            </a:r>
            <a:r>
              <a:rPr lang="en-IN" sz="1600" dirty="0" err="1">
                <a:solidFill>
                  <a:schemeClr val="bg1"/>
                </a:solidFill>
              </a:rPr>
              <a:t>data.bin</a:t>
            </a:r>
            <a:r>
              <a:rPr lang="en-IN" sz="1600" dirty="0">
                <a:solidFill>
                  <a:schemeClr val="bg1"/>
                </a:solidFill>
              </a:rPr>
              <a:t>");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fos.write</a:t>
            </a:r>
            <a:r>
              <a:rPr lang="en-IN" sz="1600" dirty="0">
                <a:solidFill>
                  <a:schemeClr val="bg1"/>
                </a:solidFill>
              </a:rPr>
              <a:t>(65);   // ASCII of 'A'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fos.write</a:t>
            </a:r>
            <a:r>
              <a:rPr lang="en-IN" sz="1600" dirty="0">
                <a:solidFill>
                  <a:schemeClr val="bg1"/>
                </a:solidFill>
              </a:rPr>
              <a:t>(66);   // ASCII of 'B'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fos.close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74B84-1149-DA8C-6A91-A261C8EB6176}"/>
              </a:ext>
            </a:extLst>
          </p:cNvPr>
          <p:cNvSpPr txBox="1"/>
          <p:nvPr/>
        </p:nvSpPr>
        <p:spPr>
          <a:xfrm>
            <a:off x="1383323" y="1479223"/>
            <a:ext cx="2995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Using </a:t>
            </a:r>
            <a:r>
              <a:rPr lang="en-IN" dirty="0" err="1">
                <a:solidFill>
                  <a:schemeClr val="bg1"/>
                </a:solidFill>
              </a:rPr>
              <a:t>FileOutputStream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3FA428-4A23-040E-5C77-C2F8AF7EDF87}"/>
              </a:ext>
            </a:extLst>
          </p:cNvPr>
          <p:cNvSpPr txBox="1"/>
          <p:nvPr/>
        </p:nvSpPr>
        <p:spPr>
          <a:xfrm>
            <a:off x="6246366" y="1848555"/>
            <a:ext cx="5597769" cy="4524315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public class </a:t>
            </a:r>
            <a:r>
              <a:rPr lang="en-IN" sz="1600" dirty="0" err="1">
                <a:solidFill>
                  <a:schemeClr val="bg1"/>
                </a:solidFill>
              </a:rPr>
              <a:t>BufferedOutputStreamExample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600" dirty="0" err="1">
                <a:solidFill>
                  <a:schemeClr val="bg1"/>
                </a:solidFill>
              </a:rPr>
              <a:t>args</a:t>
            </a:r>
            <a:r>
              <a:rPr lang="en-IN" sz="1600" dirty="0">
                <a:solidFill>
                  <a:schemeClr val="bg1"/>
                </a:solidFill>
              </a:rPr>
              <a:t>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String text = "Writing to file using </a:t>
            </a:r>
            <a:r>
              <a:rPr lang="en-IN" sz="1600" dirty="0" err="1">
                <a:solidFill>
                  <a:schemeClr val="bg1"/>
                </a:solidFill>
              </a:rPr>
              <a:t>BufferedOutputStream</a:t>
            </a:r>
            <a:r>
              <a:rPr lang="en-IN" sz="1600" dirty="0">
                <a:solidFill>
                  <a:schemeClr val="bg1"/>
                </a:solidFill>
              </a:rPr>
              <a:t>";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try (</a:t>
            </a:r>
            <a:r>
              <a:rPr lang="en-IN" sz="1600" dirty="0" err="1">
                <a:solidFill>
                  <a:schemeClr val="bg1"/>
                </a:solidFill>
              </a:rPr>
              <a:t>BufferedOutputStream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  <a:r>
              <a:rPr lang="en-IN" sz="1600" dirty="0" err="1">
                <a:solidFill>
                  <a:schemeClr val="bg1"/>
                </a:solidFill>
              </a:rPr>
              <a:t>bos</a:t>
            </a:r>
            <a:r>
              <a:rPr lang="en-IN" sz="1600" dirty="0">
                <a:solidFill>
                  <a:schemeClr val="bg1"/>
                </a:solidFill>
              </a:rPr>
              <a:t> =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     new </a:t>
            </a:r>
            <a:r>
              <a:rPr lang="en-IN" sz="1600" dirty="0" err="1">
                <a:solidFill>
                  <a:schemeClr val="bg1"/>
                </a:solidFill>
              </a:rPr>
              <a:t>BufferedOutputStream</a:t>
            </a:r>
            <a:r>
              <a:rPr lang="en-IN" sz="1600" dirty="0">
                <a:solidFill>
                  <a:schemeClr val="bg1"/>
                </a:solidFill>
              </a:rPr>
              <a:t>(new </a:t>
            </a:r>
            <a:r>
              <a:rPr lang="en-IN" sz="1600" dirty="0" err="1">
                <a:solidFill>
                  <a:schemeClr val="bg1"/>
                </a:solidFill>
              </a:rPr>
              <a:t>FileOutputStream</a:t>
            </a:r>
            <a:r>
              <a:rPr lang="en-IN" sz="1600" dirty="0">
                <a:solidFill>
                  <a:schemeClr val="bg1"/>
                </a:solidFill>
              </a:rPr>
              <a:t>("output.txt"))) {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    </a:t>
            </a:r>
            <a:r>
              <a:rPr lang="en-IN" sz="1600" dirty="0" err="1">
                <a:solidFill>
                  <a:schemeClr val="bg1"/>
                </a:solidFill>
              </a:rPr>
              <a:t>bos.write</a:t>
            </a:r>
            <a:r>
              <a:rPr lang="en-IN" sz="1600" dirty="0">
                <a:solidFill>
                  <a:schemeClr val="bg1"/>
                </a:solidFill>
              </a:rPr>
              <a:t>(</a:t>
            </a:r>
            <a:r>
              <a:rPr lang="en-IN" sz="1600" dirty="0" err="1">
                <a:solidFill>
                  <a:schemeClr val="bg1"/>
                </a:solidFill>
              </a:rPr>
              <a:t>text.getBytes</a:t>
            </a:r>
            <a:r>
              <a:rPr lang="en-IN" sz="1600" dirty="0">
                <a:solidFill>
                  <a:schemeClr val="bg1"/>
                </a:solidFill>
              </a:rPr>
              <a:t>());  // String → bytes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</a:t>
            </a:r>
            <a:r>
              <a:rPr lang="en-IN" sz="1600" dirty="0" err="1">
                <a:solidFill>
                  <a:schemeClr val="bg1"/>
                </a:solidFill>
              </a:rPr>
              <a:t>bos.flush</a:t>
            </a:r>
            <a:r>
              <a:rPr lang="en-IN" sz="1600" dirty="0">
                <a:solidFill>
                  <a:schemeClr val="bg1"/>
                </a:solidFill>
              </a:rPr>
              <a:t>();                // force write (optional before close)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} catch (</a:t>
            </a:r>
            <a:r>
              <a:rPr lang="en-IN" sz="1600" dirty="0" err="1">
                <a:solidFill>
                  <a:schemeClr val="bg1"/>
                </a:solidFill>
              </a:rPr>
              <a:t>IOException</a:t>
            </a:r>
            <a:r>
              <a:rPr lang="en-IN" sz="1600" dirty="0">
                <a:solidFill>
                  <a:schemeClr val="bg1"/>
                </a:solidFill>
              </a:rPr>
              <a:t> e)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</a:t>
            </a:r>
            <a:r>
              <a:rPr lang="en-IN" sz="1600" dirty="0" err="1">
                <a:solidFill>
                  <a:schemeClr val="bg1"/>
                </a:solidFill>
              </a:rPr>
              <a:t>e.printStackTrace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373F30-5CFC-71D4-EBEE-E21DEAF2EAA5}"/>
              </a:ext>
            </a:extLst>
          </p:cNvPr>
          <p:cNvSpPr txBox="1"/>
          <p:nvPr/>
        </p:nvSpPr>
        <p:spPr>
          <a:xfrm>
            <a:off x="7480159" y="1479223"/>
            <a:ext cx="3130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Using </a:t>
            </a:r>
            <a:r>
              <a:rPr lang="en-IN" dirty="0" err="1">
                <a:solidFill>
                  <a:schemeClr val="bg1"/>
                </a:solidFill>
              </a:rPr>
              <a:t>BufferedOutputStream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60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9852E-D142-E53F-0A08-86487E20E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7BE1D-4659-6A6F-A89E-FD7FD44A0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Reader/Writer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70724-7508-1E4A-D744-52E8577EB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799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In Java, </a:t>
            </a:r>
            <a:r>
              <a:rPr lang="en-US" sz="1800" b="1" dirty="0">
                <a:solidFill>
                  <a:schemeClr val="bg1"/>
                </a:solidFill>
              </a:rPr>
              <a:t>Reader</a:t>
            </a:r>
            <a:r>
              <a:rPr lang="en-US" sz="1800" dirty="0">
                <a:solidFill>
                  <a:schemeClr val="bg1"/>
                </a:solidFill>
              </a:rPr>
              <a:t> and </a:t>
            </a:r>
            <a:r>
              <a:rPr lang="en-US" sz="1800" b="1" dirty="0">
                <a:solidFill>
                  <a:schemeClr val="bg1"/>
                </a:solidFill>
              </a:rPr>
              <a:t>Writer</a:t>
            </a:r>
            <a:r>
              <a:rPr lang="en-US" sz="1800" dirty="0">
                <a:solidFill>
                  <a:schemeClr val="bg1"/>
                </a:solidFill>
              </a:rPr>
              <a:t> are used for </a:t>
            </a:r>
            <a:r>
              <a:rPr lang="en-US" sz="1800" b="1" dirty="0">
                <a:solidFill>
                  <a:schemeClr val="bg1"/>
                </a:solidFill>
              </a:rPr>
              <a:t>text data</a:t>
            </a:r>
            <a:r>
              <a:rPr lang="en-US" sz="1800" dirty="0">
                <a:solidFill>
                  <a:schemeClr val="bg1"/>
                </a:solidFill>
              </a:rPr>
              <a:t>. They automatically handle </a:t>
            </a:r>
            <a:r>
              <a:rPr lang="en-US" sz="1800" b="1" dirty="0">
                <a:solidFill>
                  <a:schemeClr val="bg1"/>
                </a:solidFill>
              </a:rPr>
              <a:t>character encoding</a:t>
            </a:r>
            <a:r>
              <a:rPr lang="en-US" sz="1800" dirty="0">
                <a:solidFill>
                  <a:schemeClr val="bg1"/>
                </a:solidFill>
              </a:rPr>
              <a:t> (UTF-8, etc.).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Reader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Reader is an abstract class used to </a:t>
            </a:r>
            <a:r>
              <a:rPr lang="en-US" sz="1800" b="1" dirty="0">
                <a:solidFill>
                  <a:schemeClr val="bg1"/>
                </a:solidFill>
              </a:rPr>
              <a:t>read characters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D16E4-1D10-16A6-BCE7-3E0B834C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B0AE0C-8F87-0DB7-AAAD-5321D7A94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375926"/>
              </p:ext>
            </p:extLst>
          </p:nvPr>
        </p:nvGraphicFramePr>
        <p:xfrm>
          <a:off x="235560" y="2642710"/>
          <a:ext cx="9975240" cy="2316152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4987620">
                  <a:extLst>
                    <a:ext uri="{9D8B030D-6E8A-4147-A177-3AD203B41FA5}">
                      <a16:colId xmlns:a16="http://schemas.microsoft.com/office/drawing/2014/main" val="3775964212"/>
                    </a:ext>
                  </a:extLst>
                </a:gridCol>
                <a:gridCol w="4987620">
                  <a:extLst>
                    <a:ext uri="{9D8B030D-6E8A-4147-A177-3AD203B41FA5}">
                      <a16:colId xmlns:a16="http://schemas.microsoft.com/office/drawing/2014/main" val="4105038272"/>
                    </a:ext>
                  </a:extLst>
                </a:gridCol>
              </a:tblGrid>
              <a:tr h="579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8472977"/>
                  </a:ext>
                </a:extLst>
              </a:tr>
              <a:tr h="579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int read()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Reads one character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044608"/>
                  </a:ext>
                </a:extLst>
              </a:tr>
              <a:tr h="579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int read(char[] 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Reads multiple characters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8035932"/>
                  </a:ext>
                </a:extLst>
              </a:tr>
              <a:tr h="579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close()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Releases resources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6456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8840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FC362-2C75-33DD-D84D-ABA27A4FC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A9A37-F589-FCA0-2AAC-B02307801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Reader/Writer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DC93C-7076-BFB3-A1F2-BA53611D2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7993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Writer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Writer is an abstract class used to </a:t>
            </a:r>
            <a:r>
              <a:rPr lang="en-US" sz="1800" b="1" dirty="0">
                <a:solidFill>
                  <a:schemeClr val="bg1"/>
                </a:solidFill>
              </a:rPr>
              <a:t>write characters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E47CA-E578-D7A5-9977-FCD45B36AB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A23CF9-7243-F112-88F0-2ECC11F63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34174"/>
              </p:ext>
            </p:extLst>
          </p:nvPr>
        </p:nvGraphicFramePr>
        <p:xfrm>
          <a:off x="235561" y="2159721"/>
          <a:ext cx="10221424" cy="3109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5110712">
                  <a:extLst>
                    <a:ext uri="{9D8B030D-6E8A-4147-A177-3AD203B41FA5}">
                      <a16:colId xmlns:a16="http://schemas.microsoft.com/office/drawing/2014/main" val="1593003076"/>
                    </a:ext>
                  </a:extLst>
                </a:gridCol>
                <a:gridCol w="5110712">
                  <a:extLst>
                    <a:ext uri="{9D8B030D-6E8A-4147-A177-3AD203B41FA5}">
                      <a16:colId xmlns:a16="http://schemas.microsoft.com/office/drawing/2014/main" val="60936514"/>
                    </a:ext>
                  </a:extLst>
                </a:gridCol>
              </a:tblGrid>
              <a:tr h="518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0958888"/>
                  </a:ext>
                </a:extLst>
              </a:tr>
              <a:tr h="518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write(int 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Writes one character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9432381"/>
                  </a:ext>
                </a:extLst>
              </a:tr>
              <a:tr h="518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write(char[] 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Writes multiple characters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998153"/>
                  </a:ext>
                </a:extLst>
              </a:tr>
              <a:tr h="518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write(String 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Writes 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8452452"/>
                  </a:ext>
                </a:extLst>
              </a:tr>
              <a:tr h="518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flush()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Forces write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8538829"/>
                  </a:ext>
                </a:extLst>
              </a:tr>
              <a:tr h="518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close()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Closes stream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076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248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A14B5-E318-CDBD-8842-4AF44B9B5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B55CB-BAB9-887B-AD07-049950DEE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Reader/Writer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C8380-08CF-7CDE-9C6E-CD988A280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2123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Useful subclasses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3E4B8-6BBF-1CE8-2B90-02DDD2E7B3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371AD9-9E14-E388-5BA5-70D1BC312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547549"/>
              </p:ext>
            </p:extLst>
          </p:nvPr>
        </p:nvGraphicFramePr>
        <p:xfrm>
          <a:off x="162167" y="1417188"/>
          <a:ext cx="9613862" cy="47960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4806931">
                  <a:extLst>
                    <a:ext uri="{9D8B030D-6E8A-4147-A177-3AD203B41FA5}">
                      <a16:colId xmlns:a16="http://schemas.microsoft.com/office/drawing/2014/main" val="2762852813"/>
                    </a:ext>
                  </a:extLst>
                </a:gridCol>
                <a:gridCol w="4806931">
                  <a:extLst>
                    <a:ext uri="{9D8B030D-6E8A-4147-A177-3AD203B41FA5}">
                      <a16:colId xmlns:a16="http://schemas.microsoft.com/office/drawing/2014/main" val="2709834847"/>
                    </a:ext>
                  </a:extLst>
                </a:gridCol>
              </a:tblGrid>
              <a:tr h="599505">
                <a:tc>
                  <a:txBody>
                    <a:bodyPr/>
                    <a:lstStyle/>
                    <a:p>
                      <a:r>
                        <a:rPr lang="en-IN" dirty="0"/>
                        <a:t>Reader 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Writer Side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688993"/>
                  </a:ext>
                </a:extLst>
              </a:tr>
              <a:tr h="599505">
                <a:tc>
                  <a:txBody>
                    <a:bodyPr/>
                    <a:lstStyle/>
                    <a:p>
                      <a:r>
                        <a:rPr lang="en-IN" dirty="0" err="1"/>
                        <a:t>FileReader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FileWriter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29599"/>
                  </a:ext>
                </a:extLst>
              </a:tr>
              <a:tr h="599505">
                <a:tc>
                  <a:txBody>
                    <a:bodyPr/>
                    <a:lstStyle/>
                    <a:p>
                      <a:r>
                        <a:rPr lang="en-IN" dirty="0" err="1"/>
                        <a:t>BufferedReader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BufferedWriter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8684"/>
                  </a:ext>
                </a:extLst>
              </a:tr>
              <a:tr h="599505">
                <a:tc>
                  <a:txBody>
                    <a:bodyPr/>
                    <a:lstStyle/>
                    <a:p>
                      <a:r>
                        <a:rPr lang="en-IN" dirty="0" err="1"/>
                        <a:t>InputStreamReader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OutputStreamWriter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539067"/>
                  </a:ext>
                </a:extLst>
              </a:tr>
              <a:tr h="599505">
                <a:tc>
                  <a:txBody>
                    <a:bodyPr/>
                    <a:lstStyle/>
                    <a:p>
                      <a:r>
                        <a:rPr lang="en-IN" dirty="0" err="1"/>
                        <a:t>StringReader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StringWriter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266917"/>
                  </a:ext>
                </a:extLst>
              </a:tr>
              <a:tr h="599505">
                <a:tc>
                  <a:txBody>
                    <a:bodyPr/>
                    <a:lstStyle/>
                    <a:p>
                      <a:r>
                        <a:rPr lang="en-IN" dirty="0" err="1"/>
                        <a:t>CharArrayReader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CharArrayWriter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007321"/>
                  </a:ext>
                </a:extLst>
              </a:tr>
              <a:tr h="599505">
                <a:tc>
                  <a:txBody>
                    <a:bodyPr/>
                    <a:lstStyle/>
                    <a:p>
                      <a:r>
                        <a:rPr lang="en-IN" dirty="0" err="1"/>
                        <a:t>PushbackReader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PrintWriter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794199"/>
                  </a:ext>
                </a:extLst>
              </a:tr>
              <a:tr h="599505">
                <a:tc>
                  <a:txBody>
                    <a:bodyPr/>
                    <a:lstStyle/>
                    <a:p>
                      <a:r>
                        <a:rPr lang="en-IN" dirty="0" err="1"/>
                        <a:t>LineNumberReader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86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6890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0CB2A-892A-3227-072E-861B92200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13281-F0D0-D3A6-8443-875254C66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Reader/Writer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120AB-AA1B-2B93-79FE-AFAA9A70E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799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Reading from a file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13603-6A64-F004-8408-7A5E31D79E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F43A6-55C3-EC36-8101-C908CD13912D}"/>
              </a:ext>
            </a:extLst>
          </p:cNvPr>
          <p:cNvSpPr txBox="1"/>
          <p:nvPr/>
        </p:nvSpPr>
        <p:spPr>
          <a:xfrm>
            <a:off x="135467" y="1822937"/>
            <a:ext cx="5458177" cy="329320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public class </a:t>
            </a:r>
            <a:r>
              <a:rPr lang="en-IN" sz="1600" dirty="0" err="1">
                <a:solidFill>
                  <a:schemeClr val="bg1"/>
                </a:solidFill>
              </a:rPr>
              <a:t>FileReaderExample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600" dirty="0" err="1">
                <a:solidFill>
                  <a:schemeClr val="bg1"/>
                </a:solidFill>
              </a:rPr>
              <a:t>args</a:t>
            </a:r>
            <a:r>
              <a:rPr lang="en-IN" sz="1600" dirty="0">
                <a:solidFill>
                  <a:schemeClr val="bg1"/>
                </a:solidFill>
              </a:rPr>
              <a:t>) throws </a:t>
            </a:r>
            <a:r>
              <a:rPr lang="en-IN" sz="1600" dirty="0" err="1">
                <a:solidFill>
                  <a:schemeClr val="bg1"/>
                </a:solidFill>
              </a:rPr>
              <a:t>IOException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FileReader</a:t>
            </a:r>
            <a:r>
              <a:rPr lang="en-IN" sz="1600" dirty="0">
                <a:solidFill>
                  <a:schemeClr val="bg1"/>
                </a:solidFill>
              </a:rPr>
              <a:t> reader = new </a:t>
            </a:r>
            <a:r>
              <a:rPr lang="en-IN" sz="1600" dirty="0" err="1">
                <a:solidFill>
                  <a:schemeClr val="bg1"/>
                </a:solidFill>
              </a:rPr>
              <a:t>FileReader</a:t>
            </a:r>
            <a:r>
              <a:rPr lang="en-IN" sz="1600" dirty="0">
                <a:solidFill>
                  <a:schemeClr val="bg1"/>
                </a:solidFill>
              </a:rPr>
              <a:t>("data.txt");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int </a:t>
            </a:r>
            <a:r>
              <a:rPr lang="en-IN" sz="1600" dirty="0" err="1">
                <a:solidFill>
                  <a:schemeClr val="bg1"/>
                </a:solidFill>
              </a:rPr>
              <a:t>ch</a:t>
            </a:r>
            <a:r>
              <a:rPr lang="en-IN" sz="1600" dirty="0">
                <a:solidFill>
                  <a:schemeClr val="bg1"/>
                </a:solidFill>
              </a:rPr>
              <a:t>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while ((</a:t>
            </a:r>
            <a:r>
              <a:rPr lang="en-IN" sz="1600" dirty="0" err="1">
                <a:solidFill>
                  <a:schemeClr val="bg1"/>
                </a:solidFill>
              </a:rPr>
              <a:t>ch</a:t>
            </a:r>
            <a:r>
              <a:rPr lang="en-IN" sz="1600" dirty="0">
                <a:solidFill>
                  <a:schemeClr val="bg1"/>
                </a:solidFill>
              </a:rPr>
              <a:t> = </a:t>
            </a:r>
            <a:r>
              <a:rPr lang="en-IN" sz="1600" dirty="0" err="1">
                <a:solidFill>
                  <a:schemeClr val="bg1"/>
                </a:solidFill>
              </a:rPr>
              <a:t>reader.read</a:t>
            </a:r>
            <a:r>
              <a:rPr lang="en-IN" sz="1600" dirty="0">
                <a:solidFill>
                  <a:schemeClr val="bg1"/>
                </a:solidFill>
              </a:rPr>
              <a:t>()) != -1)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</a:t>
            </a:r>
            <a:r>
              <a:rPr lang="en-IN" sz="1600" dirty="0" err="1">
                <a:solidFill>
                  <a:schemeClr val="bg1"/>
                </a:solidFill>
              </a:rPr>
              <a:t>System.out.print</a:t>
            </a:r>
            <a:r>
              <a:rPr lang="en-IN" sz="1600" dirty="0">
                <a:solidFill>
                  <a:schemeClr val="bg1"/>
                </a:solidFill>
              </a:rPr>
              <a:t>((char) </a:t>
            </a:r>
            <a:r>
              <a:rPr lang="en-IN" sz="1600" dirty="0" err="1">
                <a:solidFill>
                  <a:schemeClr val="bg1"/>
                </a:solidFill>
              </a:rPr>
              <a:t>ch</a:t>
            </a:r>
            <a:r>
              <a:rPr lang="en-IN" sz="1600" dirty="0">
                <a:solidFill>
                  <a:schemeClr val="bg1"/>
                </a:solidFill>
              </a:rPr>
              <a:t>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}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reader.close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E6CBFA-520C-F16E-59ED-049059063852}"/>
              </a:ext>
            </a:extLst>
          </p:cNvPr>
          <p:cNvSpPr txBox="1"/>
          <p:nvPr/>
        </p:nvSpPr>
        <p:spPr>
          <a:xfrm>
            <a:off x="5989801" y="1822937"/>
            <a:ext cx="5458177" cy="378565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public class </a:t>
            </a:r>
            <a:r>
              <a:rPr lang="en-IN" sz="1600" dirty="0" err="1">
                <a:solidFill>
                  <a:schemeClr val="bg1"/>
                </a:solidFill>
              </a:rPr>
              <a:t>BufferedReaderExample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600" dirty="0" err="1">
                <a:solidFill>
                  <a:schemeClr val="bg1"/>
                </a:solidFill>
              </a:rPr>
              <a:t>args</a:t>
            </a:r>
            <a:r>
              <a:rPr lang="en-IN" sz="1600" dirty="0">
                <a:solidFill>
                  <a:schemeClr val="bg1"/>
                </a:solidFill>
              </a:rPr>
              <a:t>) throws </a:t>
            </a:r>
            <a:r>
              <a:rPr lang="en-IN" sz="1600" dirty="0" err="1">
                <a:solidFill>
                  <a:schemeClr val="bg1"/>
                </a:solidFill>
              </a:rPr>
              <a:t>IOException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BufferedReader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  <a:r>
              <a:rPr lang="en-IN" sz="1600" dirty="0" err="1">
                <a:solidFill>
                  <a:schemeClr val="bg1"/>
                </a:solidFill>
              </a:rPr>
              <a:t>br</a:t>
            </a:r>
            <a:r>
              <a:rPr lang="en-IN" sz="1600" dirty="0">
                <a:solidFill>
                  <a:schemeClr val="bg1"/>
                </a:solidFill>
              </a:rPr>
              <a:t> =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    new </a:t>
            </a:r>
            <a:r>
              <a:rPr lang="en-IN" sz="1600" dirty="0" err="1">
                <a:solidFill>
                  <a:schemeClr val="bg1"/>
                </a:solidFill>
              </a:rPr>
              <a:t>BufferedReader</a:t>
            </a:r>
            <a:r>
              <a:rPr lang="en-IN" sz="1600" dirty="0">
                <a:solidFill>
                  <a:schemeClr val="bg1"/>
                </a:solidFill>
              </a:rPr>
              <a:t>(new </a:t>
            </a:r>
            <a:r>
              <a:rPr lang="en-IN" sz="1600" dirty="0" err="1">
                <a:solidFill>
                  <a:schemeClr val="bg1"/>
                </a:solidFill>
              </a:rPr>
              <a:t>FileReader</a:t>
            </a:r>
            <a:r>
              <a:rPr lang="en-IN" sz="1600" dirty="0">
                <a:solidFill>
                  <a:schemeClr val="bg1"/>
                </a:solidFill>
              </a:rPr>
              <a:t>("data.txt"));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String line;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while ((line = </a:t>
            </a:r>
            <a:r>
              <a:rPr lang="en-IN" sz="1600" dirty="0" err="1">
                <a:solidFill>
                  <a:schemeClr val="bg1"/>
                </a:solidFill>
              </a:rPr>
              <a:t>br.readLine</a:t>
            </a:r>
            <a:r>
              <a:rPr lang="en-IN" sz="1600" dirty="0">
                <a:solidFill>
                  <a:schemeClr val="bg1"/>
                </a:solidFill>
              </a:rPr>
              <a:t>()) != null)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</a:t>
            </a:r>
            <a:r>
              <a:rPr lang="en-IN" sz="1600" dirty="0" err="1">
                <a:solidFill>
                  <a:schemeClr val="bg1"/>
                </a:solidFill>
              </a:rPr>
              <a:t>System.out.println</a:t>
            </a:r>
            <a:r>
              <a:rPr lang="en-IN" sz="1600" dirty="0">
                <a:solidFill>
                  <a:schemeClr val="bg1"/>
                </a:solidFill>
              </a:rPr>
              <a:t>(line);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}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br.close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FC69CF-F027-C5D8-597C-E52B2D714CED}"/>
              </a:ext>
            </a:extLst>
          </p:cNvPr>
          <p:cNvSpPr txBox="1"/>
          <p:nvPr/>
        </p:nvSpPr>
        <p:spPr>
          <a:xfrm>
            <a:off x="1359876" y="1453605"/>
            <a:ext cx="190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Using </a:t>
            </a:r>
            <a:r>
              <a:rPr lang="en-IN" dirty="0" err="1">
                <a:solidFill>
                  <a:schemeClr val="bg1"/>
                </a:solidFill>
              </a:rPr>
              <a:t>FileReader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3978B5-987E-B861-C1C2-4884D23A7758}"/>
              </a:ext>
            </a:extLst>
          </p:cNvPr>
          <p:cNvSpPr txBox="1"/>
          <p:nvPr/>
        </p:nvSpPr>
        <p:spPr>
          <a:xfrm>
            <a:off x="7344507" y="1453605"/>
            <a:ext cx="2419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Using </a:t>
            </a:r>
            <a:r>
              <a:rPr lang="en-IN" dirty="0" err="1">
                <a:solidFill>
                  <a:schemeClr val="bg1"/>
                </a:solidFill>
              </a:rPr>
              <a:t>BufferedReader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997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19429-E1C9-551B-D9B7-40C649882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F219F-D68B-1B0D-D173-8B7BD734B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Reader/Writer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89403-3737-303B-45D5-9E9450391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799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Writing to a file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02945-137E-20EF-0319-960E5990B4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94A80C-326C-E603-9031-D260A38C47E2}"/>
              </a:ext>
            </a:extLst>
          </p:cNvPr>
          <p:cNvSpPr txBox="1"/>
          <p:nvPr/>
        </p:nvSpPr>
        <p:spPr>
          <a:xfrm>
            <a:off x="135467" y="1822937"/>
            <a:ext cx="5458177" cy="230832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public class </a:t>
            </a:r>
            <a:r>
              <a:rPr lang="en-IN" sz="1600" dirty="0" err="1">
                <a:solidFill>
                  <a:schemeClr val="bg1"/>
                </a:solidFill>
              </a:rPr>
              <a:t>FileWriterExample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600" dirty="0" err="1">
                <a:solidFill>
                  <a:schemeClr val="bg1"/>
                </a:solidFill>
              </a:rPr>
              <a:t>args</a:t>
            </a:r>
            <a:r>
              <a:rPr lang="en-IN" sz="1600" dirty="0">
                <a:solidFill>
                  <a:schemeClr val="bg1"/>
                </a:solidFill>
              </a:rPr>
              <a:t>) throws </a:t>
            </a:r>
            <a:r>
              <a:rPr lang="en-IN" sz="1600" dirty="0" err="1">
                <a:solidFill>
                  <a:schemeClr val="bg1"/>
                </a:solidFill>
              </a:rPr>
              <a:t>IOException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FileWriter</a:t>
            </a:r>
            <a:r>
              <a:rPr lang="en-IN" sz="1600" dirty="0">
                <a:solidFill>
                  <a:schemeClr val="bg1"/>
                </a:solidFill>
              </a:rPr>
              <a:t> writer = new </a:t>
            </a:r>
            <a:r>
              <a:rPr lang="en-IN" sz="1600" dirty="0" err="1">
                <a:solidFill>
                  <a:schemeClr val="bg1"/>
                </a:solidFill>
              </a:rPr>
              <a:t>FileWriter</a:t>
            </a:r>
            <a:r>
              <a:rPr lang="en-IN" sz="1600" dirty="0">
                <a:solidFill>
                  <a:schemeClr val="bg1"/>
                </a:solidFill>
              </a:rPr>
              <a:t>("data.txt");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writer.write</a:t>
            </a:r>
            <a:r>
              <a:rPr lang="en-IN" sz="1600" dirty="0">
                <a:solidFill>
                  <a:schemeClr val="bg1"/>
                </a:solidFill>
              </a:rPr>
              <a:t>("Hello Reader and Writer");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writer.close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3DBE3B-8E27-2BEF-FC1A-F03F9B150BFA}"/>
              </a:ext>
            </a:extLst>
          </p:cNvPr>
          <p:cNvSpPr txBox="1"/>
          <p:nvPr/>
        </p:nvSpPr>
        <p:spPr>
          <a:xfrm>
            <a:off x="5989801" y="1822937"/>
            <a:ext cx="5458177" cy="353943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public class </a:t>
            </a:r>
            <a:r>
              <a:rPr lang="en-IN" sz="1600" dirty="0" err="1">
                <a:solidFill>
                  <a:schemeClr val="bg1"/>
                </a:solidFill>
              </a:rPr>
              <a:t>BufferedWriterExample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600" dirty="0" err="1">
                <a:solidFill>
                  <a:schemeClr val="bg1"/>
                </a:solidFill>
              </a:rPr>
              <a:t>args</a:t>
            </a:r>
            <a:r>
              <a:rPr lang="en-IN" sz="1600" dirty="0">
                <a:solidFill>
                  <a:schemeClr val="bg1"/>
                </a:solidFill>
              </a:rPr>
              <a:t>) throws </a:t>
            </a:r>
            <a:r>
              <a:rPr lang="en-IN" sz="1600" dirty="0" err="1">
                <a:solidFill>
                  <a:schemeClr val="bg1"/>
                </a:solidFill>
              </a:rPr>
              <a:t>IOException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BufferedWriter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  <a:r>
              <a:rPr lang="en-IN" sz="1600" dirty="0" err="1">
                <a:solidFill>
                  <a:schemeClr val="bg1"/>
                </a:solidFill>
              </a:rPr>
              <a:t>bw</a:t>
            </a:r>
            <a:r>
              <a:rPr lang="en-IN" sz="1600" dirty="0">
                <a:solidFill>
                  <a:schemeClr val="bg1"/>
                </a:solidFill>
              </a:rPr>
              <a:t> =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    new </a:t>
            </a:r>
            <a:r>
              <a:rPr lang="en-IN" sz="1600" dirty="0" err="1">
                <a:solidFill>
                  <a:schemeClr val="bg1"/>
                </a:solidFill>
              </a:rPr>
              <a:t>BufferedWriter</a:t>
            </a:r>
            <a:r>
              <a:rPr lang="en-IN" sz="1600" dirty="0">
                <a:solidFill>
                  <a:schemeClr val="bg1"/>
                </a:solidFill>
              </a:rPr>
              <a:t>(new </a:t>
            </a:r>
            <a:r>
              <a:rPr lang="en-IN" sz="1600" dirty="0" err="1">
                <a:solidFill>
                  <a:schemeClr val="bg1"/>
                </a:solidFill>
              </a:rPr>
              <a:t>FileWriter</a:t>
            </a:r>
            <a:r>
              <a:rPr lang="en-IN" sz="1600" dirty="0">
                <a:solidFill>
                  <a:schemeClr val="bg1"/>
                </a:solidFill>
              </a:rPr>
              <a:t>("output.txt"));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bw.write</a:t>
            </a:r>
            <a:r>
              <a:rPr lang="en-IN" sz="1600" dirty="0">
                <a:solidFill>
                  <a:schemeClr val="bg1"/>
                </a:solidFill>
              </a:rPr>
              <a:t>("First line");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bw.newLine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bw.write</a:t>
            </a:r>
            <a:r>
              <a:rPr lang="en-IN" sz="1600" dirty="0">
                <a:solidFill>
                  <a:schemeClr val="bg1"/>
                </a:solidFill>
              </a:rPr>
              <a:t>("Second line");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bw.close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0177F1-DB51-0388-256E-1530F82F4837}"/>
              </a:ext>
            </a:extLst>
          </p:cNvPr>
          <p:cNvSpPr txBox="1"/>
          <p:nvPr/>
        </p:nvSpPr>
        <p:spPr>
          <a:xfrm>
            <a:off x="1359876" y="1453605"/>
            <a:ext cx="1833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Using </a:t>
            </a:r>
            <a:r>
              <a:rPr lang="en-IN" dirty="0" err="1">
                <a:solidFill>
                  <a:schemeClr val="bg1"/>
                </a:solidFill>
              </a:rPr>
              <a:t>FileWriter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E5AAE-61E0-FDB2-98DC-CAA26FBDBDF5}"/>
              </a:ext>
            </a:extLst>
          </p:cNvPr>
          <p:cNvSpPr txBox="1"/>
          <p:nvPr/>
        </p:nvSpPr>
        <p:spPr>
          <a:xfrm>
            <a:off x="7344507" y="1453605"/>
            <a:ext cx="2349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Using </a:t>
            </a:r>
            <a:r>
              <a:rPr lang="en-IN" dirty="0" err="1">
                <a:solidFill>
                  <a:schemeClr val="bg1"/>
                </a:solidFill>
              </a:rPr>
              <a:t>BufferedWriter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354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67EB2-00AF-27B9-FC25-BC017A2E2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DF6F3-1462-8393-7723-CB1D0990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Reader/Writer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6523B-091C-1699-02C7-5FAA3EC1E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799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 err="1">
                <a:solidFill>
                  <a:schemeClr val="bg1"/>
                </a:solidFill>
              </a:rPr>
              <a:t>InputStreamReader</a:t>
            </a:r>
            <a:r>
              <a:rPr lang="en-IN" sz="1800" b="1" dirty="0">
                <a:solidFill>
                  <a:schemeClr val="bg1"/>
                </a:solidFill>
              </a:rPr>
              <a:t>/</a:t>
            </a:r>
            <a:r>
              <a:rPr lang="en-IN" sz="1800" b="1" dirty="0" err="1">
                <a:solidFill>
                  <a:schemeClr val="bg1"/>
                </a:solidFill>
              </a:rPr>
              <a:t>OutputStreamWriter</a:t>
            </a:r>
            <a:endParaRPr lang="en-IN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They </a:t>
            </a:r>
            <a:r>
              <a:rPr lang="en-US" sz="1800" b="1" dirty="0">
                <a:solidFill>
                  <a:schemeClr val="bg1"/>
                </a:solidFill>
              </a:rPr>
              <a:t>convert bytes into characters</a:t>
            </a:r>
            <a:r>
              <a:rPr lang="en-US" sz="1800" dirty="0">
                <a:solidFill>
                  <a:schemeClr val="bg1"/>
                </a:solidFill>
              </a:rPr>
              <a:t> and vice-versa using a </a:t>
            </a:r>
            <a:r>
              <a:rPr lang="en-US" sz="1800" b="1" dirty="0">
                <a:solidFill>
                  <a:schemeClr val="bg1"/>
                </a:solidFill>
              </a:rPr>
              <a:t>character encoding</a:t>
            </a:r>
            <a:r>
              <a:rPr lang="en-US" sz="1800" dirty="0">
                <a:solidFill>
                  <a:schemeClr val="bg1"/>
                </a:solidFill>
              </a:rPr>
              <a:t> (UTF-8, UTF-16, etc.).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A2147-D1AF-292B-DF56-A16DD92EB8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6872432-8246-6163-A16C-3C2593896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565830"/>
              </p:ext>
            </p:extLst>
          </p:nvPr>
        </p:nvGraphicFramePr>
        <p:xfrm>
          <a:off x="165222" y="1944015"/>
          <a:ext cx="10713792" cy="2616262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3571264">
                  <a:extLst>
                    <a:ext uri="{9D8B030D-6E8A-4147-A177-3AD203B41FA5}">
                      <a16:colId xmlns:a16="http://schemas.microsoft.com/office/drawing/2014/main" val="1826616825"/>
                    </a:ext>
                  </a:extLst>
                </a:gridCol>
                <a:gridCol w="3571264">
                  <a:extLst>
                    <a:ext uri="{9D8B030D-6E8A-4147-A177-3AD203B41FA5}">
                      <a16:colId xmlns:a16="http://schemas.microsoft.com/office/drawing/2014/main" val="1357132118"/>
                    </a:ext>
                  </a:extLst>
                </a:gridCol>
                <a:gridCol w="3571264">
                  <a:extLst>
                    <a:ext uri="{9D8B030D-6E8A-4147-A177-3AD203B41FA5}">
                      <a16:colId xmlns:a16="http://schemas.microsoft.com/office/drawing/2014/main" val="1047037261"/>
                    </a:ext>
                  </a:extLst>
                </a:gridCol>
              </a:tblGrid>
              <a:tr h="697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Direction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1494944"/>
                  </a:ext>
                </a:extLst>
              </a:tr>
              <a:tr h="1220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 err="1">
                          <a:solidFill>
                            <a:schemeClr val="bg1"/>
                          </a:solidFill>
                        </a:rPr>
                        <a:t>InputStreamReader</a:t>
                      </a:r>
                      <a:endParaRPr lang="en-IN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Bytes → Characters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Reading text from byte streams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887492"/>
                  </a:ext>
                </a:extLst>
              </a:tr>
              <a:tr h="697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 err="1">
                          <a:solidFill>
                            <a:schemeClr val="bg1"/>
                          </a:solidFill>
                        </a:rPr>
                        <a:t>OutputStreamWriter</a:t>
                      </a:r>
                      <a:endParaRPr lang="en-IN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Characters →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Writing text to byte streams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8974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3746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84743-C202-4268-C872-DBACFA6D5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AFFCB94-D03D-C54D-B95D-F400D44A2D87}"/>
              </a:ext>
            </a:extLst>
          </p:cNvPr>
          <p:cNvSpPr txBox="1"/>
          <p:nvPr/>
        </p:nvSpPr>
        <p:spPr>
          <a:xfrm>
            <a:off x="5989801" y="1723283"/>
            <a:ext cx="5458177" cy="4247317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public class </a:t>
            </a:r>
            <a:r>
              <a:rPr lang="en-IN" sz="1500" dirty="0" err="1">
                <a:solidFill>
                  <a:schemeClr val="bg1"/>
                </a:solidFill>
              </a:rPr>
              <a:t>InputStreamReaderExample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500" dirty="0" err="1">
                <a:solidFill>
                  <a:schemeClr val="bg1"/>
                </a:solidFill>
              </a:rPr>
              <a:t>args</a:t>
            </a:r>
            <a:r>
              <a:rPr lang="en-IN" sz="1500" dirty="0">
                <a:solidFill>
                  <a:schemeClr val="bg1"/>
                </a:solidFill>
              </a:rPr>
              <a:t>) throws </a:t>
            </a:r>
            <a:r>
              <a:rPr lang="en-IN" sz="1500" dirty="0" err="1">
                <a:solidFill>
                  <a:schemeClr val="bg1"/>
                </a:solidFill>
              </a:rPr>
              <a:t>IOException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InputStream</a:t>
            </a:r>
            <a:r>
              <a:rPr lang="en-IN" sz="1500" dirty="0">
                <a:solidFill>
                  <a:schemeClr val="bg1"/>
                </a:solidFill>
              </a:rPr>
              <a:t> is = new </a:t>
            </a:r>
            <a:r>
              <a:rPr lang="en-IN" sz="1500" dirty="0" err="1">
                <a:solidFill>
                  <a:schemeClr val="bg1"/>
                </a:solidFill>
              </a:rPr>
              <a:t>FileInputStream</a:t>
            </a:r>
            <a:r>
              <a:rPr lang="en-IN" sz="1500" dirty="0">
                <a:solidFill>
                  <a:schemeClr val="bg1"/>
                </a:solidFill>
              </a:rPr>
              <a:t>("data.txt");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InputStreamReader</a:t>
            </a:r>
            <a:r>
              <a:rPr lang="en-IN" sz="1500" dirty="0">
                <a:solidFill>
                  <a:schemeClr val="bg1"/>
                </a:solidFill>
              </a:rPr>
              <a:t> </a:t>
            </a:r>
            <a:r>
              <a:rPr lang="en-IN" sz="1500" dirty="0" err="1">
                <a:solidFill>
                  <a:schemeClr val="bg1"/>
                </a:solidFill>
              </a:rPr>
              <a:t>isr</a:t>
            </a:r>
            <a:r>
              <a:rPr lang="en-IN" sz="1500" dirty="0">
                <a:solidFill>
                  <a:schemeClr val="bg1"/>
                </a:solidFill>
              </a:rPr>
              <a:t> =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new </a:t>
            </a:r>
            <a:r>
              <a:rPr lang="en-IN" sz="1500" dirty="0" err="1">
                <a:solidFill>
                  <a:schemeClr val="bg1"/>
                </a:solidFill>
              </a:rPr>
              <a:t>InputStreamReader</a:t>
            </a:r>
            <a:r>
              <a:rPr lang="en-IN" sz="1500" dirty="0">
                <a:solidFill>
                  <a:schemeClr val="bg1"/>
                </a:solidFill>
              </a:rPr>
              <a:t>(is, "UTF-8");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BufferedReader</a:t>
            </a:r>
            <a:r>
              <a:rPr lang="en-IN" sz="1500" dirty="0">
                <a:solidFill>
                  <a:schemeClr val="bg1"/>
                </a:solidFill>
              </a:rPr>
              <a:t> </a:t>
            </a:r>
            <a:r>
              <a:rPr lang="en-IN" sz="1500" dirty="0" err="1">
                <a:solidFill>
                  <a:schemeClr val="bg1"/>
                </a:solidFill>
              </a:rPr>
              <a:t>br</a:t>
            </a:r>
            <a:r>
              <a:rPr lang="en-IN" sz="1500" dirty="0">
                <a:solidFill>
                  <a:schemeClr val="bg1"/>
                </a:solidFill>
              </a:rPr>
              <a:t> = new </a:t>
            </a:r>
            <a:r>
              <a:rPr lang="en-IN" sz="1500" dirty="0" err="1">
                <a:solidFill>
                  <a:schemeClr val="bg1"/>
                </a:solidFill>
              </a:rPr>
              <a:t>BufferedReader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isr</a:t>
            </a:r>
            <a:r>
              <a:rPr lang="en-IN" sz="1500" dirty="0">
                <a:solidFill>
                  <a:schemeClr val="bg1"/>
                </a:solidFill>
              </a:rPr>
              <a:t>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String line;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while ((line = </a:t>
            </a:r>
            <a:r>
              <a:rPr lang="en-IN" sz="1500" dirty="0" err="1">
                <a:solidFill>
                  <a:schemeClr val="bg1"/>
                </a:solidFill>
              </a:rPr>
              <a:t>br.readLine</a:t>
            </a:r>
            <a:r>
              <a:rPr lang="en-IN" sz="1500" dirty="0">
                <a:solidFill>
                  <a:schemeClr val="bg1"/>
                </a:solidFill>
              </a:rPr>
              <a:t>()) != null)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(line);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}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br.close</a:t>
            </a:r>
            <a:r>
              <a:rPr lang="en-IN" sz="15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3BB9B-0219-FD99-1708-E24A943B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Reader/Writer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AD788-0B25-8F7A-9975-B5BAE4DF6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799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Reading from a file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DFB62-DC71-DD37-1412-6E13AC3014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65CEBD-855D-0E74-F136-00377B662D61}"/>
              </a:ext>
            </a:extLst>
          </p:cNvPr>
          <p:cNvSpPr txBox="1"/>
          <p:nvPr/>
        </p:nvSpPr>
        <p:spPr>
          <a:xfrm>
            <a:off x="135467" y="1723283"/>
            <a:ext cx="5458177" cy="329320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public class </a:t>
            </a:r>
            <a:r>
              <a:rPr lang="en-IN" sz="1600" dirty="0" err="1">
                <a:solidFill>
                  <a:schemeClr val="bg1"/>
                </a:solidFill>
              </a:rPr>
              <a:t>FileReaderExample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600" dirty="0" err="1">
                <a:solidFill>
                  <a:schemeClr val="bg1"/>
                </a:solidFill>
              </a:rPr>
              <a:t>args</a:t>
            </a:r>
            <a:r>
              <a:rPr lang="en-IN" sz="1600" dirty="0">
                <a:solidFill>
                  <a:schemeClr val="bg1"/>
                </a:solidFill>
              </a:rPr>
              <a:t>) throws </a:t>
            </a:r>
            <a:r>
              <a:rPr lang="en-IN" sz="1600" dirty="0" err="1">
                <a:solidFill>
                  <a:schemeClr val="bg1"/>
                </a:solidFill>
              </a:rPr>
              <a:t>IOException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FileReader</a:t>
            </a:r>
            <a:r>
              <a:rPr lang="en-IN" sz="1600" dirty="0">
                <a:solidFill>
                  <a:schemeClr val="bg1"/>
                </a:solidFill>
              </a:rPr>
              <a:t> reader = new </a:t>
            </a:r>
            <a:r>
              <a:rPr lang="en-IN" sz="1600" dirty="0" err="1">
                <a:solidFill>
                  <a:schemeClr val="bg1"/>
                </a:solidFill>
              </a:rPr>
              <a:t>FileReader</a:t>
            </a:r>
            <a:r>
              <a:rPr lang="en-IN" sz="1600" dirty="0">
                <a:solidFill>
                  <a:schemeClr val="bg1"/>
                </a:solidFill>
              </a:rPr>
              <a:t>("data.txt");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int </a:t>
            </a:r>
            <a:r>
              <a:rPr lang="en-IN" sz="1600" dirty="0" err="1">
                <a:solidFill>
                  <a:schemeClr val="bg1"/>
                </a:solidFill>
              </a:rPr>
              <a:t>ch</a:t>
            </a:r>
            <a:r>
              <a:rPr lang="en-IN" sz="1600" dirty="0">
                <a:solidFill>
                  <a:schemeClr val="bg1"/>
                </a:solidFill>
              </a:rPr>
              <a:t>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while ((</a:t>
            </a:r>
            <a:r>
              <a:rPr lang="en-IN" sz="1600" dirty="0" err="1">
                <a:solidFill>
                  <a:schemeClr val="bg1"/>
                </a:solidFill>
              </a:rPr>
              <a:t>ch</a:t>
            </a:r>
            <a:r>
              <a:rPr lang="en-IN" sz="1600" dirty="0">
                <a:solidFill>
                  <a:schemeClr val="bg1"/>
                </a:solidFill>
              </a:rPr>
              <a:t> = </a:t>
            </a:r>
            <a:r>
              <a:rPr lang="en-IN" sz="1600" dirty="0" err="1">
                <a:solidFill>
                  <a:schemeClr val="bg1"/>
                </a:solidFill>
              </a:rPr>
              <a:t>reader.read</a:t>
            </a:r>
            <a:r>
              <a:rPr lang="en-IN" sz="1600" dirty="0">
                <a:solidFill>
                  <a:schemeClr val="bg1"/>
                </a:solidFill>
              </a:rPr>
              <a:t>()) != -1)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</a:t>
            </a:r>
            <a:r>
              <a:rPr lang="en-IN" sz="1600" dirty="0" err="1">
                <a:solidFill>
                  <a:schemeClr val="bg1"/>
                </a:solidFill>
              </a:rPr>
              <a:t>System.out.print</a:t>
            </a:r>
            <a:r>
              <a:rPr lang="en-IN" sz="1600" dirty="0">
                <a:solidFill>
                  <a:schemeClr val="bg1"/>
                </a:solidFill>
              </a:rPr>
              <a:t>((char) </a:t>
            </a:r>
            <a:r>
              <a:rPr lang="en-IN" sz="1600" dirty="0" err="1">
                <a:solidFill>
                  <a:schemeClr val="bg1"/>
                </a:solidFill>
              </a:rPr>
              <a:t>ch</a:t>
            </a:r>
            <a:r>
              <a:rPr lang="en-IN" sz="1600" dirty="0">
                <a:solidFill>
                  <a:schemeClr val="bg1"/>
                </a:solidFill>
              </a:rPr>
              <a:t>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}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reader.close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A64B77-3285-4A2E-5AE4-9165D35FE809}"/>
              </a:ext>
            </a:extLst>
          </p:cNvPr>
          <p:cNvSpPr txBox="1"/>
          <p:nvPr/>
        </p:nvSpPr>
        <p:spPr>
          <a:xfrm>
            <a:off x="1359876" y="1353951"/>
            <a:ext cx="190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Using </a:t>
            </a:r>
            <a:r>
              <a:rPr lang="en-IN" dirty="0" err="1">
                <a:solidFill>
                  <a:schemeClr val="bg1"/>
                </a:solidFill>
              </a:rPr>
              <a:t>FileReader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5CB50D-F132-1C0F-E525-66012333B188}"/>
              </a:ext>
            </a:extLst>
          </p:cNvPr>
          <p:cNvSpPr txBox="1"/>
          <p:nvPr/>
        </p:nvSpPr>
        <p:spPr>
          <a:xfrm>
            <a:off x="7344507" y="1353951"/>
            <a:ext cx="2791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Using </a:t>
            </a:r>
            <a:r>
              <a:rPr lang="en-IN" dirty="0" err="1">
                <a:solidFill>
                  <a:schemeClr val="bg1"/>
                </a:solidFill>
              </a:rPr>
              <a:t>InputStreamReader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752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36A9B-3238-E356-0ABC-B4E538EC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6FA2F-92FA-17A3-B823-919DB3A14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Reader/Writer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2FB9F-CBFC-2252-DC22-ABC44E94B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799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Writing to a file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898AE-E9F2-805D-C5C0-8C8CB2646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927D9D-58DE-6322-4822-3480B64FE419}"/>
              </a:ext>
            </a:extLst>
          </p:cNvPr>
          <p:cNvSpPr txBox="1"/>
          <p:nvPr/>
        </p:nvSpPr>
        <p:spPr>
          <a:xfrm>
            <a:off x="135467" y="1822937"/>
            <a:ext cx="5458177" cy="230832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public class </a:t>
            </a:r>
            <a:r>
              <a:rPr lang="en-IN" sz="1600" dirty="0" err="1">
                <a:solidFill>
                  <a:schemeClr val="bg1"/>
                </a:solidFill>
              </a:rPr>
              <a:t>FileWriterExample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600" dirty="0" err="1">
                <a:solidFill>
                  <a:schemeClr val="bg1"/>
                </a:solidFill>
              </a:rPr>
              <a:t>args</a:t>
            </a:r>
            <a:r>
              <a:rPr lang="en-IN" sz="1600" dirty="0">
                <a:solidFill>
                  <a:schemeClr val="bg1"/>
                </a:solidFill>
              </a:rPr>
              <a:t>) throws </a:t>
            </a:r>
            <a:r>
              <a:rPr lang="en-IN" sz="1600" dirty="0" err="1">
                <a:solidFill>
                  <a:schemeClr val="bg1"/>
                </a:solidFill>
              </a:rPr>
              <a:t>IOException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FileWriter</a:t>
            </a:r>
            <a:r>
              <a:rPr lang="en-IN" sz="1600" dirty="0">
                <a:solidFill>
                  <a:schemeClr val="bg1"/>
                </a:solidFill>
              </a:rPr>
              <a:t> writer = new </a:t>
            </a:r>
            <a:r>
              <a:rPr lang="en-IN" sz="1600" dirty="0" err="1">
                <a:solidFill>
                  <a:schemeClr val="bg1"/>
                </a:solidFill>
              </a:rPr>
              <a:t>FileWriter</a:t>
            </a:r>
            <a:r>
              <a:rPr lang="en-IN" sz="1600" dirty="0">
                <a:solidFill>
                  <a:schemeClr val="bg1"/>
                </a:solidFill>
              </a:rPr>
              <a:t>("data.txt");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writer.write</a:t>
            </a:r>
            <a:r>
              <a:rPr lang="en-IN" sz="1600" dirty="0">
                <a:solidFill>
                  <a:schemeClr val="bg1"/>
                </a:solidFill>
              </a:rPr>
              <a:t>("Hello Reader and Writer");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writer.close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14A2A-DE5E-C1A5-70E9-C3ED0CE73AAF}"/>
              </a:ext>
            </a:extLst>
          </p:cNvPr>
          <p:cNvSpPr txBox="1"/>
          <p:nvPr/>
        </p:nvSpPr>
        <p:spPr>
          <a:xfrm>
            <a:off x="5951789" y="1809708"/>
            <a:ext cx="5759565" cy="427809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public class </a:t>
            </a:r>
            <a:r>
              <a:rPr lang="en-IN" sz="1600" dirty="0" err="1">
                <a:solidFill>
                  <a:schemeClr val="bg1"/>
                </a:solidFill>
              </a:rPr>
              <a:t>OutputStreamWriterExample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600" dirty="0" err="1">
                <a:solidFill>
                  <a:schemeClr val="bg1"/>
                </a:solidFill>
              </a:rPr>
              <a:t>args</a:t>
            </a:r>
            <a:r>
              <a:rPr lang="en-IN" sz="1600" dirty="0">
                <a:solidFill>
                  <a:schemeClr val="bg1"/>
                </a:solidFill>
              </a:rPr>
              <a:t>) throws </a:t>
            </a:r>
            <a:r>
              <a:rPr lang="en-IN" sz="1600" dirty="0" err="1">
                <a:solidFill>
                  <a:schemeClr val="bg1"/>
                </a:solidFill>
              </a:rPr>
              <a:t>IOException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OutputStream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  <a:r>
              <a:rPr lang="en-IN" sz="1600" dirty="0" err="1">
                <a:solidFill>
                  <a:schemeClr val="bg1"/>
                </a:solidFill>
              </a:rPr>
              <a:t>os</a:t>
            </a:r>
            <a:r>
              <a:rPr lang="en-IN" sz="1600" dirty="0">
                <a:solidFill>
                  <a:schemeClr val="bg1"/>
                </a:solidFill>
              </a:rPr>
              <a:t> = new </a:t>
            </a:r>
            <a:r>
              <a:rPr lang="en-IN" sz="1600" dirty="0" err="1">
                <a:solidFill>
                  <a:schemeClr val="bg1"/>
                </a:solidFill>
              </a:rPr>
              <a:t>FileOutputStream</a:t>
            </a:r>
            <a:r>
              <a:rPr lang="en-IN" sz="1600" dirty="0">
                <a:solidFill>
                  <a:schemeClr val="bg1"/>
                </a:solidFill>
              </a:rPr>
              <a:t>(“data.txt");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OutputStreamWriter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  <a:r>
              <a:rPr lang="en-IN" sz="1600" dirty="0" err="1">
                <a:solidFill>
                  <a:schemeClr val="bg1"/>
                </a:solidFill>
              </a:rPr>
              <a:t>osw</a:t>
            </a:r>
            <a:r>
              <a:rPr lang="en-IN" sz="1600" dirty="0">
                <a:solidFill>
                  <a:schemeClr val="bg1"/>
                </a:solidFill>
              </a:rPr>
              <a:t> =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    new </a:t>
            </a:r>
            <a:r>
              <a:rPr lang="en-IN" sz="1600" dirty="0" err="1">
                <a:solidFill>
                  <a:schemeClr val="bg1"/>
                </a:solidFill>
              </a:rPr>
              <a:t>OutputStreamWriter</a:t>
            </a:r>
            <a:r>
              <a:rPr lang="en-IN" sz="1600" dirty="0">
                <a:solidFill>
                  <a:schemeClr val="bg1"/>
                </a:solidFill>
              </a:rPr>
              <a:t>(</a:t>
            </a:r>
            <a:r>
              <a:rPr lang="en-IN" sz="1600" dirty="0" err="1">
                <a:solidFill>
                  <a:schemeClr val="bg1"/>
                </a:solidFill>
              </a:rPr>
              <a:t>os</a:t>
            </a:r>
            <a:r>
              <a:rPr lang="en-IN" sz="1600" dirty="0">
                <a:solidFill>
                  <a:schemeClr val="bg1"/>
                </a:solidFill>
              </a:rPr>
              <a:t>, "UTF-8");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BufferedWriter</a:t>
            </a:r>
            <a:r>
              <a:rPr lang="en-IN" sz="1600" dirty="0">
                <a:solidFill>
                  <a:schemeClr val="bg1"/>
                </a:solidFill>
              </a:rPr>
              <a:t> </a:t>
            </a:r>
            <a:r>
              <a:rPr lang="en-IN" sz="1600" dirty="0" err="1">
                <a:solidFill>
                  <a:schemeClr val="bg1"/>
                </a:solidFill>
              </a:rPr>
              <a:t>bw</a:t>
            </a:r>
            <a:r>
              <a:rPr lang="en-IN" sz="1600" dirty="0">
                <a:solidFill>
                  <a:schemeClr val="bg1"/>
                </a:solidFill>
              </a:rPr>
              <a:t> = new </a:t>
            </a:r>
            <a:r>
              <a:rPr lang="en-IN" sz="1600" dirty="0" err="1">
                <a:solidFill>
                  <a:schemeClr val="bg1"/>
                </a:solidFill>
              </a:rPr>
              <a:t>BufferedWriter</a:t>
            </a:r>
            <a:r>
              <a:rPr lang="en-IN" sz="1600" dirty="0">
                <a:solidFill>
                  <a:schemeClr val="bg1"/>
                </a:solidFill>
              </a:rPr>
              <a:t>(</a:t>
            </a:r>
            <a:r>
              <a:rPr lang="en-IN" sz="1600" dirty="0" err="1">
                <a:solidFill>
                  <a:schemeClr val="bg1"/>
                </a:solidFill>
              </a:rPr>
              <a:t>osw</a:t>
            </a:r>
            <a:r>
              <a:rPr lang="en-IN" sz="1600" dirty="0">
                <a:solidFill>
                  <a:schemeClr val="bg1"/>
                </a:solidFill>
              </a:rPr>
              <a:t>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bw.write</a:t>
            </a:r>
            <a:r>
              <a:rPr lang="en-IN" sz="1600" dirty="0">
                <a:solidFill>
                  <a:schemeClr val="bg1"/>
                </a:solidFill>
              </a:rPr>
              <a:t>("Hello Java I/O");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bw.newLine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bw.write</a:t>
            </a:r>
            <a:r>
              <a:rPr lang="en-IN" sz="1600" dirty="0">
                <a:solidFill>
                  <a:schemeClr val="bg1"/>
                </a:solidFill>
              </a:rPr>
              <a:t>("Writing with encoding");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bw.close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42837F-11BA-1741-6F9A-70721786FD6C}"/>
              </a:ext>
            </a:extLst>
          </p:cNvPr>
          <p:cNvSpPr txBox="1"/>
          <p:nvPr/>
        </p:nvSpPr>
        <p:spPr>
          <a:xfrm>
            <a:off x="1359876" y="1453605"/>
            <a:ext cx="1833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Using </a:t>
            </a:r>
            <a:r>
              <a:rPr lang="en-IN" dirty="0" err="1">
                <a:solidFill>
                  <a:schemeClr val="bg1"/>
                </a:solidFill>
              </a:rPr>
              <a:t>FileWriter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43503E-A4A6-10B4-B461-1CF2E1CF6FCA}"/>
              </a:ext>
            </a:extLst>
          </p:cNvPr>
          <p:cNvSpPr txBox="1"/>
          <p:nvPr/>
        </p:nvSpPr>
        <p:spPr>
          <a:xfrm>
            <a:off x="7344507" y="1453605"/>
            <a:ext cx="290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Using </a:t>
            </a:r>
            <a:r>
              <a:rPr lang="en-IN" dirty="0" err="1">
                <a:solidFill>
                  <a:schemeClr val="bg1"/>
                </a:solidFill>
              </a:rPr>
              <a:t>OutputStreamWriter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485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7D7A2-1C4E-2E67-D48B-A3B5ADE2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Serialization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1791D-5D19-F74E-8A44-9708FFAC1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710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Serialization</a:t>
            </a:r>
            <a:r>
              <a:rPr lang="en-US" sz="1800" dirty="0">
                <a:solidFill>
                  <a:schemeClr val="bg1"/>
                </a:solidFill>
              </a:rPr>
              <a:t> is the process of </a:t>
            </a:r>
            <a:r>
              <a:rPr lang="en-US" sz="1800" b="1" dirty="0">
                <a:solidFill>
                  <a:schemeClr val="bg1"/>
                </a:solidFill>
              </a:rPr>
              <a:t>converting an object into a byte stream</a:t>
            </a:r>
            <a:r>
              <a:rPr lang="en-US" sz="1800" dirty="0">
                <a:solidFill>
                  <a:schemeClr val="bg1"/>
                </a:solidFill>
              </a:rPr>
              <a:t> so it can be: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saved to a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sent over a network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stored in memory or cache</a:t>
            </a:r>
          </a:p>
          <a:p>
            <a:pPr marL="0" indent="0">
              <a:buNone/>
            </a:pPr>
            <a:endParaRPr lang="en-US" sz="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Deserialization</a:t>
            </a:r>
            <a:r>
              <a:rPr lang="en-US" sz="1800" dirty="0">
                <a:solidFill>
                  <a:schemeClr val="bg1"/>
                </a:solidFill>
              </a:rPr>
              <a:t> is the reverse process.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Java does serialization using </a:t>
            </a:r>
            <a:r>
              <a:rPr lang="en-US" sz="1800" b="1" dirty="0">
                <a:solidFill>
                  <a:schemeClr val="bg1"/>
                </a:solidFill>
              </a:rPr>
              <a:t>byte streams</a:t>
            </a:r>
            <a:r>
              <a:rPr lang="en-US" sz="1800" dirty="0">
                <a:solidFill>
                  <a:schemeClr val="bg1"/>
                </a:solidFill>
              </a:rPr>
              <a:t>. Key classes: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solidFill>
                  <a:schemeClr val="bg1"/>
                </a:solidFill>
              </a:rPr>
              <a:t>ObjectOutputStream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solidFill>
                  <a:schemeClr val="bg1"/>
                </a:solidFill>
              </a:rPr>
              <a:t>ObjectInputStream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In order to make your class serializable, you need to implement Marker interface: </a:t>
            </a:r>
            <a:r>
              <a:rPr lang="en-IN" sz="1800" b="1" dirty="0">
                <a:solidFill>
                  <a:schemeClr val="bg1"/>
                </a:solidFill>
              </a:rPr>
              <a:t>Serializable</a:t>
            </a: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31E88-65B0-3DD4-C26C-776AF482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2374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A082C-3655-E56D-BC84-5FE6333AC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Serialization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9A3E4-BFA7-A862-AEB3-23C9689C1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1384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Implementing Serializable Interface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Serializable is a marker interface and as such it does not have any abstract method inside of it. It only tells JVM that the object implementing it can be serialized.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D2D31B-F04C-F371-A1F5-553BB5260A8B}"/>
              </a:ext>
            </a:extLst>
          </p:cNvPr>
          <p:cNvSpPr txBox="1"/>
          <p:nvPr/>
        </p:nvSpPr>
        <p:spPr>
          <a:xfrm>
            <a:off x="134816" y="2414938"/>
            <a:ext cx="5292969" cy="2585323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public class Employee implements Serializable {</a:t>
            </a:r>
          </a:p>
          <a:p>
            <a:r>
              <a:rPr lang="en-IN" dirty="0">
                <a:solidFill>
                  <a:schemeClr val="bg1"/>
                </a:solidFill>
              </a:rPr>
              <a:t>    int id;</a:t>
            </a:r>
          </a:p>
          <a:p>
            <a:r>
              <a:rPr lang="en-IN" dirty="0">
                <a:solidFill>
                  <a:schemeClr val="bg1"/>
                </a:solidFill>
              </a:rPr>
              <a:t>    String name;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    Employee(int id, String name) {</a:t>
            </a:r>
          </a:p>
          <a:p>
            <a:r>
              <a:rPr lang="en-IN" dirty="0">
                <a:solidFill>
                  <a:schemeClr val="bg1"/>
                </a:solidFill>
              </a:rPr>
              <a:t>        this.id = id;</a:t>
            </a:r>
          </a:p>
          <a:p>
            <a:r>
              <a:rPr lang="en-IN" dirty="0">
                <a:solidFill>
                  <a:schemeClr val="bg1"/>
                </a:solidFill>
              </a:rPr>
              <a:t>        this.name = name;</a:t>
            </a:r>
          </a:p>
          <a:p>
            <a:r>
              <a:rPr lang="en-IN" dirty="0">
                <a:solidFill>
                  <a:schemeClr val="bg1"/>
                </a:solidFill>
              </a:rPr>
              <a:t>    }</a:t>
            </a:r>
          </a:p>
          <a:p>
            <a:r>
              <a:rPr lang="en-IN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737AD1-8209-3E41-450F-2A943FA83C10}"/>
              </a:ext>
            </a:extLst>
          </p:cNvPr>
          <p:cNvSpPr txBox="1"/>
          <p:nvPr/>
        </p:nvSpPr>
        <p:spPr>
          <a:xfrm>
            <a:off x="5668107" y="2409075"/>
            <a:ext cx="5615354" cy="401648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public class </a:t>
            </a:r>
            <a:r>
              <a:rPr lang="en-IN" sz="1500" dirty="0" err="1">
                <a:solidFill>
                  <a:schemeClr val="bg1"/>
                </a:solidFill>
              </a:rPr>
              <a:t>SerializeExample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500" dirty="0" err="1">
                <a:solidFill>
                  <a:schemeClr val="bg1"/>
                </a:solidFill>
              </a:rPr>
              <a:t>args</a:t>
            </a:r>
            <a:r>
              <a:rPr lang="en-IN" sz="1500" dirty="0">
                <a:solidFill>
                  <a:schemeClr val="bg1"/>
                </a:solidFill>
              </a:rPr>
              <a:t>) throws </a:t>
            </a:r>
            <a:r>
              <a:rPr lang="en-IN" sz="1500" dirty="0" err="1">
                <a:solidFill>
                  <a:schemeClr val="bg1"/>
                </a:solidFill>
              </a:rPr>
              <a:t>IOException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Employee emp = new Employee(101, "Sanat");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ObjectOutputStream</a:t>
            </a:r>
            <a:r>
              <a:rPr lang="en-IN" sz="1500" dirty="0">
                <a:solidFill>
                  <a:schemeClr val="bg1"/>
                </a:solidFill>
              </a:rPr>
              <a:t> </a:t>
            </a:r>
            <a:r>
              <a:rPr lang="en-IN" sz="1500" dirty="0" err="1">
                <a:solidFill>
                  <a:schemeClr val="bg1"/>
                </a:solidFill>
              </a:rPr>
              <a:t>oos</a:t>
            </a:r>
            <a:r>
              <a:rPr lang="en-IN" sz="1500" dirty="0">
                <a:solidFill>
                  <a:schemeClr val="bg1"/>
                </a:solidFill>
              </a:rPr>
              <a:t> =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new </a:t>
            </a:r>
            <a:r>
              <a:rPr lang="en-IN" sz="1500" dirty="0" err="1">
                <a:solidFill>
                  <a:schemeClr val="bg1"/>
                </a:solidFill>
              </a:rPr>
              <a:t>ObjectOutputStream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        new </a:t>
            </a:r>
            <a:r>
              <a:rPr lang="en-IN" sz="1500" dirty="0" err="1">
                <a:solidFill>
                  <a:schemeClr val="bg1"/>
                </a:solidFill>
              </a:rPr>
              <a:t>FileOutputStream</a:t>
            </a:r>
            <a:r>
              <a:rPr lang="en-IN" sz="1500" dirty="0">
                <a:solidFill>
                  <a:schemeClr val="bg1"/>
                </a:solidFill>
              </a:rPr>
              <a:t>("</a:t>
            </a:r>
            <a:r>
              <a:rPr lang="en-IN" sz="1500" dirty="0" err="1">
                <a:solidFill>
                  <a:schemeClr val="bg1"/>
                </a:solidFill>
              </a:rPr>
              <a:t>emp.ser</a:t>
            </a:r>
            <a:r>
              <a:rPr lang="en-IN" sz="1500" dirty="0">
                <a:solidFill>
                  <a:schemeClr val="bg1"/>
                </a:solidFill>
              </a:rPr>
              <a:t>")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oos.writeObject</a:t>
            </a:r>
            <a:r>
              <a:rPr lang="en-IN" sz="1500" dirty="0">
                <a:solidFill>
                  <a:schemeClr val="bg1"/>
                </a:solidFill>
              </a:rPr>
              <a:t>(emp);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oos.close</a:t>
            </a:r>
            <a:r>
              <a:rPr lang="en-IN" sz="1500" dirty="0">
                <a:solidFill>
                  <a:schemeClr val="bg1"/>
                </a:solidFill>
              </a:rPr>
              <a:t>();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("Object serialized successfully");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}</a:t>
            </a:r>
          </a:p>
          <a:p>
            <a:endParaRPr lang="en-IN" sz="1500" dirty="0">
              <a:solidFill>
                <a:schemeClr val="bg1"/>
              </a:solidFill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27BD347-D010-3B07-4DF1-04F3CF1060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6098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AEFE5-F55B-AB89-9C78-6D7A3E88F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E3369-2F37-9A3C-FC3B-2A7546F97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DeSerialization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02D6D-783F-EAAA-3AA4-E85887EA1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646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Deserialization</a:t>
            </a:r>
            <a:r>
              <a:rPr lang="en-US" sz="1800" dirty="0">
                <a:solidFill>
                  <a:schemeClr val="bg1"/>
                </a:solidFill>
              </a:rPr>
              <a:t> is the process of </a:t>
            </a:r>
            <a:r>
              <a:rPr lang="en-US" sz="1800" b="1" dirty="0">
                <a:solidFill>
                  <a:schemeClr val="bg1"/>
                </a:solidFill>
              </a:rPr>
              <a:t>converting a byte stream back into a Java object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F87C4-6D73-E77A-4022-B1E1885E5FFD}"/>
              </a:ext>
            </a:extLst>
          </p:cNvPr>
          <p:cNvSpPr txBox="1"/>
          <p:nvPr/>
        </p:nvSpPr>
        <p:spPr>
          <a:xfrm>
            <a:off x="134815" y="1834643"/>
            <a:ext cx="5615354" cy="401648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public class </a:t>
            </a:r>
            <a:r>
              <a:rPr lang="en-IN" sz="1500" dirty="0" err="1">
                <a:solidFill>
                  <a:schemeClr val="bg1"/>
                </a:solidFill>
              </a:rPr>
              <a:t>DeserializeDemo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500" dirty="0" err="1">
                <a:solidFill>
                  <a:schemeClr val="bg1"/>
                </a:solidFill>
              </a:rPr>
              <a:t>args</a:t>
            </a:r>
            <a:r>
              <a:rPr lang="en-IN" sz="1500" dirty="0">
                <a:solidFill>
                  <a:schemeClr val="bg1"/>
                </a:solidFill>
              </a:rPr>
              <a:t>)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throws </a:t>
            </a:r>
            <a:r>
              <a:rPr lang="en-IN" sz="1500" dirty="0" err="1">
                <a:solidFill>
                  <a:schemeClr val="bg1"/>
                </a:solidFill>
              </a:rPr>
              <a:t>IOException</a:t>
            </a:r>
            <a:r>
              <a:rPr lang="en-IN" sz="1500" dirty="0">
                <a:solidFill>
                  <a:schemeClr val="bg1"/>
                </a:solidFill>
              </a:rPr>
              <a:t>, </a:t>
            </a:r>
            <a:r>
              <a:rPr lang="en-IN" sz="1500" dirty="0" err="1">
                <a:solidFill>
                  <a:schemeClr val="bg1"/>
                </a:solidFill>
              </a:rPr>
              <a:t>ClassNotFoundException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ObjectInputStream</a:t>
            </a:r>
            <a:r>
              <a:rPr lang="en-IN" sz="1500" dirty="0">
                <a:solidFill>
                  <a:schemeClr val="bg1"/>
                </a:solidFill>
              </a:rPr>
              <a:t> </a:t>
            </a:r>
            <a:r>
              <a:rPr lang="en-IN" sz="1500" dirty="0" err="1">
                <a:solidFill>
                  <a:schemeClr val="bg1"/>
                </a:solidFill>
              </a:rPr>
              <a:t>ois</a:t>
            </a:r>
            <a:r>
              <a:rPr lang="en-IN" sz="1500" dirty="0">
                <a:solidFill>
                  <a:schemeClr val="bg1"/>
                </a:solidFill>
              </a:rPr>
              <a:t> =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new </a:t>
            </a:r>
            <a:r>
              <a:rPr lang="en-IN" sz="1500" dirty="0" err="1">
                <a:solidFill>
                  <a:schemeClr val="bg1"/>
                </a:solidFill>
              </a:rPr>
              <a:t>ObjectInputStream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        new </a:t>
            </a:r>
            <a:r>
              <a:rPr lang="en-IN" sz="1500" dirty="0" err="1">
                <a:solidFill>
                  <a:schemeClr val="bg1"/>
                </a:solidFill>
              </a:rPr>
              <a:t>FileInputStream</a:t>
            </a:r>
            <a:r>
              <a:rPr lang="en-IN" sz="1500" dirty="0">
                <a:solidFill>
                  <a:schemeClr val="bg1"/>
                </a:solidFill>
              </a:rPr>
              <a:t>("</a:t>
            </a:r>
            <a:r>
              <a:rPr lang="en-IN" sz="1500" dirty="0" err="1">
                <a:solidFill>
                  <a:schemeClr val="bg1"/>
                </a:solidFill>
              </a:rPr>
              <a:t>emp.ser</a:t>
            </a:r>
            <a:r>
              <a:rPr lang="en-IN" sz="1500" dirty="0">
                <a:solidFill>
                  <a:schemeClr val="bg1"/>
                </a:solidFill>
              </a:rPr>
              <a:t>")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Employee emp = (Employee) </a:t>
            </a:r>
            <a:r>
              <a:rPr lang="en-IN" sz="1500" dirty="0" err="1">
                <a:solidFill>
                  <a:schemeClr val="bg1"/>
                </a:solidFill>
              </a:rPr>
              <a:t>ois.readObject</a:t>
            </a:r>
            <a:r>
              <a:rPr lang="en-IN" sz="15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ois.close</a:t>
            </a:r>
            <a:r>
              <a:rPr lang="en-IN" sz="1500" dirty="0">
                <a:solidFill>
                  <a:schemeClr val="bg1"/>
                </a:solidFill>
              </a:rPr>
              <a:t>();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(emp.id);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(emp.name);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}</a:t>
            </a:r>
          </a:p>
          <a:p>
            <a:endParaRPr lang="en-IN" sz="1500" dirty="0">
              <a:solidFill>
                <a:schemeClr val="bg1"/>
              </a:solidFill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EB11B10-EE9E-5F2D-EEEF-2227E370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0728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FC916-56C1-EC65-D045-73BBBA6CD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AEB81-603E-7D10-0787-675719A54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Java.NIO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B9372-98DD-696F-0EAA-BA3216ACD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2202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bg1"/>
                </a:solidFill>
              </a:rPr>
              <a:t>java.nio</a:t>
            </a:r>
            <a:r>
              <a:rPr lang="en-US" sz="1800" dirty="0">
                <a:solidFill>
                  <a:schemeClr val="bg1"/>
                </a:solidFill>
              </a:rPr>
              <a:t> stands for </a:t>
            </a:r>
            <a:r>
              <a:rPr lang="en-US" sz="1800" b="1" dirty="0">
                <a:solidFill>
                  <a:schemeClr val="bg1"/>
                </a:solidFill>
              </a:rPr>
              <a:t>New Input/Output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BFC629E-A208-3846-06D8-212AB8A030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B63C09-89EB-DEB4-A13A-BE1E45E0A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521385"/>
              </p:ext>
            </p:extLst>
          </p:nvPr>
        </p:nvGraphicFramePr>
        <p:xfrm>
          <a:off x="370583" y="1846013"/>
          <a:ext cx="8583132" cy="3270995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4291566">
                  <a:extLst>
                    <a:ext uri="{9D8B030D-6E8A-4147-A177-3AD203B41FA5}">
                      <a16:colId xmlns:a16="http://schemas.microsoft.com/office/drawing/2014/main" val="2284598852"/>
                    </a:ext>
                  </a:extLst>
                </a:gridCol>
                <a:gridCol w="4291566">
                  <a:extLst>
                    <a:ext uri="{9D8B030D-6E8A-4147-A177-3AD203B41FA5}">
                      <a16:colId xmlns:a16="http://schemas.microsoft.com/office/drawing/2014/main" val="3518747018"/>
                    </a:ext>
                  </a:extLst>
                </a:gridCol>
              </a:tblGrid>
              <a:tr h="486319">
                <a:tc>
                  <a:txBody>
                    <a:bodyPr/>
                    <a:lstStyle/>
                    <a:p>
                      <a:r>
                        <a:rPr lang="en-IN" dirty="0"/>
                        <a:t>Java 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Java NIO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218395"/>
                  </a:ext>
                </a:extLst>
              </a:tr>
              <a:tr h="486319">
                <a:tc>
                  <a:txBody>
                    <a:bodyPr/>
                    <a:lstStyle/>
                    <a:p>
                      <a:r>
                        <a:rPr lang="en-US" dirty="0"/>
                        <a:t>Blocking I/O (thread waits)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Faster &amp; Non-blocking I/O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207234"/>
                  </a:ext>
                </a:extLst>
              </a:tr>
              <a:tr h="839400">
                <a:tc>
                  <a:txBody>
                    <a:bodyPr/>
                    <a:lstStyle/>
                    <a:p>
                      <a:r>
                        <a:rPr lang="en-US" dirty="0"/>
                        <a:t>Hard to scale for large data / many connections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Better scalability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783876"/>
                  </a:ext>
                </a:extLst>
              </a:tr>
              <a:tr h="486319">
                <a:tc>
                  <a:txBody>
                    <a:bodyPr/>
                    <a:lstStyle/>
                    <a:p>
                      <a:r>
                        <a:rPr lang="en-IN" dirty="0"/>
                        <a:t>Limited file utilities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Cleaner APIs (especially for files)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878273"/>
                  </a:ext>
                </a:extLst>
              </a:tr>
              <a:tr h="486319">
                <a:tc>
                  <a:txBody>
                    <a:bodyPr/>
                    <a:lstStyle/>
                    <a:p>
                      <a:r>
                        <a:rPr lang="en-US" dirty="0"/>
                        <a:t>Poor support for modern OS features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Support for modern OS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928623"/>
                  </a:ext>
                </a:extLst>
              </a:tr>
              <a:tr h="48631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92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233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C5E01-A382-E5EF-84B8-1413613EB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Java.NIO</a:t>
            </a:r>
            <a:r>
              <a:rPr lang="en-IN" sz="2400" dirty="0"/>
              <a:t> {</a:t>
            </a:r>
            <a:r>
              <a:rPr lang="en-IN" sz="2000" dirty="0"/>
              <a:t>Components</a:t>
            </a:r>
            <a:r>
              <a:rPr lang="en-IN" sz="2400" dirty="0"/>
              <a:t>}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399549-3041-AF6C-5F0B-2C8198674B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1574791"/>
              </p:ext>
            </p:extLst>
          </p:nvPr>
        </p:nvGraphicFramePr>
        <p:xfrm>
          <a:off x="248282" y="3064147"/>
          <a:ext cx="10112900" cy="3112595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5056450">
                  <a:extLst>
                    <a:ext uri="{9D8B030D-6E8A-4147-A177-3AD203B41FA5}">
                      <a16:colId xmlns:a16="http://schemas.microsoft.com/office/drawing/2014/main" val="2002175237"/>
                    </a:ext>
                  </a:extLst>
                </a:gridCol>
                <a:gridCol w="5056450">
                  <a:extLst>
                    <a:ext uri="{9D8B030D-6E8A-4147-A177-3AD203B41FA5}">
                      <a16:colId xmlns:a16="http://schemas.microsoft.com/office/drawing/2014/main" val="759827017"/>
                    </a:ext>
                  </a:extLst>
                </a:gridCol>
              </a:tblGrid>
              <a:tr h="622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Package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7227424"/>
                  </a:ext>
                </a:extLst>
              </a:tr>
              <a:tr h="622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java.nio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Buffers, channels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095926"/>
                  </a:ext>
                </a:extLst>
              </a:tr>
              <a:tr h="622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java.nio.file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Files, Path, directories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777814"/>
                  </a:ext>
                </a:extLst>
              </a:tr>
              <a:tr h="622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java.nio.channels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 &amp; network channels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962814"/>
                  </a:ext>
                </a:extLst>
              </a:tr>
              <a:tr h="622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java.nio.charset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Charset &amp; encoding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93403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029A61D-CC27-6342-3423-C9FD9AB0B23C}"/>
              </a:ext>
            </a:extLst>
          </p:cNvPr>
          <p:cNvSpPr txBox="1"/>
          <p:nvPr/>
        </p:nvSpPr>
        <p:spPr>
          <a:xfrm>
            <a:off x="0" y="947828"/>
            <a:ext cx="119780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</a:rPr>
              <a:t>java.nio</a:t>
            </a:r>
            <a:r>
              <a:rPr lang="en-US" dirty="0">
                <a:solidFill>
                  <a:schemeClr val="bg1"/>
                </a:solidFill>
              </a:rPr>
              <a:t> solves this with: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Buffers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Channels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Selectors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Paths &amp; Files API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B68FF33-A035-967F-6327-B178FDE371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7586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7B922-E216-2513-0E36-11CBCE1D9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Java.NIO</a:t>
            </a:r>
            <a:r>
              <a:rPr lang="en-IN" sz="2400" dirty="0"/>
              <a:t> {</a:t>
            </a:r>
            <a:r>
              <a:rPr lang="en-IN" sz="2000" dirty="0"/>
              <a:t>Buffers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AB85A-068C-8227-54B6-A2116BA4A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589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Buffer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 </a:t>
            </a:r>
            <a:r>
              <a:rPr lang="en-US" sz="1800" b="1" dirty="0">
                <a:solidFill>
                  <a:schemeClr val="bg1"/>
                </a:solidFill>
              </a:rPr>
              <a:t>Buffer</a:t>
            </a:r>
            <a:r>
              <a:rPr lang="en-US" sz="1800" dirty="0">
                <a:solidFill>
                  <a:schemeClr val="bg1"/>
                </a:solidFill>
              </a:rPr>
              <a:t> is a container for data. Common buffers: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solidFill>
                  <a:schemeClr val="bg1"/>
                </a:solidFill>
              </a:rPr>
              <a:t>ByteBuffer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solidFill>
                  <a:schemeClr val="bg1"/>
                </a:solidFill>
              </a:rPr>
              <a:t>CharBuffer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solidFill>
                  <a:schemeClr val="bg1"/>
                </a:solidFill>
              </a:rPr>
              <a:t>IntBuffer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Key properties: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capacity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position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limit</a:t>
            </a:r>
          </a:p>
          <a:p>
            <a:pPr marL="0" indent="0">
              <a:buNone/>
            </a:pPr>
            <a:endParaRPr lang="en-IN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Example:-</a:t>
            </a: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ByteBuffer</a:t>
            </a:r>
            <a:r>
              <a:rPr lang="en-IN" sz="1800" dirty="0">
                <a:solidFill>
                  <a:schemeClr val="bg1"/>
                </a:solidFill>
              </a:rPr>
              <a:t> buffer = </a:t>
            </a:r>
            <a:r>
              <a:rPr lang="en-IN" sz="1800" dirty="0" err="1">
                <a:solidFill>
                  <a:schemeClr val="bg1"/>
                </a:solidFill>
              </a:rPr>
              <a:t>ByteBuffer.allocate</a:t>
            </a:r>
            <a:r>
              <a:rPr lang="en-IN" sz="1800" dirty="0">
                <a:solidFill>
                  <a:schemeClr val="bg1"/>
                </a:solidFill>
              </a:rPr>
              <a:t>(1024);</a:t>
            </a:r>
          </a:p>
          <a:p>
            <a:pPr marL="0" indent="0">
              <a:buNone/>
            </a:pPr>
            <a:endParaRPr lang="en-IN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b="1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E0B94-1772-85B9-DF20-0E19083864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104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78012-AD8E-BE43-3FBB-3DF3BA907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Java.NIO</a:t>
            </a:r>
            <a:r>
              <a:rPr lang="en-IN" sz="2400" dirty="0"/>
              <a:t> {</a:t>
            </a:r>
            <a:r>
              <a:rPr lang="en-IN" sz="2000" dirty="0"/>
              <a:t>Channel (Data Transport)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460CD-E1F2-9AF4-3516-7F68C30F6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710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 </a:t>
            </a:r>
            <a:r>
              <a:rPr lang="en-US" sz="1800" b="1" dirty="0">
                <a:solidFill>
                  <a:schemeClr val="bg1"/>
                </a:solidFill>
              </a:rPr>
              <a:t>Channel</a:t>
            </a:r>
            <a:r>
              <a:rPr lang="en-US" sz="1800" dirty="0">
                <a:solidFill>
                  <a:schemeClr val="bg1"/>
                </a:solidFill>
              </a:rPr>
              <a:t> is like a stream, but: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Can read AND write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Works with buffers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Can be non-blocking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Common channels: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800" dirty="0" err="1">
                <a:solidFill>
                  <a:schemeClr val="bg1"/>
                </a:solidFill>
              </a:rPr>
              <a:t>FileChannel</a:t>
            </a:r>
            <a:endParaRPr lang="en-IN" sz="18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800" dirty="0" err="1">
                <a:solidFill>
                  <a:schemeClr val="bg1"/>
                </a:solidFill>
              </a:rPr>
              <a:t>SocketChannel</a:t>
            </a:r>
            <a:endParaRPr lang="en-IN" sz="18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800" dirty="0" err="1">
                <a:solidFill>
                  <a:schemeClr val="bg1"/>
                </a:solidFill>
              </a:rPr>
              <a:t>ServerSocketChannel</a:t>
            </a: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Example:-</a:t>
            </a: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FileChannel</a:t>
            </a:r>
            <a:r>
              <a:rPr lang="en-IN" sz="1800" dirty="0">
                <a:solidFill>
                  <a:schemeClr val="bg1"/>
                </a:solidFill>
              </a:rPr>
              <a:t> channel = </a:t>
            </a:r>
            <a:r>
              <a:rPr lang="en-IN" sz="1800" dirty="0" err="1">
                <a:solidFill>
                  <a:schemeClr val="bg1"/>
                </a:solidFill>
              </a:rPr>
              <a:t>FileChannel.open</a:t>
            </a:r>
            <a:r>
              <a:rPr lang="en-IN" sz="1800" dirty="0">
                <a:solidFill>
                  <a:schemeClr val="bg1"/>
                </a:solidFill>
              </a:rPr>
              <a:t>(</a:t>
            </a:r>
            <a:r>
              <a:rPr lang="en-IN" sz="1800" dirty="0" err="1">
                <a:solidFill>
                  <a:schemeClr val="bg1"/>
                </a:solidFill>
              </a:rPr>
              <a:t>Path.of</a:t>
            </a:r>
            <a:r>
              <a:rPr lang="en-IN" sz="1800" dirty="0">
                <a:solidFill>
                  <a:schemeClr val="bg1"/>
                </a:solidFill>
              </a:rPr>
              <a:t>("data.txt"));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6EB57-7BFB-F386-8294-B2A48E5180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1331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CBADD-2663-76A8-3FEC-F744ABC78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8D0C-9C48-48B4-95BF-B59706595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Java.NIO</a:t>
            </a:r>
            <a:r>
              <a:rPr lang="en-IN" sz="2400" dirty="0"/>
              <a:t> {</a:t>
            </a:r>
            <a:r>
              <a:rPr lang="en-IN" sz="2000" dirty="0"/>
              <a:t>Selector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C6EFA-9A15-5E79-9448-6EC0CAA00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710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 </a:t>
            </a:r>
            <a:r>
              <a:rPr lang="en-US" sz="1800" b="1" dirty="0">
                <a:solidFill>
                  <a:schemeClr val="bg1"/>
                </a:solidFill>
              </a:rPr>
              <a:t>Selector</a:t>
            </a:r>
            <a:r>
              <a:rPr lang="en-US" sz="1800" dirty="0">
                <a:solidFill>
                  <a:schemeClr val="bg1"/>
                </a:solidFill>
              </a:rPr>
              <a:t> lets </a:t>
            </a:r>
            <a:r>
              <a:rPr lang="en-US" sz="1800" b="1" dirty="0">
                <a:solidFill>
                  <a:schemeClr val="bg1"/>
                </a:solidFill>
              </a:rPr>
              <a:t>one thread manage multiple channels</a:t>
            </a:r>
            <a:r>
              <a:rPr lang="en-US" sz="1800" dirty="0">
                <a:solidFill>
                  <a:schemeClr val="bg1"/>
                </a:solidFill>
              </a:rPr>
              <a:t>. It is mostly used for network </a:t>
            </a:r>
            <a:r>
              <a:rPr lang="en-US" sz="1800" dirty="0" err="1">
                <a:solidFill>
                  <a:schemeClr val="bg1"/>
                </a:solidFill>
              </a:rPr>
              <a:t>i</a:t>
            </a:r>
            <a:r>
              <a:rPr lang="en-US" sz="1800" dirty="0">
                <a:solidFill>
                  <a:schemeClr val="bg1"/>
                </a:solidFill>
              </a:rPr>
              <a:t>/o and not for files.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Example:-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Selector </a:t>
            </a:r>
            <a:r>
              <a:rPr lang="en-US" sz="1800" dirty="0" err="1">
                <a:solidFill>
                  <a:schemeClr val="bg1"/>
                </a:solidFill>
              </a:rPr>
              <a:t>selector</a:t>
            </a:r>
            <a:r>
              <a:rPr lang="en-US" sz="1800" dirty="0">
                <a:solidFill>
                  <a:schemeClr val="bg1"/>
                </a:solidFill>
              </a:rPr>
              <a:t> = </a:t>
            </a:r>
            <a:r>
              <a:rPr lang="en-US" sz="1800" dirty="0" err="1">
                <a:solidFill>
                  <a:schemeClr val="bg1"/>
                </a:solidFill>
              </a:rPr>
              <a:t>Selector.open</a:t>
            </a:r>
            <a:r>
              <a:rPr lang="en-US" sz="1800" dirty="0">
                <a:solidFill>
                  <a:schemeClr val="bg1"/>
                </a:solidFill>
              </a:rPr>
              <a:t>();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b="1" dirty="0" err="1">
                <a:solidFill>
                  <a:schemeClr val="bg1"/>
                </a:solidFill>
              </a:rPr>
              <a:t>java.nio.file</a:t>
            </a:r>
            <a:endParaRPr lang="en-IN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6405DF-68C4-45B3-8566-7C9D1E10B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641400"/>
              </p:ext>
            </p:extLst>
          </p:nvPr>
        </p:nvGraphicFramePr>
        <p:xfrm>
          <a:off x="160254" y="3519768"/>
          <a:ext cx="9898146" cy="20695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4949073">
                  <a:extLst>
                    <a:ext uri="{9D8B030D-6E8A-4147-A177-3AD203B41FA5}">
                      <a16:colId xmlns:a16="http://schemas.microsoft.com/office/drawing/2014/main" val="2862218425"/>
                    </a:ext>
                  </a:extLst>
                </a:gridCol>
                <a:gridCol w="4949073">
                  <a:extLst>
                    <a:ext uri="{9D8B030D-6E8A-4147-A177-3AD203B41FA5}">
                      <a16:colId xmlns:a16="http://schemas.microsoft.com/office/drawing/2014/main" val="3134345152"/>
                    </a:ext>
                  </a:extLst>
                </a:gridCol>
              </a:tblGrid>
              <a:tr h="517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05439"/>
                  </a:ext>
                </a:extLst>
              </a:tr>
              <a:tr h="517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Path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File 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513711"/>
                  </a:ext>
                </a:extLst>
              </a:tr>
              <a:tr h="517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Files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File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5460982"/>
                  </a:ext>
                </a:extLst>
              </a:tr>
              <a:tr h="517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Paths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Create Path objects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4192996"/>
                  </a:ext>
                </a:extLst>
              </a:tr>
            </a:tbl>
          </a:graphicData>
        </a:graphic>
      </p:graphicFrame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3186221-46D9-20A6-B160-58903E58B4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3355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418B7-ED0C-073A-569B-D5C079869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7BEB4-D308-A78D-2175-D9B5A36E2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Java.NIO</a:t>
            </a:r>
            <a:r>
              <a:rPr lang="en-IN" sz="2400" dirty="0"/>
              <a:t> {</a:t>
            </a:r>
            <a:r>
              <a:rPr lang="en-IN" sz="2000" dirty="0"/>
              <a:t>File &amp; Path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B4884-4A19-93F3-03E0-BB2524624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710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 err="1">
                <a:solidFill>
                  <a:schemeClr val="bg1"/>
                </a:solidFill>
              </a:rPr>
              <a:t>java.nio.file</a:t>
            </a:r>
            <a:endParaRPr lang="en-IN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This is where modern file handling lives. A quick comparison between older File class vs new Path class:-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8A1B25-3730-A929-4E73-646A14B20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999968"/>
              </p:ext>
            </p:extLst>
          </p:nvPr>
        </p:nvGraphicFramePr>
        <p:xfrm>
          <a:off x="238977" y="4252498"/>
          <a:ext cx="9898146" cy="20695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4949073">
                  <a:extLst>
                    <a:ext uri="{9D8B030D-6E8A-4147-A177-3AD203B41FA5}">
                      <a16:colId xmlns:a16="http://schemas.microsoft.com/office/drawing/2014/main" val="2862218425"/>
                    </a:ext>
                  </a:extLst>
                </a:gridCol>
                <a:gridCol w="4949073">
                  <a:extLst>
                    <a:ext uri="{9D8B030D-6E8A-4147-A177-3AD203B41FA5}">
                      <a16:colId xmlns:a16="http://schemas.microsoft.com/office/drawing/2014/main" val="3134345152"/>
                    </a:ext>
                  </a:extLst>
                </a:gridCol>
              </a:tblGrid>
              <a:tr h="517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05439"/>
                  </a:ext>
                </a:extLst>
              </a:tr>
              <a:tr h="517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</a:rPr>
                        <a:t>Path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File 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513711"/>
                  </a:ext>
                </a:extLst>
              </a:tr>
              <a:tr h="517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</a:rPr>
                        <a:t>Files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File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5460982"/>
                  </a:ext>
                </a:extLst>
              </a:tr>
              <a:tr h="517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</a:rPr>
                        <a:t>Paths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Create Path objects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419299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31CF355-6C7C-4F9B-3355-C9BC1F229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637931"/>
              </p:ext>
            </p:extLst>
          </p:nvPr>
        </p:nvGraphicFramePr>
        <p:xfrm>
          <a:off x="238977" y="2050593"/>
          <a:ext cx="9613900" cy="14630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4806950">
                  <a:extLst>
                    <a:ext uri="{9D8B030D-6E8A-4147-A177-3AD203B41FA5}">
                      <a16:colId xmlns:a16="http://schemas.microsoft.com/office/drawing/2014/main" val="1660043405"/>
                    </a:ext>
                  </a:extLst>
                </a:gridCol>
                <a:gridCol w="4806950">
                  <a:extLst>
                    <a:ext uri="{9D8B030D-6E8A-4147-A177-3AD203B41FA5}">
                      <a16:colId xmlns:a16="http://schemas.microsoft.com/office/drawing/2014/main" val="10745197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File (old)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Path (new)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8758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Mutable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Immutable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497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Limited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Rich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3744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Legacy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Modern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06838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F719183-094B-B32F-66BE-EA9A8441F2BC}"/>
              </a:ext>
            </a:extLst>
          </p:cNvPr>
          <p:cNvSpPr txBox="1"/>
          <p:nvPr/>
        </p:nvSpPr>
        <p:spPr>
          <a:xfrm>
            <a:off x="42392" y="3804383"/>
            <a:ext cx="1103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Important classes in </a:t>
            </a:r>
            <a:r>
              <a:rPr lang="en-IN" dirty="0" err="1">
                <a:solidFill>
                  <a:schemeClr val="bg1"/>
                </a:solidFill>
              </a:rPr>
              <a:t>java.nio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BCAAE2B-C847-23EF-485C-C672E634AB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9014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06BC-EB11-7228-7D6C-EC8D6A007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Java.NIO</a:t>
            </a:r>
            <a:r>
              <a:rPr lang="en-IN" sz="2400" dirty="0"/>
              <a:t> {</a:t>
            </a:r>
            <a:r>
              <a:rPr lang="en-IN" sz="2000" dirty="0"/>
              <a:t>File &amp; Path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F5F25-CF76-C22E-F1F1-DAB4026F3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File Read in </a:t>
            </a:r>
            <a:r>
              <a:rPr lang="en-IN" sz="1800" dirty="0" err="1">
                <a:solidFill>
                  <a:schemeClr val="bg1"/>
                </a:solidFill>
              </a:rPr>
              <a:t>java.nio</a:t>
            </a:r>
            <a:r>
              <a:rPr lang="en-IN" sz="1800" dirty="0">
                <a:solidFill>
                  <a:schemeClr val="bg1"/>
                </a:solidFill>
              </a:rPr>
              <a:t> (Strings and characters)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DD3F37-E5BF-15D4-160F-AD7AF88892A4}"/>
              </a:ext>
            </a:extLst>
          </p:cNvPr>
          <p:cNvSpPr txBox="1"/>
          <p:nvPr/>
        </p:nvSpPr>
        <p:spPr>
          <a:xfrm>
            <a:off x="158056" y="2066482"/>
            <a:ext cx="5771015" cy="4247317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public class </a:t>
            </a:r>
            <a:r>
              <a:rPr lang="en-IN" sz="1500" dirty="0" err="1">
                <a:solidFill>
                  <a:schemeClr val="bg1"/>
                </a:solidFill>
              </a:rPr>
              <a:t>FileReadExample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500" dirty="0" err="1">
                <a:solidFill>
                  <a:schemeClr val="bg1"/>
                </a:solidFill>
              </a:rPr>
              <a:t>args</a:t>
            </a:r>
            <a:r>
              <a:rPr lang="en-IN" sz="1500" dirty="0">
                <a:solidFill>
                  <a:schemeClr val="bg1"/>
                </a:solidFill>
              </a:rPr>
              <a:t>) {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Path </a:t>
            </a:r>
            <a:r>
              <a:rPr lang="en-IN" sz="1500" dirty="0" err="1">
                <a:solidFill>
                  <a:schemeClr val="bg1"/>
                </a:solidFill>
              </a:rPr>
              <a:t>path</a:t>
            </a:r>
            <a:r>
              <a:rPr lang="en-IN" sz="1500" dirty="0">
                <a:solidFill>
                  <a:schemeClr val="bg1"/>
                </a:solidFill>
              </a:rPr>
              <a:t> = </a:t>
            </a:r>
            <a:r>
              <a:rPr lang="en-IN" sz="1500" dirty="0" err="1">
                <a:solidFill>
                  <a:schemeClr val="bg1"/>
                </a:solidFill>
              </a:rPr>
              <a:t>Path.of</a:t>
            </a:r>
            <a:r>
              <a:rPr lang="en-IN" sz="1500" dirty="0">
                <a:solidFill>
                  <a:schemeClr val="bg1"/>
                </a:solidFill>
              </a:rPr>
              <a:t>("data.txt");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try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List&lt;String&gt; lines =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    </a:t>
            </a:r>
            <a:r>
              <a:rPr lang="en-IN" sz="1500" dirty="0" err="1">
                <a:solidFill>
                  <a:schemeClr val="bg1"/>
                </a:solidFill>
              </a:rPr>
              <a:t>Files.readAllLines</a:t>
            </a:r>
            <a:r>
              <a:rPr lang="en-IN" sz="1500" dirty="0">
                <a:solidFill>
                  <a:schemeClr val="bg1"/>
                </a:solidFill>
              </a:rPr>
              <a:t>(path, StandardCharsets.UTF_8);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    for (String line : lines)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(line);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}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} catch (</a:t>
            </a:r>
            <a:r>
              <a:rPr lang="en-IN" sz="1500" dirty="0" err="1">
                <a:solidFill>
                  <a:schemeClr val="bg1"/>
                </a:solidFill>
              </a:rPr>
              <a:t>IOException</a:t>
            </a:r>
            <a:r>
              <a:rPr lang="en-IN" sz="1500" dirty="0">
                <a:solidFill>
                  <a:schemeClr val="bg1"/>
                </a:solidFill>
              </a:rPr>
              <a:t> e)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</a:t>
            </a:r>
            <a:r>
              <a:rPr lang="en-IN" sz="1500" dirty="0" err="1">
                <a:solidFill>
                  <a:schemeClr val="bg1"/>
                </a:solidFill>
              </a:rPr>
              <a:t>e.printStackTrace</a:t>
            </a:r>
            <a:r>
              <a:rPr lang="en-IN" sz="15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6367E-6699-0C80-C6BE-FD7BAB55442C}"/>
              </a:ext>
            </a:extLst>
          </p:cNvPr>
          <p:cNvSpPr txBox="1"/>
          <p:nvPr/>
        </p:nvSpPr>
        <p:spPr>
          <a:xfrm>
            <a:off x="1380683" y="1592630"/>
            <a:ext cx="327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Reading all lines from a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FF0FF-15DA-387A-7EDF-F708D913DFD2}"/>
              </a:ext>
            </a:extLst>
          </p:cNvPr>
          <p:cNvSpPr txBox="1"/>
          <p:nvPr/>
        </p:nvSpPr>
        <p:spPr>
          <a:xfrm>
            <a:off x="6096000" y="2062948"/>
            <a:ext cx="5937944" cy="309315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public class </a:t>
            </a:r>
            <a:r>
              <a:rPr lang="en-IN" sz="1500" dirty="0" err="1">
                <a:solidFill>
                  <a:schemeClr val="bg1"/>
                </a:solidFill>
              </a:rPr>
              <a:t>FileReadExample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500" dirty="0" err="1">
                <a:solidFill>
                  <a:schemeClr val="bg1"/>
                </a:solidFill>
              </a:rPr>
              <a:t>args</a:t>
            </a:r>
            <a:r>
              <a:rPr lang="en-IN" sz="1500" dirty="0">
                <a:solidFill>
                  <a:schemeClr val="bg1"/>
                </a:solidFill>
              </a:rPr>
              <a:t>) {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Path </a:t>
            </a:r>
            <a:r>
              <a:rPr lang="en-IN" sz="1500" dirty="0" err="1">
                <a:solidFill>
                  <a:schemeClr val="bg1"/>
                </a:solidFill>
              </a:rPr>
              <a:t>path</a:t>
            </a:r>
            <a:r>
              <a:rPr lang="en-IN" sz="1500" dirty="0">
                <a:solidFill>
                  <a:schemeClr val="bg1"/>
                </a:solidFill>
              </a:rPr>
              <a:t> = </a:t>
            </a:r>
            <a:r>
              <a:rPr lang="en-IN" sz="1500" dirty="0" err="1">
                <a:solidFill>
                  <a:schemeClr val="bg1"/>
                </a:solidFill>
              </a:rPr>
              <a:t>Path.of</a:t>
            </a:r>
            <a:r>
              <a:rPr lang="en-IN" sz="1500" dirty="0">
                <a:solidFill>
                  <a:schemeClr val="bg1"/>
                </a:solidFill>
              </a:rPr>
              <a:t>("data.txt");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	try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		</a:t>
            </a:r>
            <a:r>
              <a:rPr lang="en-IN" sz="1500" dirty="0" err="1">
                <a:solidFill>
                  <a:schemeClr val="bg1"/>
                </a:solidFill>
              </a:rPr>
              <a:t>Files.lines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Path.of</a:t>
            </a:r>
            <a:r>
              <a:rPr lang="en-IN" sz="1500" dirty="0">
                <a:solidFill>
                  <a:schemeClr val="bg1"/>
                </a:solidFill>
              </a:rPr>
              <a:t>("data.txt"), StandardCharsets.UTF_8)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		 .</a:t>
            </a:r>
            <a:r>
              <a:rPr lang="en-IN" sz="1500" dirty="0" err="1">
                <a:solidFill>
                  <a:schemeClr val="bg1"/>
                </a:solidFill>
              </a:rPr>
              <a:t>forEach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System.out</a:t>
            </a:r>
            <a:r>
              <a:rPr lang="en-IN" sz="1500" dirty="0">
                <a:solidFill>
                  <a:schemeClr val="bg1"/>
                </a:solidFill>
              </a:rPr>
              <a:t>::</a:t>
            </a:r>
            <a:r>
              <a:rPr lang="en-IN" sz="1500" dirty="0" err="1">
                <a:solidFill>
                  <a:schemeClr val="bg1"/>
                </a:solidFill>
              </a:rPr>
              <a:t>println</a:t>
            </a:r>
            <a:r>
              <a:rPr lang="en-IN" sz="1500" dirty="0">
                <a:solidFill>
                  <a:schemeClr val="bg1"/>
                </a:solidFill>
              </a:rPr>
              <a:t>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	} catch (</a:t>
            </a:r>
            <a:r>
              <a:rPr lang="en-IN" sz="1500" dirty="0" err="1">
                <a:solidFill>
                  <a:schemeClr val="bg1"/>
                </a:solidFill>
              </a:rPr>
              <a:t>IOException</a:t>
            </a:r>
            <a:r>
              <a:rPr lang="en-IN" sz="1500" dirty="0">
                <a:solidFill>
                  <a:schemeClr val="bg1"/>
                </a:solidFill>
              </a:rPr>
              <a:t> e)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		</a:t>
            </a:r>
            <a:r>
              <a:rPr lang="en-IN" sz="1500" dirty="0" err="1">
                <a:solidFill>
                  <a:schemeClr val="bg1"/>
                </a:solidFill>
              </a:rPr>
              <a:t>e.printStackTrace</a:t>
            </a:r>
            <a:r>
              <a:rPr lang="en-IN" sz="15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	}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69D765-11AA-A29C-EF34-2FF7C7E91009}"/>
              </a:ext>
            </a:extLst>
          </p:cNvPr>
          <p:cNvSpPr txBox="1"/>
          <p:nvPr/>
        </p:nvSpPr>
        <p:spPr>
          <a:xfrm>
            <a:off x="7535221" y="1592630"/>
            <a:ext cx="327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Reading lines using loop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9654162-CA19-EF75-68A2-6CE85E161C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91365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78A00-869D-311D-D54A-5D9B992E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29E4E-AB5C-4CA4-B131-41184BF2C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Java.NIO</a:t>
            </a:r>
            <a:r>
              <a:rPr lang="en-IN" sz="2400" dirty="0"/>
              <a:t> {</a:t>
            </a:r>
            <a:r>
              <a:rPr lang="en-IN" sz="2000" dirty="0"/>
              <a:t>File &amp; Path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2A0DE-A868-6BAC-D5E7-4B1EBAD25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File Write in </a:t>
            </a:r>
            <a:r>
              <a:rPr lang="en-IN" sz="1800" dirty="0" err="1">
                <a:solidFill>
                  <a:schemeClr val="bg1"/>
                </a:solidFill>
              </a:rPr>
              <a:t>java.nio</a:t>
            </a:r>
            <a:r>
              <a:rPr lang="en-IN" sz="1800" dirty="0">
                <a:solidFill>
                  <a:schemeClr val="bg1"/>
                </a:solidFill>
              </a:rPr>
              <a:t> (Strings and characters)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6A9AF1-C88D-9DD9-2635-F4CB49CB1C64}"/>
              </a:ext>
            </a:extLst>
          </p:cNvPr>
          <p:cNvSpPr txBox="1"/>
          <p:nvPr/>
        </p:nvSpPr>
        <p:spPr>
          <a:xfrm>
            <a:off x="36726" y="1552750"/>
            <a:ext cx="5771015" cy="493981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public class </a:t>
            </a:r>
            <a:r>
              <a:rPr lang="en-IN" sz="1500" dirty="0" err="1">
                <a:solidFill>
                  <a:schemeClr val="bg1"/>
                </a:solidFill>
              </a:rPr>
              <a:t>FileWriteExample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500" dirty="0" err="1">
                <a:solidFill>
                  <a:schemeClr val="bg1"/>
                </a:solidFill>
              </a:rPr>
              <a:t>args</a:t>
            </a:r>
            <a:r>
              <a:rPr lang="en-IN" sz="1500" dirty="0">
                <a:solidFill>
                  <a:schemeClr val="bg1"/>
                </a:solidFill>
              </a:rPr>
              <a:t>) {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Path </a:t>
            </a:r>
            <a:r>
              <a:rPr lang="en-IN" sz="1500" dirty="0" err="1">
                <a:solidFill>
                  <a:schemeClr val="bg1"/>
                </a:solidFill>
              </a:rPr>
              <a:t>path</a:t>
            </a:r>
            <a:r>
              <a:rPr lang="en-IN" sz="1500" dirty="0">
                <a:solidFill>
                  <a:schemeClr val="bg1"/>
                </a:solidFill>
              </a:rPr>
              <a:t> = </a:t>
            </a:r>
            <a:r>
              <a:rPr lang="en-IN" sz="1500" dirty="0" err="1">
                <a:solidFill>
                  <a:schemeClr val="bg1"/>
                </a:solidFill>
              </a:rPr>
              <a:t>Path.of</a:t>
            </a:r>
            <a:r>
              <a:rPr lang="en-IN" sz="1500" dirty="0">
                <a:solidFill>
                  <a:schemeClr val="bg1"/>
                </a:solidFill>
              </a:rPr>
              <a:t>("output.txt");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List&lt;String&gt; content = </a:t>
            </a:r>
            <a:r>
              <a:rPr lang="en-IN" sz="1500" dirty="0" err="1">
                <a:solidFill>
                  <a:schemeClr val="bg1"/>
                </a:solidFill>
              </a:rPr>
              <a:t>List.of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"Java NIO File Writing",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"This is a complete example",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"Using UTF-8 encoding"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try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</a:t>
            </a:r>
            <a:r>
              <a:rPr lang="en-IN" sz="1500" dirty="0" err="1">
                <a:solidFill>
                  <a:schemeClr val="bg1"/>
                </a:solidFill>
              </a:rPr>
              <a:t>Files.write</a:t>
            </a:r>
            <a:r>
              <a:rPr lang="en-IN" sz="1500" dirty="0">
                <a:solidFill>
                  <a:schemeClr val="bg1"/>
                </a:solidFill>
              </a:rPr>
              <a:t>(path, content, StandardCharsets.UTF_8);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("File written successfully");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} catch (</a:t>
            </a:r>
            <a:r>
              <a:rPr lang="en-IN" sz="1500" dirty="0" err="1">
                <a:solidFill>
                  <a:schemeClr val="bg1"/>
                </a:solidFill>
              </a:rPr>
              <a:t>IOException</a:t>
            </a:r>
            <a:r>
              <a:rPr lang="en-IN" sz="1500" dirty="0">
                <a:solidFill>
                  <a:schemeClr val="bg1"/>
                </a:solidFill>
              </a:rPr>
              <a:t> e)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</a:t>
            </a:r>
            <a:r>
              <a:rPr lang="en-IN" sz="1500" dirty="0" err="1">
                <a:solidFill>
                  <a:schemeClr val="bg1"/>
                </a:solidFill>
              </a:rPr>
              <a:t>e.printStackTrace</a:t>
            </a:r>
            <a:r>
              <a:rPr lang="en-IN" sz="15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}</a:t>
            </a:r>
          </a:p>
          <a:p>
            <a:endParaRPr lang="en-IN" sz="1500" dirty="0">
              <a:solidFill>
                <a:schemeClr val="bg1"/>
              </a:solidFill>
            </a:endParaRP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9B8BABE-B4BA-7227-C53A-4DB44BEE3A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1201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EBDE5-7C87-032B-56BC-FBA8BA59F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A1210-43D3-2792-84BB-EA492950F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Java.NIO</a:t>
            </a:r>
            <a:r>
              <a:rPr lang="en-IN" sz="2400" dirty="0"/>
              <a:t> {</a:t>
            </a:r>
            <a:r>
              <a:rPr lang="en-IN" sz="2000" dirty="0"/>
              <a:t>File &amp; Path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02C5A-87D7-D200-076D-C12B78D2B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File Read in </a:t>
            </a:r>
            <a:r>
              <a:rPr lang="en-IN" sz="1800" dirty="0" err="1">
                <a:solidFill>
                  <a:schemeClr val="bg1"/>
                </a:solidFill>
              </a:rPr>
              <a:t>java.nio</a:t>
            </a:r>
            <a:r>
              <a:rPr lang="en-IN" sz="1800" dirty="0">
                <a:solidFill>
                  <a:schemeClr val="bg1"/>
                </a:solidFill>
              </a:rPr>
              <a:t> (Binary Data)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9B3D60-718C-5734-AE0C-F5DFB9CBCC14}"/>
              </a:ext>
            </a:extLst>
          </p:cNvPr>
          <p:cNvSpPr txBox="1"/>
          <p:nvPr/>
        </p:nvSpPr>
        <p:spPr>
          <a:xfrm>
            <a:off x="36725" y="1928201"/>
            <a:ext cx="5771015" cy="355481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import </a:t>
            </a:r>
            <a:r>
              <a:rPr lang="en-IN" sz="1500" dirty="0" err="1">
                <a:solidFill>
                  <a:schemeClr val="bg1"/>
                </a:solidFill>
              </a:rPr>
              <a:t>java.io.IOException</a:t>
            </a:r>
            <a:r>
              <a:rPr lang="en-IN" sz="1500" dirty="0">
                <a:solidFill>
                  <a:schemeClr val="bg1"/>
                </a:solidFill>
              </a:rPr>
              <a:t>;</a:t>
            </a:r>
          </a:p>
          <a:p>
            <a:r>
              <a:rPr lang="en-IN" sz="1500" dirty="0">
                <a:solidFill>
                  <a:schemeClr val="bg1"/>
                </a:solidFill>
              </a:rPr>
              <a:t>import </a:t>
            </a:r>
            <a:r>
              <a:rPr lang="en-IN" sz="1500" dirty="0" err="1">
                <a:solidFill>
                  <a:schemeClr val="bg1"/>
                </a:solidFill>
              </a:rPr>
              <a:t>java.nio.file.Files</a:t>
            </a:r>
            <a:r>
              <a:rPr lang="en-IN" sz="1500" dirty="0">
                <a:solidFill>
                  <a:schemeClr val="bg1"/>
                </a:solidFill>
              </a:rPr>
              <a:t>;</a:t>
            </a:r>
          </a:p>
          <a:p>
            <a:r>
              <a:rPr lang="en-IN" sz="1500" dirty="0">
                <a:solidFill>
                  <a:schemeClr val="bg1"/>
                </a:solidFill>
              </a:rPr>
              <a:t>import </a:t>
            </a:r>
            <a:r>
              <a:rPr lang="en-IN" sz="1500" dirty="0" err="1">
                <a:solidFill>
                  <a:schemeClr val="bg1"/>
                </a:solidFill>
              </a:rPr>
              <a:t>java.nio.file.Path</a:t>
            </a:r>
            <a:r>
              <a:rPr lang="en-IN" sz="1500" dirty="0">
                <a:solidFill>
                  <a:schemeClr val="bg1"/>
                </a:solidFill>
              </a:rPr>
              <a:t>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public class </a:t>
            </a:r>
            <a:r>
              <a:rPr lang="en-IN" sz="1500" dirty="0" err="1">
                <a:solidFill>
                  <a:schemeClr val="bg1"/>
                </a:solidFill>
              </a:rPr>
              <a:t>BinaryReadExample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500" dirty="0" err="1">
                <a:solidFill>
                  <a:schemeClr val="bg1"/>
                </a:solidFill>
              </a:rPr>
              <a:t>args</a:t>
            </a:r>
            <a:r>
              <a:rPr lang="en-IN" sz="1500" dirty="0">
                <a:solidFill>
                  <a:schemeClr val="bg1"/>
                </a:solidFill>
              </a:rPr>
              <a:t>) throws </a:t>
            </a:r>
            <a:r>
              <a:rPr lang="en-IN" sz="1500" dirty="0" err="1">
                <a:solidFill>
                  <a:schemeClr val="bg1"/>
                </a:solidFill>
              </a:rPr>
              <a:t>IOException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Path </a:t>
            </a:r>
            <a:r>
              <a:rPr lang="en-IN" sz="1500" dirty="0" err="1">
                <a:solidFill>
                  <a:schemeClr val="bg1"/>
                </a:solidFill>
              </a:rPr>
              <a:t>path</a:t>
            </a:r>
            <a:r>
              <a:rPr lang="en-IN" sz="1500" dirty="0">
                <a:solidFill>
                  <a:schemeClr val="bg1"/>
                </a:solidFill>
              </a:rPr>
              <a:t> = </a:t>
            </a:r>
            <a:r>
              <a:rPr lang="en-IN" sz="1500" dirty="0" err="1">
                <a:solidFill>
                  <a:schemeClr val="bg1"/>
                </a:solidFill>
              </a:rPr>
              <a:t>Path.of</a:t>
            </a:r>
            <a:r>
              <a:rPr lang="en-IN" sz="1500" dirty="0">
                <a:solidFill>
                  <a:schemeClr val="bg1"/>
                </a:solidFill>
              </a:rPr>
              <a:t>("image.jpg");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byte[] data = </a:t>
            </a:r>
            <a:r>
              <a:rPr lang="en-IN" sz="1500" dirty="0" err="1">
                <a:solidFill>
                  <a:schemeClr val="bg1"/>
                </a:solidFill>
              </a:rPr>
              <a:t>Files.readAllBytes</a:t>
            </a:r>
            <a:r>
              <a:rPr lang="en-IN" sz="1500" dirty="0">
                <a:solidFill>
                  <a:schemeClr val="bg1"/>
                </a:solidFill>
              </a:rPr>
              <a:t>(path);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("Bytes read: " + </a:t>
            </a:r>
            <a:r>
              <a:rPr lang="en-IN" sz="1500" dirty="0" err="1">
                <a:solidFill>
                  <a:schemeClr val="bg1"/>
                </a:solidFill>
              </a:rPr>
              <a:t>data.length</a:t>
            </a:r>
            <a:r>
              <a:rPr lang="en-IN" sz="1500" dirty="0">
                <a:solidFill>
                  <a:schemeClr val="bg1"/>
                </a:solidFill>
              </a:rPr>
              <a:t>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}</a:t>
            </a:r>
          </a:p>
          <a:p>
            <a:endParaRPr lang="en-IN" sz="15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248C55-9FB4-ABB4-0B25-3F1F8E5887D2}"/>
              </a:ext>
            </a:extLst>
          </p:cNvPr>
          <p:cNvSpPr txBox="1"/>
          <p:nvPr/>
        </p:nvSpPr>
        <p:spPr>
          <a:xfrm>
            <a:off x="1507851" y="1487977"/>
            <a:ext cx="270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Reading all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132AA3-4D24-19A1-8A19-95154614CA36}"/>
              </a:ext>
            </a:extLst>
          </p:cNvPr>
          <p:cNvSpPr txBox="1"/>
          <p:nvPr/>
        </p:nvSpPr>
        <p:spPr>
          <a:xfrm>
            <a:off x="5929071" y="1928201"/>
            <a:ext cx="6035444" cy="480131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public class </a:t>
            </a:r>
            <a:r>
              <a:rPr lang="en-IN" sz="1500" dirty="0" err="1">
                <a:solidFill>
                  <a:schemeClr val="bg1"/>
                </a:solidFill>
              </a:rPr>
              <a:t>LargeBinaryReadNIO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500" dirty="0" err="1">
                <a:solidFill>
                  <a:schemeClr val="bg1"/>
                </a:solidFill>
              </a:rPr>
              <a:t>args</a:t>
            </a:r>
            <a:r>
              <a:rPr lang="en-IN" sz="1500" dirty="0">
                <a:solidFill>
                  <a:schemeClr val="bg1"/>
                </a:solidFill>
              </a:rPr>
              <a:t>) throws </a:t>
            </a:r>
            <a:r>
              <a:rPr lang="en-IN" sz="1500" dirty="0" err="1">
                <a:solidFill>
                  <a:schemeClr val="bg1"/>
                </a:solidFill>
              </a:rPr>
              <a:t>IOException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endParaRPr lang="en-IN" sz="2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Path </a:t>
            </a:r>
            <a:r>
              <a:rPr lang="en-IN" sz="1500" dirty="0" err="1">
                <a:solidFill>
                  <a:schemeClr val="bg1"/>
                </a:solidFill>
              </a:rPr>
              <a:t>path</a:t>
            </a:r>
            <a:r>
              <a:rPr lang="en-IN" sz="1500" dirty="0">
                <a:solidFill>
                  <a:schemeClr val="bg1"/>
                </a:solidFill>
              </a:rPr>
              <a:t> = </a:t>
            </a:r>
            <a:r>
              <a:rPr lang="en-IN" sz="1500" dirty="0" err="1">
                <a:solidFill>
                  <a:schemeClr val="bg1"/>
                </a:solidFill>
              </a:rPr>
              <a:t>Path.of</a:t>
            </a:r>
            <a:r>
              <a:rPr lang="en-IN" sz="1500" dirty="0">
                <a:solidFill>
                  <a:schemeClr val="bg1"/>
                </a:solidFill>
              </a:rPr>
              <a:t>("large_video.mp4");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try (</a:t>
            </a:r>
            <a:r>
              <a:rPr lang="en-IN" sz="1500" dirty="0" err="1">
                <a:solidFill>
                  <a:schemeClr val="bg1"/>
                </a:solidFill>
              </a:rPr>
              <a:t>FileChannel</a:t>
            </a:r>
            <a:r>
              <a:rPr lang="en-IN" sz="1500" dirty="0">
                <a:solidFill>
                  <a:schemeClr val="bg1"/>
                </a:solidFill>
              </a:rPr>
              <a:t> channel =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     </a:t>
            </a:r>
            <a:r>
              <a:rPr lang="en-IN" sz="1500" dirty="0" err="1">
                <a:solidFill>
                  <a:schemeClr val="bg1"/>
                </a:solidFill>
              </a:rPr>
              <a:t>FileChannel.open</a:t>
            </a:r>
            <a:r>
              <a:rPr lang="en-IN" sz="1500" dirty="0">
                <a:solidFill>
                  <a:schemeClr val="bg1"/>
                </a:solidFill>
              </a:rPr>
              <a:t>(path, </a:t>
            </a:r>
            <a:r>
              <a:rPr lang="en-IN" sz="1500" dirty="0" err="1">
                <a:solidFill>
                  <a:schemeClr val="bg1"/>
                </a:solidFill>
              </a:rPr>
              <a:t>StandardOpenOption.READ</a:t>
            </a:r>
            <a:r>
              <a:rPr lang="en-IN" sz="1500" dirty="0">
                <a:solidFill>
                  <a:schemeClr val="bg1"/>
                </a:solidFill>
              </a:rPr>
              <a:t>)) {</a:t>
            </a:r>
          </a:p>
          <a:p>
            <a:endParaRPr lang="en-IN" sz="2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</a:t>
            </a:r>
            <a:r>
              <a:rPr lang="en-IN" sz="1500" dirty="0" err="1">
                <a:solidFill>
                  <a:schemeClr val="bg1"/>
                </a:solidFill>
              </a:rPr>
              <a:t>ByteBuffer</a:t>
            </a:r>
            <a:r>
              <a:rPr lang="en-IN" sz="1500" dirty="0">
                <a:solidFill>
                  <a:schemeClr val="bg1"/>
                </a:solidFill>
              </a:rPr>
              <a:t> buffer = </a:t>
            </a:r>
            <a:r>
              <a:rPr lang="en-IN" sz="1500" dirty="0" err="1">
                <a:solidFill>
                  <a:schemeClr val="bg1"/>
                </a:solidFill>
              </a:rPr>
              <a:t>ByteBuffer.allocate</a:t>
            </a:r>
            <a:r>
              <a:rPr lang="en-IN" sz="1500" dirty="0">
                <a:solidFill>
                  <a:schemeClr val="bg1"/>
                </a:solidFill>
              </a:rPr>
              <a:t>(8192); // 8 KB buffer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    while (</a:t>
            </a:r>
            <a:r>
              <a:rPr lang="en-IN" sz="1500" dirty="0" err="1">
                <a:solidFill>
                  <a:schemeClr val="bg1"/>
                </a:solidFill>
              </a:rPr>
              <a:t>channel.read</a:t>
            </a:r>
            <a:r>
              <a:rPr lang="en-IN" sz="1500" dirty="0">
                <a:solidFill>
                  <a:schemeClr val="bg1"/>
                </a:solidFill>
              </a:rPr>
              <a:t>(buffer) != -1) {</a:t>
            </a:r>
          </a:p>
          <a:p>
            <a:endParaRPr lang="en-IN" sz="2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        </a:t>
            </a:r>
            <a:r>
              <a:rPr lang="en-IN" sz="1500" dirty="0" err="1">
                <a:solidFill>
                  <a:schemeClr val="bg1"/>
                </a:solidFill>
              </a:rPr>
              <a:t>buffer.flip</a:t>
            </a:r>
            <a:r>
              <a:rPr lang="en-IN" sz="1500" dirty="0">
                <a:solidFill>
                  <a:schemeClr val="bg1"/>
                </a:solidFill>
              </a:rPr>
              <a:t>();   // switch to read mode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        while (</a:t>
            </a:r>
            <a:r>
              <a:rPr lang="en-IN" sz="1500" dirty="0" err="1">
                <a:solidFill>
                  <a:schemeClr val="bg1"/>
                </a:solidFill>
              </a:rPr>
              <a:t>buffer.hasRemaining</a:t>
            </a:r>
            <a:r>
              <a:rPr lang="en-IN" sz="1500" dirty="0">
                <a:solidFill>
                  <a:schemeClr val="bg1"/>
                </a:solidFill>
              </a:rPr>
              <a:t>())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    byte b = </a:t>
            </a:r>
            <a:r>
              <a:rPr lang="en-IN" sz="1500" dirty="0" err="1">
                <a:solidFill>
                  <a:schemeClr val="bg1"/>
                </a:solidFill>
              </a:rPr>
              <a:t>buffer.get</a:t>
            </a:r>
            <a:r>
              <a:rPr lang="en-IN" sz="15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    // process byte (or write to another channel)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}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        </a:t>
            </a:r>
            <a:r>
              <a:rPr lang="en-IN" sz="1500" dirty="0" err="1">
                <a:solidFill>
                  <a:schemeClr val="bg1"/>
                </a:solidFill>
              </a:rPr>
              <a:t>buffer.clear</a:t>
            </a:r>
            <a:r>
              <a:rPr lang="en-IN" sz="1500" dirty="0">
                <a:solidFill>
                  <a:schemeClr val="bg1"/>
                </a:solidFill>
              </a:rPr>
              <a:t>();  // ready for next read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792FC-B8DC-3558-1803-E06957C8291E}"/>
              </a:ext>
            </a:extLst>
          </p:cNvPr>
          <p:cNvSpPr txBox="1"/>
          <p:nvPr/>
        </p:nvSpPr>
        <p:spPr>
          <a:xfrm>
            <a:off x="6995260" y="1520827"/>
            <a:ext cx="4080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Reading data in buffer – for large files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DC8C4D8-47D8-7743-3EFF-81E53493B9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05703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1DD46-D8E2-1ACB-DEFF-9E9AC4E9D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81839-9D5D-BCDD-0C6B-31D9536CA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Java.NIO</a:t>
            </a:r>
            <a:r>
              <a:rPr lang="en-IN" sz="2400" dirty="0"/>
              <a:t> {</a:t>
            </a:r>
            <a:r>
              <a:rPr lang="en-IN" sz="2000" dirty="0"/>
              <a:t>File &amp; Path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7973-9504-2B69-DE9A-BDE75CC96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File Write in </a:t>
            </a:r>
            <a:r>
              <a:rPr lang="en-IN" sz="1800" dirty="0" err="1">
                <a:solidFill>
                  <a:schemeClr val="bg1"/>
                </a:solidFill>
              </a:rPr>
              <a:t>java.nio</a:t>
            </a:r>
            <a:r>
              <a:rPr lang="en-IN" sz="1800" dirty="0">
                <a:solidFill>
                  <a:schemeClr val="bg1"/>
                </a:solidFill>
              </a:rPr>
              <a:t> (Binary Data)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AD81A5-324D-CA62-B590-07E86133F75E}"/>
              </a:ext>
            </a:extLst>
          </p:cNvPr>
          <p:cNvSpPr txBox="1"/>
          <p:nvPr/>
        </p:nvSpPr>
        <p:spPr>
          <a:xfrm>
            <a:off x="36725" y="1928201"/>
            <a:ext cx="5771015" cy="378565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import </a:t>
            </a:r>
            <a:r>
              <a:rPr lang="en-IN" sz="1500" dirty="0" err="1">
                <a:solidFill>
                  <a:schemeClr val="bg1"/>
                </a:solidFill>
              </a:rPr>
              <a:t>java.io.IOException</a:t>
            </a:r>
            <a:r>
              <a:rPr lang="en-IN" sz="1500" dirty="0">
                <a:solidFill>
                  <a:schemeClr val="bg1"/>
                </a:solidFill>
              </a:rPr>
              <a:t>;</a:t>
            </a:r>
          </a:p>
          <a:p>
            <a:r>
              <a:rPr lang="en-IN" sz="1500" dirty="0">
                <a:solidFill>
                  <a:schemeClr val="bg1"/>
                </a:solidFill>
              </a:rPr>
              <a:t>import </a:t>
            </a:r>
            <a:r>
              <a:rPr lang="en-IN" sz="1500" dirty="0" err="1">
                <a:solidFill>
                  <a:schemeClr val="bg1"/>
                </a:solidFill>
              </a:rPr>
              <a:t>java.nio.file.Files</a:t>
            </a:r>
            <a:r>
              <a:rPr lang="en-IN" sz="1500" dirty="0">
                <a:solidFill>
                  <a:schemeClr val="bg1"/>
                </a:solidFill>
              </a:rPr>
              <a:t>;</a:t>
            </a:r>
          </a:p>
          <a:p>
            <a:r>
              <a:rPr lang="en-IN" sz="1500" dirty="0">
                <a:solidFill>
                  <a:schemeClr val="bg1"/>
                </a:solidFill>
              </a:rPr>
              <a:t>import </a:t>
            </a:r>
            <a:r>
              <a:rPr lang="en-IN" sz="1500" dirty="0" err="1">
                <a:solidFill>
                  <a:schemeClr val="bg1"/>
                </a:solidFill>
              </a:rPr>
              <a:t>java.nio.file.Path</a:t>
            </a:r>
            <a:r>
              <a:rPr lang="en-IN" sz="1500" dirty="0">
                <a:solidFill>
                  <a:schemeClr val="bg1"/>
                </a:solidFill>
              </a:rPr>
              <a:t>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public class </a:t>
            </a:r>
            <a:r>
              <a:rPr lang="en-IN" sz="1500" dirty="0" err="1">
                <a:solidFill>
                  <a:schemeClr val="bg1"/>
                </a:solidFill>
              </a:rPr>
              <a:t>SmallBinaryWriteNIO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500" dirty="0" err="1">
                <a:solidFill>
                  <a:schemeClr val="bg1"/>
                </a:solidFill>
              </a:rPr>
              <a:t>args</a:t>
            </a:r>
            <a:r>
              <a:rPr lang="en-IN" sz="1500" dirty="0">
                <a:solidFill>
                  <a:schemeClr val="bg1"/>
                </a:solidFill>
              </a:rPr>
              <a:t>) throws </a:t>
            </a:r>
            <a:r>
              <a:rPr lang="en-IN" sz="1500" dirty="0" err="1">
                <a:solidFill>
                  <a:schemeClr val="bg1"/>
                </a:solidFill>
              </a:rPr>
              <a:t>IOException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byte[] data = { 10, 20, 30, 40, 50 };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Path </a:t>
            </a:r>
            <a:r>
              <a:rPr lang="en-IN" sz="1500" dirty="0" err="1">
                <a:solidFill>
                  <a:schemeClr val="bg1"/>
                </a:solidFill>
              </a:rPr>
              <a:t>path</a:t>
            </a:r>
            <a:r>
              <a:rPr lang="en-IN" sz="1500" dirty="0">
                <a:solidFill>
                  <a:schemeClr val="bg1"/>
                </a:solidFill>
              </a:rPr>
              <a:t> = </a:t>
            </a:r>
            <a:r>
              <a:rPr lang="en-IN" sz="1500" dirty="0" err="1">
                <a:solidFill>
                  <a:schemeClr val="bg1"/>
                </a:solidFill>
              </a:rPr>
              <a:t>Path.of</a:t>
            </a:r>
            <a:r>
              <a:rPr lang="en-IN" sz="1500" dirty="0">
                <a:solidFill>
                  <a:schemeClr val="bg1"/>
                </a:solidFill>
              </a:rPr>
              <a:t>("</a:t>
            </a:r>
            <a:r>
              <a:rPr lang="en-IN" sz="1500" dirty="0" err="1">
                <a:solidFill>
                  <a:schemeClr val="bg1"/>
                </a:solidFill>
              </a:rPr>
              <a:t>data.bin</a:t>
            </a:r>
            <a:r>
              <a:rPr lang="en-IN" sz="1500" dirty="0">
                <a:solidFill>
                  <a:schemeClr val="bg1"/>
                </a:solidFill>
              </a:rPr>
              <a:t>");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Files.write</a:t>
            </a:r>
            <a:r>
              <a:rPr lang="en-IN" sz="1500" dirty="0">
                <a:solidFill>
                  <a:schemeClr val="bg1"/>
                </a:solidFill>
              </a:rPr>
              <a:t>(path, data);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("Small binary file written successfully");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901BA4-42BE-31AF-E44C-F76B6516A2B8}"/>
              </a:ext>
            </a:extLst>
          </p:cNvPr>
          <p:cNvSpPr txBox="1"/>
          <p:nvPr/>
        </p:nvSpPr>
        <p:spPr>
          <a:xfrm>
            <a:off x="1507851" y="1487977"/>
            <a:ext cx="270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Writing small data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4D66883-47C3-C150-707E-2504A154ED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66357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CC2CC-AC84-4ABB-AD98-902E5BE03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D1ABC-4ACE-ABE3-63EC-D07EA35C1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Java.NIO</a:t>
            </a:r>
            <a:r>
              <a:rPr lang="en-IN" sz="2400" dirty="0"/>
              <a:t> {</a:t>
            </a:r>
            <a:r>
              <a:rPr lang="en-IN" sz="2000" dirty="0"/>
              <a:t>File &amp; Path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9EBDF-7C6E-EB5D-C312-583E3AF87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File Write in </a:t>
            </a:r>
            <a:r>
              <a:rPr lang="en-IN" sz="1800" dirty="0" err="1">
                <a:solidFill>
                  <a:schemeClr val="bg1"/>
                </a:solidFill>
              </a:rPr>
              <a:t>java.nio</a:t>
            </a:r>
            <a:r>
              <a:rPr lang="en-IN" sz="1800" dirty="0">
                <a:solidFill>
                  <a:schemeClr val="bg1"/>
                </a:solidFill>
              </a:rPr>
              <a:t> (Binary Data)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0A7949-A32F-B97A-5D47-056623A6DEA8}"/>
              </a:ext>
            </a:extLst>
          </p:cNvPr>
          <p:cNvSpPr txBox="1"/>
          <p:nvPr/>
        </p:nvSpPr>
        <p:spPr>
          <a:xfrm>
            <a:off x="36725" y="1928201"/>
            <a:ext cx="5771015" cy="4247317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public class </a:t>
            </a:r>
            <a:r>
              <a:rPr lang="en-IN" sz="1500" dirty="0" err="1">
                <a:solidFill>
                  <a:schemeClr val="bg1"/>
                </a:solidFill>
              </a:rPr>
              <a:t>LargeBinaryWriteNIO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500" dirty="0" err="1">
                <a:solidFill>
                  <a:schemeClr val="bg1"/>
                </a:solidFill>
              </a:rPr>
              <a:t>args</a:t>
            </a:r>
            <a:r>
              <a:rPr lang="en-IN" sz="1500" dirty="0">
                <a:solidFill>
                  <a:schemeClr val="bg1"/>
                </a:solidFill>
              </a:rPr>
              <a:t>) throws </a:t>
            </a:r>
            <a:r>
              <a:rPr lang="en-IN" sz="1500" dirty="0" err="1">
                <a:solidFill>
                  <a:schemeClr val="bg1"/>
                </a:solidFill>
              </a:rPr>
              <a:t>IOException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Path </a:t>
            </a:r>
            <a:r>
              <a:rPr lang="en-IN" sz="1500" dirty="0" err="1">
                <a:solidFill>
                  <a:schemeClr val="bg1"/>
                </a:solidFill>
              </a:rPr>
              <a:t>path</a:t>
            </a:r>
            <a:r>
              <a:rPr lang="en-IN" sz="1500" dirty="0">
                <a:solidFill>
                  <a:schemeClr val="bg1"/>
                </a:solidFill>
              </a:rPr>
              <a:t> = </a:t>
            </a:r>
            <a:r>
              <a:rPr lang="en-IN" sz="1500" dirty="0" err="1">
                <a:solidFill>
                  <a:schemeClr val="bg1"/>
                </a:solidFill>
              </a:rPr>
              <a:t>Path.of</a:t>
            </a:r>
            <a:r>
              <a:rPr lang="en-IN" sz="1500" dirty="0">
                <a:solidFill>
                  <a:schemeClr val="bg1"/>
                </a:solidFill>
              </a:rPr>
              <a:t>("</a:t>
            </a:r>
            <a:r>
              <a:rPr lang="en-IN" sz="1500" dirty="0" err="1">
                <a:solidFill>
                  <a:schemeClr val="bg1"/>
                </a:solidFill>
              </a:rPr>
              <a:t>output.bin</a:t>
            </a:r>
            <a:r>
              <a:rPr lang="en-IN" sz="1500" dirty="0">
                <a:solidFill>
                  <a:schemeClr val="bg1"/>
                </a:solidFill>
              </a:rPr>
              <a:t>");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try (</a:t>
            </a:r>
            <a:r>
              <a:rPr lang="en-IN" sz="1500" dirty="0" err="1">
                <a:solidFill>
                  <a:schemeClr val="bg1"/>
                </a:solidFill>
              </a:rPr>
              <a:t>FileChannel</a:t>
            </a:r>
            <a:r>
              <a:rPr lang="en-IN" sz="1500" dirty="0">
                <a:solidFill>
                  <a:schemeClr val="bg1"/>
                </a:solidFill>
              </a:rPr>
              <a:t> channel = </a:t>
            </a:r>
            <a:r>
              <a:rPr lang="en-IN" sz="1500" dirty="0" err="1">
                <a:solidFill>
                  <a:schemeClr val="bg1"/>
                </a:solidFill>
              </a:rPr>
              <a:t>FileChannel.open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path,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</a:t>
            </a:r>
            <a:r>
              <a:rPr lang="en-IN" sz="1500" dirty="0" err="1">
                <a:solidFill>
                  <a:schemeClr val="bg1"/>
                </a:solidFill>
              </a:rPr>
              <a:t>StandardOpenOption.CREATE</a:t>
            </a:r>
            <a:r>
              <a:rPr lang="en-IN" sz="1500" dirty="0">
                <a:solidFill>
                  <a:schemeClr val="bg1"/>
                </a:solidFill>
              </a:rPr>
              <a:t>,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</a:t>
            </a:r>
            <a:r>
              <a:rPr lang="en-IN" sz="1500" dirty="0" err="1">
                <a:solidFill>
                  <a:schemeClr val="bg1"/>
                </a:solidFill>
              </a:rPr>
              <a:t>StandardOpenOption.WRITE</a:t>
            </a:r>
            <a:r>
              <a:rPr lang="en-IN" sz="1500" dirty="0">
                <a:solidFill>
                  <a:schemeClr val="bg1"/>
                </a:solidFill>
              </a:rPr>
              <a:t>,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</a:t>
            </a:r>
            <a:r>
              <a:rPr lang="en-IN" sz="1500" dirty="0" err="1">
                <a:solidFill>
                  <a:schemeClr val="bg1"/>
                </a:solidFill>
              </a:rPr>
              <a:t>StandardOpenOption.TRUNCATE_EXISTING</a:t>
            </a:r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)) {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    </a:t>
            </a:r>
            <a:r>
              <a:rPr lang="en-IN" sz="1500" dirty="0" err="1">
                <a:solidFill>
                  <a:schemeClr val="bg1"/>
                </a:solidFill>
              </a:rPr>
              <a:t>ByteBuffer</a:t>
            </a:r>
            <a:r>
              <a:rPr lang="en-IN" sz="1500" dirty="0">
                <a:solidFill>
                  <a:schemeClr val="bg1"/>
                </a:solidFill>
              </a:rPr>
              <a:t> buffer = </a:t>
            </a:r>
            <a:r>
              <a:rPr lang="en-IN" sz="1500" dirty="0" err="1">
                <a:solidFill>
                  <a:schemeClr val="bg1"/>
                </a:solidFill>
              </a:rPr>
              <a:t>ByteBuffer.allocate</a:t>
            </a:r>
            <a:r>
              <a:rPr lang="en-IN" sz="1500" dirty="0">
                <a:solidFill>
                  <a:schemeClr val="bg1"/>
                </a:solidFill>
              </a:rPr>
              <a:t>(8192); // 8 KB buffer</a:t>
            </a:r>
          </a:p>
          <a:p>
            <a:r>
              <a:rPr lang="en-IN" sz="1500" dirty="0">
                <a:solidFill>
                  <a:schemeClr val="bg1"/>
                </a:solidFill>
              </a:rPr>
              <a:t>for (int </a:t>
            </a:r>
            <a:r>
              <a:rPr lang="en-IN" sz="1500" dirty="0" err="1">
                <a:solidFill>
                  <a:schemeClr val="bg1"/>
                </a:solidFill>
              </a:rPr>
              <a:t>i</a:t>
            </a:r>
            <a:r>
              <a:rPr lang="en-IN" sz="1500" dirty="0">
                <a:solidFill>
                  <a:schemeClr val="bg1"/>
                </a:solidFill>
              </a:rPr>
              <a:t> = 0; </a:t>
            </a:r>
            <a:r>
              <a:rPr lang="en-IN" sz="1500" dirty="0" err="1">
                <a:solidFill>
                  <a:schemeClr val="bg1"/>
                </a:solidFill>
              </a:rPr>
              <a:t>i</a:t>
            </a:r>
            <a:r>
              <a:rPr lang="en-IN" sz="1500" dirty="0">
                <a:solidFill>
                  <a:schemeClr val="bg1"/>
                </a:solidFill>
              </a:rPr>
              <a:t> &lt; 100_000; </a:t>
            </a:r>
            <a:r>
              <a:rPr lang="en-IN" sz="1500" dirty="0" err="1">
                <a:solidFill>
                  <a:schemeClr val="bg1"/>
                </a:solidFill>
              </a:rPr>
              <a:t>i</a:t>
            </a:r>
            <a:r>
              <a:rPr lang="en-IN" sz="1500" dirty="0">
                <a:solidFill>
                  <a:schemeClr val="bg1"/>
                </a:solidFill>
              </a:rPr>
              <a:t>++)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</a:t>
            </a:r>
            <a:r>
              <a:rPr lang="en-IN" sz="1500" dirty="0" err="1">
                <a:solidFill>
                  <a:schemeClr val="bg1"/>
                </a:solidFill>
              </a:rPr>
              <a:t>buffer.putInt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i</a:t>
            </a:r>
            <a:r>
              <a:rPr lang="en-IN" sz="1500" dirty="0">
                <a:solidFill>
                  <a:schemeClr val="bg1"/>
                </a:solidFill>
              </a:rPr>
              <a:t>);   // write binary data into buffer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endParaRPr lang="en-IN" sz="15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787B4C-2264-1A9C-A86C-C6951C6109B9}"/>
              </a:ext>
            </a:extLst>
          </p:cNvPr>
          <p:cNvSpPr txBox="1"/>
          <p:nvPr/>
        </p:nvSpPr>
        <p:spPr>
          <a:xfrm>
            <a:off x="1507851" y="1487977"/>
            <a:ext cx="270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Writing huge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3D7538-73E2-AC03-FD24-27DCF95928FF}"/>
              </a:ext>
            </a:extLst>
          </p:cNvPr>
          <p:cNvSpPr txBox="1"/>
          <p:nvPr/>
        </p:nvSpPr>
        <p:spPr>
          <a:xfrm>
            <a:off x="5929071" y="1928201"/>
            <a:ext cx="6035444" cy="401648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                if (!</a:t>
            </a:r>
            <a:r>
              <a:rPr lang="en-IN" sz="1500" dirty="0" err="1">
                <a:solidFill>
                  <a:schemeClr val="bg1"/>
                </a:solidFill>
              </a:rPr>
              <a:t>buffer.hasRemaining</a:t>
            </a:r>
            <a:r>
              <a:rPr lang="en-IN" sz="1500" dirty="0">
                <a:solidFill>
                  <a:schemeClr val="bg1"/>
                </a:solidFill>
              </a:rPr>
              <a:t>())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    </a:t>
            </a:r>
            <a:r>
              <a:rPr lang="en-IN" sz="1500" dirty="0" err="1">
                <a:solidFill>
                  <a:schemeClr val="bg1"/>
                </a:solidFill>
              </a:rPr>
              <a:t>buffer.flip</a:t>
            </a:r>
            <a:r>
              <a:rPr lang="en-IN" sz="1500" dirty="0">
                <a:solidFill>
                  <a:schemeClr val="bg1"/>
                </a:solidFill>
              </a:rPr>
              <a:t>();          // switch to read mode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    </a:t>
            </a:r>
            <a:r>
              <a:rPr lang="en-IN" sz="1500" dirty="0" err="1">
                <a:solidFill>
                  <a:schemeClr val="bg1"/>
                </a:solidFill>
              </a:rPr>
              <a:t>channel.write</a:t>
            </a:r>
            <a:r>
              <a:rPr lang="en-IN" sz="1500" dirty="0">
                <a:solidFill>
                  <a:schemeClr val="bg1"/>
                </a:solidFill>
              </a:rPr>
              <a:t>(buffer); // write buffer to file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    </a:t>
            </a:r>
            <a:r>
              <a:rPr lang="en-IN" sz="1500" dirty="0" err="1">
                <a:solidFill>
                  <a:schemeClr val="bg1"/>
                </a:solidFill>
              </a:rPr>
              <a:t>buffer.clear</a:t>
            </a:r>
            <a:r>
              <a:rPr lang="en-IN" sz="1500" dirty="0">
                <a:solidFill>
                  <a:schemeClr val="bg1"/>
                </a:solidFill>
              </a:rPr>
              <a:t>();         // ready for next data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}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    // write remaining data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</a:t>
            </a:r>
            <a:r>
              <a:rPr lang="en-IN" sz="1500" dirty="0" err="1">
                <a:solidFill>
                  <a:schemeClr val="bg1"/>
                </a:solidFill>
              </a:rPr>
              <a:t>buffer.flip</a:t>
            </a:r>
            <a:r>
              <a:rPr lang="en-IN" sz="15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while (</a:t>
            </a:r>
            <a:r>
              <a:rPr lang="en-IN" sz="1500" dirty="0" err="1">
                <a:solidFill>
                  <a:schemeClr val="bg1"/>
                </a:solidFill>
              </a:rPr>
              <a:t>buffer.hasRemaining</a:t>
            </a:r>
            <a:r>
              <a:rPr lang="en-IN" sz="1500" dirty="0">
                <a:solidFill>
                  <a:schemeClr val="bg1"/>
                </a:solidFill>
              </a:rPr>
              <a:t>())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</a:t>
            </a:r>
            <a:r>
              <a:rPr lang="en-IN" sz="1500" dirty="0" err="1">
                <a:solidFill>
                  <a:schemeClr val="bg1"/>
                </a:solidFill>
              </a:rPr>
              <a:t>channel.write</a:t>
            </a:r>
            <a:r>
              <a:rPr lang="en-IN" sz="1500" dirty="0">
                <a:solidFill>
                  <a:schemeClr val="bg1"/>
                </a:solidFill>
              </a:rPr>
              <a:t>(buffer);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}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("Binary file written successfully");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0559E67F-D647-4805-6CF7-6F789C9501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310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F1F8-E09E-EEFD-DCDD-ED3EFECA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auhaus 93" panose="04030905020B02020C02" pitchFamily="82" charset="0"/>
              </a:rPr>
              <a:t>Thank you!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F2CC60C-CCCA-D126-A44D-7042E9DE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3366522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1008</TotalTime>
  <Words>3063</Words>
  <Application>Microsoft Office PowerPoint</Application>
  <PresentationFormat>Widescreen</PresentationFormat>
  <Paragraphs>659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Agency FB</vt:lpstr>
      <vt:lpstr>Aptos</vt:lpstr>
      <vt:lpstr>Arial</vt:lpstr>
      <vt:lpstr>Arial Black</vt:lpstr>
      <vt:lpstr>Bauhaus 93</vt:lpstr>
      <vt:lpstr>Courier New</vt:lpstr>
      <vt:lpstr>Trebuchet MS</vt:lpstr>
      <vt:lpstr>Berlin</vt:lpstr>
      <vt:lpstr>&lt;ai/&gt; &lt;IQ/&gt; LABS</vt:lpstr>
      <vt:lpstr>Input/Output in Java {Agenda}</vt:lpstr>
      <vt:lpstr>InputStream/OutputStream</vt:lpstr>
      <vt:lpstr>InputStream/OutputStream</vt:lpstr>
      <vt:lpstr>InputStream/OutputStream</vt:lpstr>
      <vt:lpstr>InputStream/OutputStream</vt:lpstr>
      <vt:lpstr>InputStream/OutputStream</vt:lpstr>
      <vt:lpstr>InputStream/OutputStream</vt:lpstr>
      <vt:lpstr>Reader/Writer</vt:lpstr>
      <vt:lpstr>Reader/Writer</vt:lpstr>
      <vt:lpstr>Reader/Writer</vt:lpstr>
      <vt:lpstr>Reader/Writer</vt:lpstr>
      <vt:lpstr>Reader/Writer</vt:lpstr>
      <vt:lpstr>Reader/Writer</vt:lpstr>
      <vt:lpstr>Reader/Writer</vt:lpstr>
      <vt:lpstr>Reader/Writer</vt:lpstr>
      <vt:lpstr>Serialization</vt:lpstr>
      <vt:lpstr>Serialization</vt:lpstr>
      <vt:lpstr>DeSerialization</vt:lpstr>
      <vt:lpstr>Java.NIO</vt:lpstr>
      <vt:lpstr>Java.NIO {Components}</vt:lpstr>
      <vt:lpstr>Java.NIO {Buffers}</vt:lpstr>
      <vt:lpstr>Java.NIO {Channel (Data Transport)}</vt:lpstr>
      <vt:lpstr>Java.NIO {Selector}</vt:lpstr>
      <vt:lpstr>Java.NIO {File &amp; Path}</vt:lpstr>
      <vt:lpstr>Java.NIO {File &amp; Path}</vt:lpstr>
      <vt:lpstr>Java.NIO {File &amp; Path}</vt:lpstr>
      <vt:lpstr>Java.NIO {File &amp; Path}</vt:lpstr>
      <vt:lpstr>Java.NIO {File &amp; Path}</vt:lpstr>
      <vt:lpstr>Java.NIO {File &amp; Path}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Slick Ark</dc:creator>
  <cp:lastModifiedBy>Slick Ark</cp:lastModifiedBy>
  <cp:revision>284</cp:revision>
  <dcterms:created xsi:type="dcterms:W3CDTF">2026-02-04T04:23:12Z</dcterms:created>
  <dcterms:modified xsi:type="dcterms:W3CDTF">2026-02-08T19:14:13Z</dcterms:modified>
</cp:coreProperties>
</file>