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8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28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90" d="100"/>
          <a:sy n="90" d="100"/>
        </p:scale>
        <p:origin x="521" y="1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D969DC-181F-4921-8B5F-0EF62F4CE89E}" type="doc">
      <dgm:prSet loTypeId="urn:microsoft.com/office/officeart/2005/8/layout/targe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F07259D-CC92-40A2-B71A-EC53F9211F9A}">
      <dgm:prSet phldrT="[Text]" phldr="0" custT="1"/>
      <dgm:spPr/>
      <dgm:t>
        <a:bodyPr tIns="180000"/>
        <a:lstStyle/>
        <a:p>
          <a:pPr algn="l"/>
          <a:r>
            <a:rPr lang="en-IN" sz="2800" dirty="0"/>
            <a:t>Why Stream &amp; Lambda</a:t>
          </a:r>
        </a:p>
      </dgm:t>
    </dgm:pt>
    <dgm:pt modelId="{CDA5EB07-4899-4932-BD18-04FBCCD240D5}" type="parTrans" cxnId="{7C5D232D-E9B4-4960-B9C9-71A7B8F558DB}">
      <dgm:prSet/>
      <dgm:spPr/>
      <dgm:t>
        <a:bodyPr/>
        <a:lstStyle/>
        <a:p>
          <a:endParaRPr lang="en-IN"/>
        </a:p>
      </dgm:t>
    </dgm:pt>
    <dgm:pt modelId="{0B90EAA4-646A-462C-BE6B-22BCE114692F}" type="sibTrans" cxnId="{7C5D232D-E9B4-4960-B9C9-71A7B8F558DB}">
      <dgm:prSet/>
      <dgm:spPr/>
      <dgm:t>
        <a:bodyPr/>
        <a:lstStyle/>
        <a:p>
          <a:endParaRPr lang="en-IN"/>
        </a:p>
      </dgm:t>
    </dgm:pt>
    <dgm:pt modelId="{29513CEE-C872-4255-A290-C4BDE6E5CDB4}">
      <dgm:prSet phldrT="[Text]" phldr="0" custT="1"/>
      <dgm:spPr/>
      <dgm:t>
        <a:bodyPr tIns="180000" bIns="180000"/>
        <a:lstStyle/>
        <a:p>
          <a:pPr algn="l"/>
          <a:r>
            <a:rPr lang="en-IN" sz="2800" dirty="0"/>
            <a:t>Lambda</a:t>
          </a:r>
        </a:p>
      </dgm:t>
    </dgm:pt>
    <dgm:pt modelId="{92813842-A6E0-423F-864C-7A4FE3BBE7AA}" type="parTrans" cxnId="{1DB5F0D3-C7E7-4977-A2B2-0078BCE78EFC}">
      <dgm:prSet/>
      <dgm:spPr/>
      <dgm:t>
        <a:bodyPr/>
        <a:lstStyle/>
        <a:p>
          <a:endParaRPr lang="en-IN"/>
        </a:p>
      </dgm:t>
    </dgm:pt>
    <dgm:pt modelId="{DE6A4B1D-F319-4794-8014-0FFD2623E4CB}" type="sibTrans" cxnId="{1DB5F0D3-C7E7-4977-A2B2-0078BCE78EFC}">
      <dgm:prSet/>
      <dgm:spPr/>
      <dgm:t>
        <a:bodyPr/>
        <a:lstStyle/>
        <a:p>
          <a:endParaRPr lang="en-IN"/>
        </a:p>
      </dgm:t>
    </dgm:pt>
    <dgm:pt modelId="{870B91A1-7977-4CE3-B27C-6AE86C41D6F9}">
      <dgm:prSet phldrT="[Text]" phldr="0" custT="1"/>
      <dgm:spPr/>
      <dgm:t>
        <a:bodyPr tIns="180000" bIns="180000"/>
        <a:lstStyle/>
        <a:p>
          <a:pPr algn="l"/>
          <a:r>
            <a:rPr lang="en-IN" sz="2800" dirty="0"/>
            <a:t>Stream</a:t>
          </a:r>
        </a:p>
      </dgm:t>
    </dgm:pt>
    <dgm:pt modelId="{4868F0FF-0A7D-4007-80CE-5DC4ED195136}" type="parTrans" cxnId="{6BD3B303-D7CC-40D7-88A1-7989F3A107CC}">
      <dgm:prSet/>
      <dgm:spPr/>
      <dgm:t>
        <a:bodyPr/>
        <a:lstStyle/>
        <a:p>
          <a:endParaRPr lang="en-IN"/>
        </a:p>
      </dgm:t>
    </dgm:pt>
    <dgm:pt modelId="{E7DBC3EA-52F7-4308-A19A-2140A9695EF9}" type="sibTrans" cxnId="{6BD3B303-D7CC-40D7-88A1-7989F3A107CC}">
      <dgm:prSet/>
      <dgm:spPr/>
      <dgm:t>
        <a:bodyPr/>
        <a:lstStyle/>
        <a:p>
          <a:endParaRPr lang="en-IN"/>
        </a:p>
      </dgm:t>
    </dgm:pt>
    <dgm:pt modelId="{81AB9872-FD87-4B39-B3E6-634123274755}">
      <dgm:prSet phldrT="[Text]" phldr="0" custT="1"/>
      <dgm:spPr/>
      <dgm:t>
        <a:bodyPr tIns="180000" bIns="180000"/>
        <a:lstStyle/>
        <a:p>
          <a:pPr algn="l"/>
          <a:r>
            <a:rPr lang="en-IN" sz="2800"/>
            <a:t>Stream Operations</a:t>
          </a:r>
          <a:endParaRPr lang="en-IN" sz="2800" dirty="0"/>
        </a:p>
      </dgm:t>
    </dgm:pt>
    <dgm:pt modelId="{582B5A03-BAAB-48A0-9092-3E8AD6E17E60}" type="parTrans" cxnId="{29E89849-2BC0-44E4-B565-05CD84D57E1C}">
      <dgm:prSet/>
      <dgm:spPr/>
      <dgm:t>
        <a:bodyPr/>
        <a:lstStyle/>
        <a:p>
          <a:endParaRPr lang="en-IN"/>
        </a:p>
      </dgm:t>
    </dgm:pt>
    <dgm:pt modelId="{643F1CCA-EC89-41FD-9646-9E6002617857}" type="sibTrans" cxnId="{29E89849-2BC0-44E4-B565-05CD84D57E1C}">
      <dgm:prSet/>
      <dgm:spPr/>
      <dgm:t>
        <a:bodyPr/>
        <a:lstStyle/>
        <a:p>
          <a:endParaRPr lang="en-IN"/>
        </a:p>
      </dgm:t>
    </dgm:pt>
    <dgm:pt modelId="{D3E437E5-AE49-4D2A-9370-64D2A9B8326F}">
      <dgm:prSet phldrT="[Text]" phldr="0" custT="1"/>
      <dgm:spPr/>
      <dgm:t>
        <a:bodyPr tIns="180000" bIns="180000"/>
        <a:lstStyle/>
        <a:p>
          <a:pPr algn="l"/>
          <a:r>
            <a:rPr lang="en-IN" sz="2800" dirty="0"/>
            <a:t>Stream Sources</a:t>
          </a:r>
        </a:p>
      </dgm:t>
    </dgm:pt>
    <dgm:pt modelId="{D835BDBE-F01B-4601-BC92-4C661AA92F15}" type="parTrans" cxnId="{69A16EF0-7B49-40D6-B57C-16902A9CCBE4}">
      <dgm:prSet/>
      <dgm:spPr/>
      <dgm:t>
        <a:bodyPr/>
        <a:lstStyle/>
        <a:p>
          <a:endParaRPr lang="en-IN"/>
        </a:p>
      </dgm:t>
    </dgm:pt>
    <dgm:pt modelId="{5B2D4EB7-D21B-4046-BA0E-76E35825E769}" type="sibTrans" cxnId="{69A16EF0-7B49-40D6-B57C-16902A9CCBE4}">
      <dgm:prSet/>
      <dgm:spPr/>
      <dgm:t>
        <a:bodyPr/>
        <a:lstStyle/>
        <a:p>
          <a:endParaRPr lang="en-IN"/>
        </a:p>
      </dgm:t>
    </dgm:pt>
    <dgm:pt modelId="{E5B05726-2809-46F0-870A-9FCB01729EF4}">
      <dgm:prSet phldrT="[Text]" phldr="0" custT="1"/>
      <dgm:spPr/>
      <dgm:t>
        <a:bodyPr tIns="180000" bIns="180000"/>
        <a:lstStyle/>
        <a:p>
          <a:pPr algn="l"/>
          <a:r>
            <a:rPr lang="en-IN" sz="2800"/>
            <a:t>Reduction</a:t>
          </a:r>
          <a:endParaRPr lang="en-IN" sz="2800" dirty="0"/>
        </a:p>
      </dgm:t>
    </dgm:pt>
    <dgm:pt modelId="{6A17ACE2-44A2-460D-8174-42D89B6E2FA8}" type="parTrans" cxnId="{4026FD61-9FA4-43DC-9285-76DEF24B7260}">
      <dgm:prSet/>
      <dgm:spPr/>
      <dgm:t>
        <a:bodyPr/>
        <a:lstStyle/>
        <a:p>
          <a:endParaRPr lang="en-IN"/>
        </a:p>
      </dgm:t>
    </dgm:pt>
    <dgm:pt modelId="{43170EFA-1101-4A2B-9017-218D3E2085BA}" type="sibTrans" cxnId="{4026FD61-9FA4-43DC-9285-76DEF24B7260}">
      <dgm:prSet/>
      <dgm:spPr/>
      <dgm:t>
        <a:bodyPr/>
        <a:lstStyle/>
        <a:p>
          <a:endParaRPr lang="en-IN"/>
        </a:p>
      </dgm:t>
    </dgm:pt>
    <dgm:pt modelId="{233B7973-684E-40EB-A7DB-77C8483C598F}">
      <dgm:prSet phldrT="[Text]" phldr="0" custT="1"/>
      <dgm:spPr/>
      <dgm:t>
        <a:bodyPr tIns="180000" bIns="180000"/>
        <a:lstStyle/>
        <a:p>
          <a:pPr algn="l"/>
          <a:r>
            <a:rPr lang="en-IN" sz="2800"/>
            <a:t>Stream &amp; Lambda Examples</a:t>
          </a:r>
          <a:endParaRPr lang="en-IN" sz="2800" dirty="0"/>
        </a:p>
      </dgm:t>
    </dgm:pt>
    <dgm:pt modelId="{B900B7F1-E67C-4E94-8A82-A5EC1AD35B65}" type="parTrans" cxnId="{7E825543-133F-488F-AFEA-8F2548E3488D}">
      <dgm:prSet/>
      <dgm:spPr/>
      <dgm:t>
        <a:bodyPr/>
        <a:lstStyle/>
        <a:p>
          <a:endParaRPr lang="en-IN"/>
        </a:p>
      </dgm:t>
    </dgm:pt>
    <dgm:pt modelId="{C125253B-A94C-4CE2-A427-25D04B8482C2}" type="sibTrans" cxnId="{7E825543-133F-488F-AFEA-8F2548E3488D}">
      <dgm:prSet/>
      <dgm:spPr/>
      <dgm:t>
        <a:bodyPr/>
        <a:lstStyle/>
        <a:p>
          <a:endParaRPr lang="en-IN"/>
        </a:p>
      </dgm:t>
    </dgm:pt>
    <dgm:pt modelId="{DE860416-E6AE-46B5-862B-CD2595D1ACD2}" type="pres">
      <dgm:prSet presAssocID="{6BD969DC-181F-4921-8B5F-0EF62F4CE89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DD66BBEE-7F67-4E6F-A56A-94C435C76A0E}" type="pres">
      <dgm:prSet presAssocID="{BF07259D-CC92-40A2-B71A-EC53F9211F9A}" presName="circle1" presStyleLbl="node1" presStyleIdx="0" presStyleCnt="7"/>
      <dgm:spPr/>
    </dgm:pt>
    <dgm:pt modelId="{FDE74903-F762-4C18-A9EA-82E9B3622505}" type="pres">
      <dgm:prSet presAssocID="{BF07259D-CC92-40A2-B71A-EC53F9211F9A}" presName="space" presStyleCnt="0"/>
      <dgm:spPr/>
    </dgm:pt>
    <dgm:pt modelId="{7340E5E1-75B9-4AC7-BC8E-760EBCEC593A}" type="pres">
      <dgm:prSet presAssocID="{BF07259D-CC92-40A2-B71A-EC53F9211F9A}" presName="rect1" presStyleLbl="alignAcc1" presStyleIdx="0" presStyleCnt="7"/>
      <dgm:spPr/>
    </dgm:pt>
    <dgm:pt modelId="{B254124F-857D-49BC-9076-E6B1C7264687}" type="pres">
      <dgm:prSet presAssocID="{29513CEE-C872-4255-A290-C4BDE6E5CDB4}" presName="vertSpace2" presStyleLbl="node1" presStyleIdx="0" presStyleCnt="7"/>
      <dgm:spPr/>
    </dgm:pt>
    <dgm:pt modelId="{1C92F080-F11E-41B4-9205-54B0EF12DEC9}" type="pres">
      <dgm:prSet presAssocID="{29513CEE-C872-4255-A290-C4BDE6E5CDB4}" presName="circle2" presStyleLbl="node1" presStyleIdx="1" presStyleCnt="7"/>
      <dgm:spPr/>
    </dgm:pt>
    <dgm:pt modelId="{A87E5B63-305F-4FCD-81E2-4C74958D6A27}" type="pres">
      <dgm:prSet presAssocID="{29513CEE-C872-4255-A290-C4BDE6E5CDB4}" presName="rect2" presStyleLbl="alignAcc1" presStyleIdx="1" presStyleCnt="7"/>
      <dgm:spPr/>
    </dgm:pt>
    <dgm:pt modelId="{62CB1E3F-0141-49A4-BA9C-C109765B1F98}" type="pres">
      <dgm:prSet presAssocID="{870B91A1-7977-4CE3-B27C-6AE86C41D6F9}" presName="vertSpace3" presStyleLbl="node1" presStyleIdx="1" presStyleCnt="7"/>
      <dgm:spPr/>
    </dgm:pt>
    <dgm:pt modelId="{78F08F96-F342-40B9-97BB-A45CB8663AC7}" type="pres">
      <dgm:prSet presAssocID="{870B91A1-7977-4CE3-B27C-6AE86C41D6F9}" presName="circle3" presStyleLbl="node1" presStyleIdx="2" presStyleCnt="7"/>
      <dgm:spPr/>
    </dgm:pt>
    <dgm:pt modelId="{AC3FE768-A7A6-4622-8658-F4C9B6760D50}" type="pres">
      <dgm:prSet presAssocID="{870B91A1-7977-4CE3-B27C-6AE86C41D6F9}" presName="rect3" presStyleLbl="alignAcc1" presStyleIdx="2" presStyleCnt="7"/>
      <dgm:spPr/>
    </dgm:pt>
    <dgm:pt modelId="{D2DE4750-4C51-4092-B074-C442F7F0DA95}" type="pres">
      <dgm:prSet presAssocID="{81AB9872-FD87-4B39-B3E6-634123274755}" presName="vertSpace4" presStyleLbl="node1" presStyleIdx="2" presStyleCnt="7"/>
      <dgm:spPr/>
    </dgm:pt>
    <dgm:pt modelId="{13AD4230-589B-43F6-BB57-1887BC3EB258}" type="pres">
      <dgm:prSet presAssocID="{81AB9872-FD87-4B39-B3E6-634123274755}" presName="circle4" presStyleLbl="node1" presStyleIdx="3" presStyleCnt="7"/>
      <dgm:spPr/>
    </dgm:pt>
    <dgm:pt modelId="{D79F9AF0-E3D6-465F-830D-37E0DB825108}" type="pres">
      <dgm:prSet presAssocID="{81AB9872-FD87-4B39-B3E6-634123274755}" presName="rect4" presStyleLbl="alignAcc1" presStyleIdx="3" presStyleCnt="7"/>
      <dgm:spPr/>
    </dgm:pt>
    <dgm:pt modelId="{C46EE7D3-877D-4B4E-884C-7E2B027D9CF6}" type="pres">
      <dgm:prSet presAssocID="{D3E437E5-AE49-4D2A-9370-64D2A9B8326F}" presName="vertSpace5" presStyleLbl="node1" presStyleIdx="3" presStyleCnt="7"/>
      <dgm:spPr/>
    </dgm:pt>
    <dgm:pt modelId="{BE61F5BD-10E8-4AE3-B1EA-AF4522C6E806}" type="pres">
      <dgm:prSet presAssocID="{D3E437E5-AE49-4D2A-9370-64D2A9B8326F}" presName="circle5" presStyleLbl="node1" presStyleIdx="4" presStyleCnt="7"/>
      <dgm:spPr/>
    </dgm:pt>
    <dgm:pt modelId="{4ABF297B-4454-4BF3-ACD3-70EAD5674A15}" type="pres">
      <dgm:prSet presAssocID="{D3E437E5-AE49-4D2A-9370-64D2A9B8326F}" presName="rect5" presStyleLbl="alignAcc1" presStyleIdx="4" presStyleCnt="7"/>
      <dgm:spPr/>
    </dgm:pt>
    <dgm:pt modelId="{312F8484-8763-4845-80FD-FD1D3CDA2360}" type="pres">
      <dgm:prSet presAssocID="{E5B05726-2809-46F0-870A-9FCB01729EF4}" presName="vertSpace6" presStyleLbl="node1" presStyleIdx="4" presStyleCnt="7"/>
      <dgm:spPr/>
    </dgm:pt>
    <dgm:pt modelId="{20CAA821-B668-4B6E-9939-24509482A831}" type="pres">
      <dgm:prSet presAssocID="{E5B05726-2809-46F0-870A-9FCB01729EF4}" presName="circle6" presStyleLbl="node1" presStyleIdx="5" presStyleCnt="7"/>
      <dgm:spPr/>
    </dgm:pt>
    <dgm:pt modelId="{18FFC0B5-7787-41E4-A506-1661E998EBCE}" type="pres">
      <dgm:prSet presAssocID="{E5B05726-2809-46F0-870A-9FCB01729EF4}" presName="rect6" presStyleLbl="alignAcc1" presStyleIdx="5" presStyleCnt="7"/>
      <dgm:spPr/>
    </dgm:pt>
    <dgm:pt modelId="{5C9A8D27-7EFF-48FA-B590-AE163E71C3E5}" type="pres">
      <dgm:prSet presAssocID="{233B7973-684E-40EB-A7DB-77C8483C598F}" presName="vertSpace7" presStyleLbl="node1" presStyleIdx="5" presStyleCnt="7"/>
      <dgm:spPr/>
    </dgm:pt>
    <dgm:pt modelId="{C80486EC-8615-49CB-BFB1-748D77F94511}" type="pres">
      <dgm:prSet presAssocID="{233B7973-684E-40EB-A7DB-77C8483C598F}" presName="circle7" presStyleLbl="node1" presStyleIdx="6" presStyleCnt="7"/>
      <dgm:spPr/>
    </dgm:pt>
    <dgm:pt modelId="{E7E07684-9E18-42BF-B26B-902555060652}" type="pres">
      <dgm:prSet presAssocID="{233B7973-684E-40EB-A7DB-77C8483C598F}" presName="rect7" presStyleLbl="alignAcc1" presStyleIdx="6" presStyleCnt="7"/>
      <dgm:spPr/>
    </dgm:pt>
    <dgm:pt modelId="{AE2DCCCF-C4D9-4127-A2D1-BA19241541A9}" type="pres">
      <dgm:prSet presAssocID="{BF07259D-CC92-40A2-B71A-EC53F9211F9A}" presName="rect1ParTxNoCh" presStyleLbl="alignAcc1" presStyleIdx="6" presStyleCnt="7">
        <dgm:presLayoutVars>
          <dgm:chMax val="1"/>
          <dgm:bulletEnabled val="1"/>
        </dgm:presLayoutVars>
      </dgm:prSet>
      <dgm:spPr/>
    </dgm:pt>
    <dgm:pt modelId="{E0EA8316-8BED-40DF-AAEE-E26166C99A2E}" type="pres">
      <dgm:prSet presAssocID="{29513CEE-C872-4255-A290-C4BDE6E5CDB4}" presName="rect2ParTxNoCh" presStyleLbl="alignAcc1" presStyleIdx="6" presStyleCnt="7">
        <dgm:presLayoutVars>
          <dgm:chMax val="1"/>
          <dgm:bulletEnabled val="1"/>
        </dgm:presLayoutVars>
      </dgm:prSet>
      <dgm:spPr/>
    </dgm:pt>
    <dgm:pt modelId="{9E956095-B2E2-48EE-891F-740FFF3AECC9}" type="pres">
      <dgm:prSet presAssocID="{870B91A1-7977-4CE3-B27C-6AE86C41D6F9}" presName="rect3ParTxNoCh" presStyleLbl="alignAcc1" presStyleIdx="6" presStyleCnt="7">
        <dgm:presLayoutVars>
          <dgm:chMax val="1"/>
          <dgm:bulletEnabled val="1"/>
        </dgm:presLayoutVars>
      </dgm:prSet>
      <dgm:spPr/>
    </dgm:pt>
    <dgm:pt modelId="{B53B3CE0-E8FF-483A-8CA7-F43AC555AE06}" type="pres">
      <dgm:prSet presAssocID="{81AB9872-FD87-4B39-B3E6-634123274755}" presName="rect4ParTxNoCh" presStyleLbl="alignAcc1" presStyleIdx="6" presStyleCnt="7">
        <dgm:presLayoutVars>
          <dgm:chMax val="1"/>
          <dgm:bulletEnabled val="1"/>
        </dgm:presLayoutVars>
      </dgm:prSet>
      <dgm:spPr/>
    </dgm:pt>
    <dgm:pt modelId="{D121D5F9-6176-42FF-84BD-7ADB4E4E00B8}" type="pres">
      <dgm:prSet presAssocID="{D3E437E5-AE49-4D2A-9370-64D2A9B8326F}" presName="rect5ParTxNoCh" presStyleLbl="alignAcc1" presStyleIdx="6" presStyleCnt="7">
        <dgm:presLayoutVars>
          <dgm:chMax val="1"/>
          <dgm:bulletEnabled val="1"/>
        </dgm:presLayoutVars>
      </dgm:prSet>
      <dgm:spPr/>
    </dgm:pt>
    <dgm:pt modelId="{6ADB58E0-D6AE-4446-B726-FC7F3A725A4A}" type="pres">
      <dgm:prSet presAssocID="{E5B05726-2809-46F0-870A-9FCB01729EF4}" presName="rect6ParTxNoCh" presStyleLbl="alignAcc1" presStyleIdx="6" presStyleCnt="7">
        <dgm:presLayoutVars>
          <dgm:chMax val="1"/>
          <dgm:bulletEnabled val="1"/>
        </dgm:presLayoutVars>
      </dgm:prSet>
      <dgm:spPr/>
    </dgm:pt>
    <dgm:pt modelId="{74254FC8-93CE-4996-953F-2855065F8EB3}" type="pres">
      <dgm:prSet presAssocID="{233B7973-684E-40EB-A7DB-77C8483C598F}" presName="rect7ParTxNoCh" presStyleLbl="alignAcc1" presStyleIdx="6" presStyleCnt="7">
        <dgm:presLayoutVars>
          <dgm:chMax val="1"/>
          <dgm:bulletEnabled val="1"/>
        </dgm:presLayoutVars>
      </dgm:prSet>
      <dgm:spPr/>
    </dgm:pt>
  </dgm:ptLst>
  <dgm:cxnLst>
    <dgm:cxn modelId="{6BD3B303-D7CC-40D7-88A1-7989F3A107CC}" srcId="{6BD969DC-181F-4921-8B5F-0EF62F4CE89E}" destId="{870B91A1-7977-4CE3-B27C-6AE86C41D6F9}" srcOrd="2" destOrd="0" parTransId="{4868F0FF-0A7D-4007-80CE-5DC4ED195136}" sibTransId="{E7DBC3EA-52F7-4308-A19A-2140A9695EF9}"/>
    <dgm:cxn modelId="{2C5FC812-45D5-418B-BCFD-96C05CE31ABB}" type="presOf" srcId="{6BD969DC-181F-4921-8B5F-0EF62F4CE89E}" destId="{DE860416-E6AE-46B5-862B-CD2595D1ACD2}" srcOrd="0" destOrd="0" presId="urn:microsoft.com/office/officeart/2005/8/layout/target3"/>
    <dgm:cxn modelId="{7C5D232D-E9B4-4960-B9C9-71A7B8F558DB}" srcId="{6BD969DC-181F-4921-8B5F-0EF62F4CE89E}" destId="{BF07259D-CC92-40A2-B71A-EC53F9211F9A}" srcOrd="0" destOrd="0" parTransId="{CDA5EB07-4899-4932-BD18-04FBCCD240D5}" sibTransId="{0B90EAA4-646A-462C-BE6B-22BCE114692F}"/>
    <dgm:cxn modelId="{D9363D5B-45CE-4D29-8D24-9E6C1D662B91}" type="presOf" srcId="{233B7973-684E-40EB-A7DB-77C8483C598F}" destId="{74254FC8-93CE-4996-953F-2855065F8EB3}" srcOrd="1" destOrd="0" presId="urn:microsoft.com/office/officeart/2005/8/layout/target3"/>
    <dgm:cxn modelId="{0E94955D-3693-42C8-9FD9-01432B62D61E}" type="presOf" srcId="{29513CEE-C872-4255-A290-C4BDE6E5CDB4}" destId="{A87E5B63-305F-4FCD-81E2-4C74958D6A27}" srcOrd="0" destOrd="0" presId="urn:microsoft.com/office/officeart/2005/8/layout/target3"/>
    <dgm:cxn modelId="{4026FD61-9FA4-43DC-9285-76DEF24B7260}" srcId="{6BD969DC-181F-4921-8B5F-0EF62F4CE89E}" destId="{E5B05726-2809-46F0-870A-9FCB01729EF4}" srcOrd="5" destOrd="0" parTransId="{6A17ACE2-44A2-460D-8174-42D89B6E2FA8}" sibTransId="{43170EFA-1101-4A2B-9017-218D3E2085BA}"/>
    <dgm:cxn modelId="{7E825543-133F-488F-AFEA-8F2548E3488D}" srcId="{6BD969DC-181F-4921-8B5F-0EF62F4CE89E}" destId="{233B7973-684E-40EB-A7DB-77C8483C598F}" srcOrd="6" destOrd="0" parTransId="{B900B7F1-E67C-4E94-8A82-A5EC1AD35B65}" sibTransId="{C125253B-A94C-4CE2-A427-25D04B8482C2}"/>
    <dgm:cxn modelId="{31C08D46-081A-4613-939E-70C29520D2DE}" type="presOf" srcId="{81AB9872-FD87-4B39-B3E6-634123274755}" destId="{B53B3CE0-E8FF-483A-8CA7-F43AC555AE06}" srcOrd="1" destOrd="0" presId="urn:microsoft.com/office/officeart/2005/8/layout/target3"/>
    <dgm:cxn modelId="{B9748D48-19F4-4E34-8D1E-CFD69FE68F78}" type="presOf" srcId="{BF07259D-CC92-40A2-B71A-EC53F9211F9A}" destId="{7340E5E1-75B9-4AC7-BC8E-760EBCEC593A}" srcOrd="0" destOrd="0" presId="urn:microsoft.com/office/officeart/2005/8/layout/target3"/>
    <dgm:cxn modelId="{29E89849-2BC0-44E4-B565-05CD84D57E1C}" srcId="{6BD969DC-181F-4921-8B5F-0EF62F4CE89E}" destId="{81AB9872-FD87-4B39-B3E6-634123274755}" srcOrd="3" destOrd="0" parTransId="{582B5A03-BAAB-48A0-9092-3E8AD6E17E60}" sibTransId="{643F1CCA-EC89-41FD-9646-9E6002617857}"/>
    <dgm:cxn modelId="{444A1B52-ACD4-4514-B73F-C8C33A07A017}" type="presOf" srcId="{870B91A1-7977-4CE3-B27C-6AE86C41D6F9}" destId="{9E956095-B2E2-48EE-891F-740FFF3AECC9}" srcOrd="1" destOrd="0" presId="urn:microsoft.com/office/officeart/2005/8/layout/target3"/>
    <dgm:cxn modelId="{E7223C58-13A9-40D4-BC00-98484BC04213}" type="presOf" srcId="{D3E437E5-AE49-4D2A-9370-64D2A9B8326F}" destId="{4ABF297B-4454-4BF3-ACD3-70EAD5674A15}" srcOrd="0" destOrd="0" presId="urn:microsoft.com/office/officeart/2005/8/layout/target3"/>
    <dgm:cxn modelId="{DC092A89-00D9-4349-B60E-DED9603718B9}" type="presOf" srcId="{29513CEE-C872-4255-A290-C4BDE6E5CDB4}" destId="{E0EA8316-8BED-40DF-AAEE-E26166C99A2E}" srcOrd="1" destOrd="0" presId="urn:microsoft.com/office/officeart/2005/8/layout/target3"/>
    <dgm:cxn modelId="{1A602890-94F3-4DEA-A903-F5ECAF808E5E}" type="presOf" srcId="{E5B05726-2809-46F0-870A-9FCB01729EF4}" destId="{6ADB58E0-D6AE-4446-B726-FC7F3A725A4A}" srcOrd="1" destOrd="0" presId="urn:microsoft.com/office/officeart/2005/8/layout/target3"/>
    <dgm:cxn modelId="{30E4E59A-9F0A-4858-A00F-5AEFD54F52F1}" type="presOf" srcId="{D3E437E5-AE49-4D2A-9370-64D2A9B8326F}" destId="{D121D5F9-6176-42FF-84BD-7ADB4E4E00B8}" srcOrd="1" destOrd="0" presId="urn:microsoft.com/office/officeart/2005/8/layout/target3"/>
    <dgm:cxn modelId="{086749BF-0F5B-44BD-85C2-F1FEBB41E67A}" type="presOf" srcId="{233B7973-684E-40EB-A7DB-77C8483C598F}" destId="{E7E07684-9E18-42BF-B26B-902555060652}" srcOrd="0" destOrd="0" presId="urn:microsoft.com/office/officeart/2005/8/layout/target3"/>
    <dgm:cxn modelId="{1DB5F0D3-C7E7-4977-A2B2-0078BCE78EFC}" srcId="{6BD969DC-181F-4921-8B5F-0EF62F4CE89E}" destId="{29513CEE-C872-4255-A290-C4BDE6E5CDB4}" srcOrd="1" destOrd="0" parTransId="{92813842-A6E0-423F-864C-7A4FE3BBE7AA}" sibTransId="{DE6A4B1D-F319-4794-8014-0FFD2623E4CB}"/>
    <dgm:cxn modelId="{B3D374D4-E24B-46A4-9D27-56178AE41B34}" type="presOf" srcId="{BF07259D-CC92-40A2-B71A-EC53F9211F9A}" destId="{AE2DCCCF-C4D9-4127-A2D1-BA19241541A9}" srcOrd="1" destOrd="0" presId="urn:microsoft.com/office/officeart/2005/8/layout/target3"/>
    <dgm:cxn modelId="{55D8B1ED-2E0F-4CEA-8FDD-32EAECB0012A}" type="presOf" srcId="{E5B05726-2809-46F0-870A-9FCB01729EF4}" destId="{18FFC0B5-7787-41E4-A506-1661E998EBCE}" srcOrd="0" destOrd="0" presId="urn:microsoft.com/office/officeart/2005/8/layout/target3"/>
    <dgm:cxn modelId="{69A16EF0-7B49-40D6-B57C-16902A9CCBE4}" srcId="{6BD969DC-181F-4921-8B5F-0EF62F4CE89E}" destId="{D3E437E5-AE49-4D2A-9370-64D2A9B8326F}" srcOrd="4" destOrd="0" parTransId="{D835BDBE-F01B-4601-BC92-4C661AA92F15}" sibTransId="{5B2D4EB7-D21B-4046-BA0E-76E35825E769}"/>
    <dgm:cxn modelId="{DB7E52F0-3A21-42D4-9734-0C5733E08495}" type="presOf" srcId="{870B91A1-7977-4CE3-B27C-6AE86C41D6F9}" destId="{AC3FE768-A7A6-4622-8658-F4C9B6760D50}" srcOrd="0" destOrd="0" presId="urn:microsoft.com/office/officeart/2005/8/layout/target3"/>
    <dgm:cxn modelId="{91626BF3-B76A-4918-B535-F6BA4F2093AD}" type="presOf" srcId="{81AB9872-FD87-4B39-B3E6-634123274755}" destId="{D79F9AF0-E3D6-465F-830D-37E0DB825108}" srcOrd="0" destOrd="0" presId="urn:microsoft.com/office/officeart/2005/8/layout/target3"/>
    <dgm:cxn modelId="{A15BE67A-6750-4650-8738-EDAD6AFC28DE}" type="presParOf" srcId="{DE860416-E6AE-46B5-862B-CD2595D1ACD2}" destId="{DD66BBEE-7F67-4E6F-A56A-94C435C76A0E}" srcOrd="0" destOrd="0" presId="urn:microsoft.com/office/officeart/2005/8/layout/target3"/>
    <dgm:cxn modelId="{3223D544-F4DF-466A-BCC5-D1858842068D}" type="presParOf" srcId="{DE860416-E6AE-46B5-862B-CD2595D1ACD2}" destId="{FDE74903-F762-4C18-A9EA-82E9B3622505}" srcOrd="1" destOrd="0" presId="urn:microsoft.com/office/officeart/2005/8/layout/target3"/>
    <dgm:cxn modelId="{F9F17FAA-59BF-457D-AF9C-F83D9268917F}" type="presParOf" srcId="{DE860416-E6AE-46B5-862B-CD2595D1ACD2}" destId="{7340E5E1-75B9-4AC7-BC8E-760EBCEC593A}" srcOrd="2" destOrd="0" presId="urn:microsoft.com/office/officeart/2005/8/layout/target3"/>
    <dgm:cxn modelId="{EA737104-BAF6-4461-88B0-9FF297B13851}" type="presParOf" srcId="{DE860416-E6AE-46B5-862B-CD2595D1ACD2}" destId="{B254124F-857D-49BC-9076-E6B1C7264687}" srcOrd="3" destOrd="0" presId="urn:microsoft.com/office/officeart/2005/8/layout/target3"/>
    <dgm:cxn modelId="{8C8ECAA3-5A45-415A-BE7B-9A2D82B938A0}" type="presParOf" srcId="{DE860416-E6AE-46B5-862B-CD2595D1ACD2}" destId="{1C92F080-F11E-41B4-9205-54B0EF12DEC9}" srcOrd="4" destOrd="0" presId="urn:microsoft.com/office/officeart/2005/8/layout/target3"/>
    <dgm:cxn modelId="{DEFC58F4-9137-4888-BB6C-52637020FD65}" type="presParOf" srcId="{DE860416-E6AE-46B5-862B-CD2595D1ACD2}" destId="{A87E5B63-305F-4FCD-81E2-4C74958D6A27}" srcOrd="5" destOrd="0" presId="urn:microsoft.com/office/officeart/2005/8/layout/target3"/>
    <dgm:cxn modelId="{DAF56E7F-1E3F-4000-8598-5617314F248C}" type="presParOf" srcId="{DE860416-E6AE-46B5-862B-CD2595D1ACD2}" destId="{62CB1E3F-0141-49A4-BA9C-C109765B1F98}" srcOrd="6" destOrd="0" presId="urn:microsoft.com/office/officeart/2005/8/layout/target3"/>
    <dgm:cxn modelId="{EDD97C8B-D7A0-46B1-B20C-DF0EDE1628CC}" type="presParOf" srcId="{DE860416-E6AE-46B5-862B-CD2595D1ACD2}" destId="{78F08F96-F342-40B9-97BB-A45CB8663AC7}" srcOrd="7" destOrd="0" presId="urn:microsoft.com/office/officeart/2005/8/layout/target3"/>
    <dgm:cxn modelId="{4A70E448-4806-42FD-B80C-16218464F1C2}" type="presParOf" srcId="{DE860416-E6AE-46B5-862B-CD2595D1ACD2}" destId="{AC3FE768-A7A6-4622-8658-F4C9B6760D50}" srcOrd="8" destOrd="0" presId="urn:microsoft.com/office/officeart/2005/8/layout/target3"/>
    <dgm:cxn modelId="{24F762A5-682F-4BA2-BBD6-7FC0E772FD95}" type="presParOf" srcId="{DE860416-E6AE-46B5-862B-CD2595D1ACD2}" destId="{D2DE4750-4C51-4092-B074-C442F7F0DA95}" srcOrd="9" destOrd="0" presId="urn:microsoft.com/office/officeart/2005/8/layout/target3"/>
    <dgm:cxn modelId="{C3DF8B29-7BC0-4F4C-B2A3-9E809C4CC569}" type="presParOf" srcId="{DE860416-E6AE-46B5-862B-CD2595D1ACD2}" destId="{13AD4230-589B-43F6-BB57-1887BC3EB258}" srcOrd="10" destOrd="0" presId="urn:microsoft.com/office/officeart/2005/8/layout/target3"/>
    <dgm:cxn modelId="{3AE639AF-4DD6-46CF-A2AA-23EE3E2B1937}" type="presParOf" srcId="{DE860416-E6AE-46B5-862B-CD2595D1ACD2}" destId="{D79F9AF0-E3D6-465F-830D-37E0DB825108}" srcOrd="11" destOrd="0" presId="urn:microsoft.com/office/officeart/2005/8/layout/target3"/>
    <dgm:cxn modelId="{0E8165B3-765F-4767-8B8B-58634F6C1004}" type="presParOf" srcId="{DE860416-E6AE-46B5-862B-CD2595D1ACD2}" destId="{C46EE7D3-877D-4B4E-884C-7E2B027D9CF6}" srcOrd="12" destOrd="0" presId="urn:microsoft.com/office/officeart/2005/8/layout/target3"/>
    <dgm:cxn modelId="{96767C97-1249-469C-963D-F746D731AAFB}" type="presParOf" srcId="{DE860416-E6AE-46B5-862B-CD2595D1ACD2}" destId="{BE61F5BD-10E8-4AE3-B1EA-AF4522C6E806}" srcOrd="13" destOrd="0" presId="urn:microsoft.com/office/officeart/2005/8/layout/target3"/>
    <dgm:cxn modelId="{CD8E25BE-A633-4AFB-919E-B36F236E9901}" type="presParOf" srcId="{DE860416-E6AE-46B5-862B-CD2595D1ACD2}" destId="{4ABF297B-4454-4BF3-ACD3-70EAD5674A15}" srcOrd="14" destOrd="0" presId="urn:microsoft.com/office/officeart/2005/8/layout/target3"/>
    <dgm:cxn modelId="{AA7ED3AD-3B53-4DCC-9DAD-D06ED8E5323E}" type="presParOf" srcId="{DE860416-E6AE-46B5-862B-CD2595D1ACD2}" destId="{312F8484-8763-4845-80FD-FD1D3CDA2360}" srcOrd="15" destOrd="0" presId="urn:microsoft.com/office/officeart/2005/8/layout/target3"/>
    <dgm:cxn modelId="{B513BA12-7B66-4F54-A601-E6D194EC362D}" type="presParOf" srcId="{DE860416-E6AE-46B5-862B-CD2595D1ACD2}" destId="{20CAA821-B668-4B6E-9939-24509482A831}" srcOrd="16" destOrd="0" presId="urn:microsoft.com/office/officeart/2005/8/layout/target3"/>
    <dgm:cxn modelId="{CA4DCCF0-0DAE-4A1D-9565-2F924472BC4C}" type="presParOf" srcId="{DE860416-E6AE-46B5-862B-CD2595D1ACD2}" destId="{18FFC0B5-7787-41E4-A506-1661E998EBCE}" srcOrd="17" destOrd="0" presId="urn:microsoft.com/office/officeart/2005/8/layout/target3"/>
    <dgm:cxn modelId="{C30E2EC0-3969-4124-AF39-7C8FA085A76A}" type="presParOf" srcId="{DE860416-E6AE-46B5-862B-CD2595D1ACD2}" destId="{5C9A8D27-7EFF-48FA-B590-AE163E71C3E5}" srcOrd="18" destOrd="0" presId="urn:microsoft.com/office/officeart/2005/8/layout/target3"/>
    <dgm:cxn modelId="{A8C5D978-FAA8-404E-B22C-3C6AC5E19830}" type="presParOf" srcId="{DE860416-E6AE-46B5-862B-CD2595D1ACD2}" destId="{C80486EC-8615-49CB-BFB1-748D77F94511}" srcOrd="19" destOrd="0" presId="urn:microsoft.com/office/officeart/2005/8/layout/target3"/>
    <dgm:cxn modelId="{362A6450-3AD8-4D51-A53D-C653ABCA89C8}" type="presParOf" srcId="{DE860416-E6AE-46B5-862B-CD2595D1ACD2}" destId="{E7E07684-9E18-42BF-B26B-902555060652}" srcOrd="20" destOrd="0" presId="urn:microsoft.com/office/officeart/2005/8/layout/target3"/>
    <dgm:cxn modelId="{A238F773-EC2D-450B-929D-25C13150D21C}" type="presParOf" srcId="{DE860416-E6AE-46B5-862B-CD2595D1ACD2}" destId="{AE2DCCCF-C4D9-4127-A2D1-BA19241541A9}" srcOrd="21" destOrd="0" presId="urn:microsoft.com/office/officeart/2005/8/layout/target3"/>
    <dgm:cxn modelId="{7596CB44-6B7D-4AC7-B02E-FD5BA8898DED}" type="presParOf" srcId="{DE860416-E6AE-46B5-862B-CD2595D1ACD2}" destId="{E0EA8316-8BED-40DF-AAEE-E26166C99A2E}" srcOrd="22" destOrd="0" presId="urn:microsoft.com/office/officeart/2005/8/layout/target3"/>
    <dgm:cxn modelId="{7EE73F01-C320-483F-B8BF-49B76DFCBD3E}" type="presParOf" srcId="{DE860416-E6AE-46B5-862B-CD2595D1ACD2}" destId="{9E956095-B2E2-48EE-891F-740FFF3AECC9}" srcOrd="23" destOrd="0" presId="urn:microsoft.com/office/officeart/2005/8/layout/target3"/>
    <dgm:cxn modelId="{E951FAB3-C74C-44DD-9750-F405FB8AB43E}" type="presParOf" srcId="{DE860416-E6AE-46B5-862B-CD2595D1ACD2}" destId="{B53B3CE0-E8FF-483A-8CA7-F43AC555AE06}" srcOrd="24" destOrd="0" presId="urn:microsoft.com/office/officeart/2005/8/layout/target3"/>
    <dgm:cxn modelId="{D2A68353-B46C-4B70-9246-AE022FBAAA17}" type="presParOf" srcId="{DE860416-E6AE-46B5-862B-CD2595D1ACD2}" destId="{D121D5F9-6176-42FF-84BD-7ADB4E4E00B8}" srcOrd="25" destOrd="0" presId="urn:microsoft.com/office/officeart/2005/8/layout/target3"/>
    <dgm:cxn modelId="{88A47690-075B-46FA-AFA1-A4DB54832FAE}" type="presParOf" srcId="{DE860416-E6AE-46B5-862B-CD2595D1ACD2}" destId="{6ADB58E0-D6AE-4446-B726-FC7F3A725A4A}" srcOrd="26" destOrd="0" presId="urn:microsoft.com/office/officeart/2005/8/layout/target3"/>
    <dgm:cxn modelId="{C84F29B8-A0DA-4E1D-A683-D1B9AF393AEB}" type="presParOf" srcId="{DE860416-E6AE-46B5-862B-CD2595D1ACD2}" destId="{74254FC8-93CE-4996-953F-2855065F8EB3}" srcOrd="27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6BBEE-7F67-4E6F-A56A-94C435C76A0E}">
      <dsp:nvSpPr>
        <dsp:cNvPr id="0" name=""/>
        <dsp:cNvSpPr/>
      </dsp:nvSpPr>
      <dsp:spPr>
        <a:xfrm>
          <a:off x="0" y="0"/>
          <a:ext cx="5298895" cy="529889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340E5E1-75B9-4AC7-BC8E-760EBCEC593A}">
      <dsp:nvSpPr>
        <dsp:cNvPr id="0" name=""/>
        <dsp:cNvSpPr/>
      </dsp:nvSpPr>
      <dsp:spPr>
        <a:xfrm>
          <a:off x="2649447" y="0"/>
          <a:ext cx="6396344" cy="52988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Why Stream &amp; Lambda</a:t>
          </a:r>
        </a:p>
      </dsp:txBody>
      <dsp:txXfrm>
        <a:off x="2649447" y="0"/>
        <a:ext cx="6396344" cy="529888"/>
      </dsp:txXfrm>
    </dsp:sp>
    <dsp:sp modelId="{1C92F080-F11E-41B4-9205-54B0EF12DEC9}">
      <dsp:nvSpPr>
        <dsp:cNvPr id="0" name=""/>
        <dsp:cNvSpPr/>
      </dsp:nvSpPr>
      <dsp:spPr>
        <a:xfrm>
          <a:off x="397416" y="529888"/>
          <a:ext cx="4504062" cy="4504062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87E5B63-305F-4FCD-81E2-4C74958D6A27}">
      <dsp:nvSpPr>
        <dsp:cNvPr id="0" name=""/>
        <dsp:cNvSpPr/>
      </dsp:nvSpPr>
      <dsp:spPr>
        <a:xfrm>
          <a:off x="2649447" y="529888"/>
          <a:ext cx="6396344" cy="4504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Lambda</a:t>
          </a:r>
        </a:p>
      </dsp:txBody>
      <dsp:txXfrm>
        <a:off x="2649447" y="529888"/>
        <a:ext cx="6396344" cy="529888"/>
      </dsp:txXfrm>
    </dsp:sp>
    <dsp:sp modelId="{78F08F96-F342-40B9-97BB-A45CB8663AC7}">
      <dsp:nvSpPr>
        <dsp:cNvPr id="0" name=""/>
        <dsp:cNvSpPr/>
      </dsp:nvSpPr>
      <dsp:spPr>
        <a:xfrm>
          <a:off x="794833" y="1059777"/>
          <a:ext cx="3709228" cy="3709228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C3FE768-A7A6-4622-8658-F4C9B6760D50}">
      <dsp:nvSpPr>
        <dsp:cNvPr id="0" name=""/>
        <dsp:cNvSpPr/>
      </dsp:nvSpPr>
      <dsp:spPr>
        <a:xfrm>
          <a:off x="2649447" y="1059777"/>
          <a:ext cx="6396344" cy="37092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Stream</a:t>
          </a:r>
        </a:p>
      </dsp:txBody>
      <dsp:txXfrm>
        <a:off x="2649447" y="1059777"/>
        <a:ext cx="6396344" cy="529888"/>
      </dsp:txXfrm>
    </dsp:sp>
    <dsp:sp modelId="{13AD4230-589B-43F6-BB57-1887BC3EB258}">
      <dsp:nvSpPr>
        <dsp:cNvPr id="0" name=""/>
        <dsp:cNvSpPr/>
      </dsp:nvSpPr>
      <dsp:spPr>
        <a:xfrm>
          <a:off x="1192250" y="1589666"/>
          <a:ext cx="2914395" cy="291439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79F9AF0-E3D6-465F-830D-37E0DB825108}">
      <dsp:nvSpPr>
        <dsp:cNvPr id="0" name=""/>
        <dsp:cNvSpPr/>
      </dsp:nvSpPr>
      <dsp:spPr>
        <a:xfrm>
          <a:off x="2649447" y="1589666"/>
          <a:ext cx="6396344" cy="29143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Stream Operations</a:t>
          </a:r>
          <a:endParaRPr lang="en-IN" sz="2800" kern="1200" dirty="0"/>
        </a:p>
      </dsp:txBody>
      <dsp:txXfrm>
        <a:off x="2649447" y="1589666"/>
        <a:ext cx="6396344" cy="529894"/>
      </dsp:txXfrm>
    </dsp:sp>
    <dsp:sp modelId="{BE61F5BD-10E8-4AE3-B1EA-AF4522C6E806}">
      <dsp:nvSpPr>
        <dsp:cNvPr id="0" name=""/>
        <dsp:cNvSpPr/>
      </dsp:nvSpPr>
      <dsp:spPr>
        <a:xfrm>
          <a:off x="1589669" y="2119560"/>
          <a:ext cx="2119556" cy="2119556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ABF297B-4454-4BF3-ACD3-70EAD5674A15}">
      <dsp:nvSpPr>
        <dsp:cNvPr id="0" name=""/>
        <dsp:cNvSpPr/>
      </dsp:nvSpPr>
      <dsp:spPr>
        <a:xfrm>
          <a:off x="2649447" y="2119560"/>
          <a:ext cx="6396344" cy="211955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Stream Sources</a:t>
          </a:r>
        </a:p>
      </dsp:txBody>
      <dsp:txXfrm>
        <a:off x="2649447" y="2119560"/>
        <a:ext cx="6396344" cy="529888"/>
      </dsp:txXfrm>
    </dsp:sp>
    <dsp:sp modelId="{20CAA821-B668-4B6E-9939-24509482A831}">
      <dsp:nvSpPr>
        <dsp:cNvPr id="0" name=""/>
        <dsp:cNvSpPr/>
      </dsp:nvSpPr>
      <dsp:spPr>
        <a:xfrm>
          <a:off x="1987086" y="2649449"/>
          <a:ext cx="1324722" cy="1324722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8FFC0B5-7787-41E4-A506-1661E998EBCE}">
      <dsp:nvSpPr>
        <dsp:cNvPr id="0" name=""/>
        <dsp:cNvSpPr/>
      </dsp:nvSpPr>
      <dsp:spPr>
        <a:xfrm>
          <a:off x="2649447" y="2649449"/>
          <a:ext cx="6396344" cy="132472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Reduction</a:t>
          </a:r>
          <a:endParaRPr lang="en-IN" sz="2800" kern="1200" dirty="0"/>
        </a:p>
      </dsp:txBody>
      <dsp:txXfrm>
        <a:off x="2649447" y="2649449"/>
        <a:ext cx="6396344" cy="529888"/>
      </dsp:txXfrm>
    </dsp:sp>
    <dsp:sp modelId="{C80486EC-8615-49CB-BFB1-748D77F94511}">
      <dsp:nvSpPr>
        <dsp:cNvPr id="0" name=""/>
        <dsp:cNvSpPr/>
      </dsp:nvSpPr>
      <dsp:spPr>
        <a:xfrm>
          <a:off x="2384503" y="3179338"/>
          <a:ext cx="529888" cy="529888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7E07684-9E18-42BF-B26B-902555060652}">
      <dsp:nvSpPr>
        <dsp:cNvPr id="0" name=""/>
        <dsp:cNvSpPr/>
      </dsp:nvSpPr>
      <dsp:spPr>
        <a:xfrm>
          <a:off x="2649447" y="3179338"/>
          <a:ext cx="6396344" cy="52988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80000" rIns="106680" bIns="1800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Stream &amp; Lambda Examples</a:t>
          </a:r>
          <a:endParaRPr lang="en-IN" sz="2800" kern="1200" dirty="0"/>
        </a:p>
      </dsp:txBody>
      <dsp:txXfrm>
        <a:off x="2649447" y="3179338"/>
        <a:ext cx="6396344" cy="5298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2CF51D-2CA1-4036-9BAF-10979399AB3B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1FD81-BCC5-4427-8597-1D23DC5F35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29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D81-BCC5-4427-8597-1D23DC5F35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826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56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173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>
            <a:lumMod val="20000"/>
            <a:lumOff val="8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6" y="776216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78055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208315"/>
            <a:ext cx="10437812" cy="58109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208315"/>
            <a:ext cx="1602997" cy="581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6726" y="-36183"/>
            <a:ext cx="9613861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47041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033" y="270769"/>
            <a:ext cx="945384" cy="447331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687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54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384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035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20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99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80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56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119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437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224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003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971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946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286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0B59F-74D7-40A6-8C1E-2D62BF488CDC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AB784-92A5-40A8-827D-CABD0D3909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120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55A1-778B-CBD3-2A30-970B27E7B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sz="4400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/&gt;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sz="4400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67B07-2AB6-250A-AB80-DE8B50BCA0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Agency FB" panose="020B0503020202020204" pitchFamily="34" charset="0"/>
              </a:rPr>
              <a:t>Core JAVA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98916-F9E7-EBAC-BE3B-5EA900294F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542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9174-4221-2E61-2BBA-A5675E5D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Lambda &amp; Stream{</a:t>
            </a:r>
            <a:r>
              <a:rPr lang="en-IN" sz="2000" dirty="0"/>
              <a:t>Agenda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D9D6B-D71E-9A8C-F04C-695B0CF7B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D7DBE-7876-EDF4-6E90-83F9BF3C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0D294A9-1C75-20B8-E943-80AC12FC0B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7712740"/>
              </p:ext>
            </p:extLst>
          </p:nvPr>
        </p:nvGraphicFramePr>
        <p:xfrm>
          <a:off x="311150" y="1044755"/>
          <a:ext cx="9045792" cy="5298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93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AC8B-BB9D-1C73-7C6C-6DA31094E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Why Stream &amp; 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04C9-CF4E-F114-217D-A5DA9CBD3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44" y="928815"/>
            <a:ext cx="11784691" cy="538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Before Java 8, Java focused on </a:t>
            </a:r>
            <a:r>
              <a:rPr lang="en-IN" sz="1800" b="1" dirty="0">
                <a:solidFill>
                  <a:schemeClr val="bg1"/>
                </a:solidFill>
              </a:rPr>
              <a:t>object-oriented programming (OOP)</a:t>
            </a:r>
            <a:r>
              <a:rPr lang="en-IN" sz="1800" dirty="0">
                <a:solidFill>
                  <a:schemeClr val="bg1"/>
                </a:solidFill>
              </a:rPr>
              <a:t> only. But modern applications needed: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Easier </a:t>
            </a:r>
            <a:r>
              <a:rPr lang="en-IN" sz="1800" b="1" dirty="0">
                <a:solidFill>
                  <a:schemeClr val="bg1"/>
                </a:solidFill>
              </a:rPr>
              <a:t>data processing</a:t>
            </a:r>
            <a:endParaRPr lang="en-IN" sz="1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More </a:t>
            </a:r>
            <a:r>
              <a:rPr lang="en-IN" sz="1800" b="1" dirty="0">
                <a:solidFill>
                  <a:schemeClr val="bg1"/>
                </a:solidFill>
              </a:rPr>
              <a:t>readable collection handling</a:t>
            </a:r>
            <a:endParaRPr lang="en-IN" sz="1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Better support for </a:t>
            </a:r>
            <a:r>
              <a:rPr lang="en-IN" sz="1800" b="1" dirty="0">
                <a:solidFill>
                  <a:schemeClr val="bg1"/>
                </a:solidFill>
              </a:rPr>
              <a:t>parallel execution</a:t>
            </a:r>
            <a:endParaRPr lang="en-IN" sz="1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So Java added </a:t>
            </a:r>
            <a:r>
              <a:rPr lang="en-IN" sz="1800" b="1" dirty="0">
                <a:solidFill>
                  <a:schemeClr val="bg1"/>
                </a:solidFill>
              </a:rPr>
              <a:t>Functional Programming concepts</a:t>
            </a:r>
            <a:r>
              <a:rPr lang="en-IN" sz="1800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Functional programming means: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You pass </a:t>
            </a:r>
            <a:r>
              <a:rPr lang="en-US" sz="1800" b="1" dirty="0">
                <a:solidFill>
                  <a:schemeClr val="bg1"/>
                </a:solidFill>
              </a:rPr>
              <a:t>functions as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You avoid changing shared data (immutability)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You focus on </a:t>
            </a:r>
            <a:r>
              <a:rPr lang="en-US" sz="1800" b="1" dirty="0">
                <a:solidFill>
                  <a:schemeClr val="bg1"/>
                </a:solidFill>
              </a:rPr>
              <a:t>what to do</a:t>
            </a:r>
            <a:r>
              <a:rPr lang="en-US" sz="1800" dirty="0">
                <a:solidFill>
                  <a:schemeClr val="bg1"/>
                </a:solidFill>
              </a:rPr>
              <a:t>, not </a:t>
            </a:r>
            <a:r>
              <a:rPr lang="en-US" sz="1800" b="1" dirty="0">
                <a:solidFill>
                  <a:schemeClr val="bg1"/>
                </a:solidFill>
              </a:rPr>
              <a:t>how to loop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28DD-DE8B-6C76-B10F-29710DE89C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7183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1BEE-3AE6-413C-0769-2817EAB0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7CDC1-44D3-2B57-104E-2AF8FCB20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5"/>
            <a:ext cx="11784691" cy="5713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Lambda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b="1" dirty="0">
                <a:solidFill>
                  <a:schemeClr val="bg1"/>
                </a:solidFill>
              </a:rPr>
              <a:t>lambda expression</a:t>
            </a:r>
            <a:r>
              <a:rPr lang="en-US" sz="1800" dirty="0">
                <a:solidFill>
                  <a:schemeClr val="bg1"/>
                </a:solidFill>
              </a:rPr>
              <a:t> is an </a:t>
            </a:r>
            <a:r>
              <a:rPr lang="en-US" sz="1800" b="1" dirty="0">
                <a:solidFill>
                  <a:schemeClr val="bg1"/>
                </a:solidFill>
              </a:rPr>
              <a:t>anonymous function</a:t>
            </a:r>
            <a:r>
              <a:rPr lang="en-US" sz="1800" dirty="0">
                <a:solidFill>
                  <a:schemeClr val="bg1"/>
                </a:solidFill>
              </a:rPr>
              <a:t> — a function without a name. It can be: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Stored in a variable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Passed as a parameter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Returned from a method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Think of it as a </a:t>
            </a:r>
            <a:r>
              <a:rPr lang="en-US" sz="1800" b="1" dirty="0">
                <a:solidFill>
                  <a:schemeClr val="bg1"/>
                </a:solidFill>
              </a:rPr>
              <a:t>piece of behavior</a:t>
            </a:r>
            <a:r>
              <a:rPr lang="en-US" sz="1800" dirty="0">
                <a:solidFill>
                  <a:schemeClr val="bg1"/>
                </a:solidFill>
              </a:rPr>
              <a:t> you can hand over to another method. Lambdas </a:t>
            </a:r>
            <a:r>
              <a:rPr lang="en-US" sz="1800" b="1" dirty="0">
                <a:solidFill>
                  <a:schemeClr val="bg1"/>
                </a:solidFill>
              </a:rPr>
              <a:t>only</a:t>
            </a:r>
            <a:r>
              <a:rPr lang="en-US" sz="1800" dirty="0">
                <a:solidFill>
                  <a:schemeClr val="bg1"/>
                </a:solidFill>
              </a:rPr>
              <a:t> work with </a:t>
            </a:r>
            <a:r>
              <a:rPr lang="en-US" sz="1800" b="1" dirty="0">
                <a:solidFill>
                  <a:schemeClr val="bg1"/>
                </a:solidFill>
              </a:rPr>
              <a:t>functional interfaces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Functional Interface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An interface that has </a:t>
            </a:r>
            <a:r>
              <a:rPr lang="en-US" sz="1800" b="1" dirty="0">
                <a:solidFill>
                  <a:schemeClr val="bg1"/>
                </a:solidFill>
              </a:rPr>
              <a:t>exactly ONE abstract method. </a:t>
            </a:r>
            <a:r>
              <a:rPr lang="en-US" sz="1800" dirty="0">
                <a:solidFill>
                  <a:schemeClr val="bg1"/>
                </a:solidFill>
              </a:rPr>
              <a:t>This is because Java needs to know which method your lambda is implementing. Common built-in functional interface:-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	Predicate&lt;T&gt;, Function&lt;T, R&gt;, Consumer&lt;T&gt;, Supplier&lt;T&gt;</a:t>
            </a:r>
          </a:p>
        </p:txBody>
      </p:sp>
    </p:spTree>
    <p:extLst>
      <p:ext uri="{BB962C8B-B14F-4D97-AF65-F5344CB8AC3E}">
        <p14:creationId xmlns:p14="http://schemas.microsoft.com/office/powerpoint/2010/main" val="183612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8040A-277A-8CF4-8F30-1C314FD77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Lambda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ADEA4-F873-593C-AAC3-81C65E48E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784691" cy="46379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Lambda Expression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	(parameters) -&gt; expression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Lambda expression with two parameters. </a:t>
            </a:r>
            <a:r>
              <a:rPr lang="en-US" sz="1800" dirty="0">
                <a:solidFill>
                  <a:schemeClr val="bg1"/>
                </a:solidFill>
              </a:rPr>
              <a:t>Below expression takes two strings and compare based on length: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11B8A-50C7-6092-2B28-F250D8BC5373}"/>
              </a:ext>
            </a:extLst>
          </p:cNvPr>
          <p:cNvSpPr txBox="1"/>
          <p:nvPr/>
        </p:nvSpPr>
        <p:spPr>
          <a:xfrm>
            <a:off x="191909" y="2421466"/>
            <a:ext cx="4092223" cy="1246495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Runnable r = new Runnable()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public void run() {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("Running...");</a:t>
            </a:r>
          </a:p>
          <a:p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r>
              <a:rPr lang="en-IN" sz="1500" dirty="0">
                <a:solidFill>
                  <a:schemeClr val="bg1"/>
                </a:solidFill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1125C-AD14-935B-1136-488E1A3641FC}"/>
              </a:ext>
            </a:extLst>
          </p:cNvPr>
          <p:cNvSpPr txBox="1"/>
          <p:nvPr/>
        </p:nvSpPr>
        <p:spPr>
          <a:xfrm>
            <a:off x="1570892" y="1969477"/>
            <a:ext cx="132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Old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C04516-A584-6693-FEF7-8934875121A5}"/>
              </a:ext>
            </a:extLst>
          </p:cNvPr>
          <p:cNvSpPr txBox="1"/>
          <p:nvPr/>
        </p:nvSpPr>
        <p:spPr>
          <a:xfrm>
            <a:off x="5801401" y="2421466"/>
            <a:ext cx="4092223" cy="553998"/>
          </a:xfrm>
          <a:prstGeom prst="rect">
            <a:avLst/>
          </a:prstGeom>
          <a:noFill/>
          <a:ln>
            <a:solidFill>
              <a:schemeClr val="tx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1"/>
                </a:solidFill>
              </a:rPr>
              <a:t>Runnable r = () -&gt;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("Running...");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7032C3-A10E-18F2-003B-0E31670185DA}"/>
              </a:ext>
            </a:extLst>
          </p:cNvPr>
          <p:cNvSpPr txBox="1"/>
          <p:nvPr/>
        </p:nvSpPr>
        <p:spPr>
          <a:xfrm>
            <a:off x="7115908" y="1969477"/>
            <a:ext cx="1652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Lambda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56F6E-03B3-A886-77F3-DFC25D8C1CA9}"/>
              </a:ext>
            </a:extLst>
          </p:cNvPr>
          <p:cNvSpPr txBox="1"/>
          <p:nvPr/>
        </p:nvSpPr>
        <p:spPr>
          <a:xfrm>
            <a:off x="95954" y="4638699"/>
            <a:ext cx="427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Comparator&lt;String&gt; comp = (a, b) -&gt; 	</a:t>
            </a:r>
            <a:r>
              <a:rPr lang="en-US" sz="1600" dirty="0" err="1">
                <a:solidFill>
                  <a:schemeClr val="bg1"/>
                </a:solidFill>
              </a:rPr>
              <a:t>a.length</a:t>
            </a:r>
            <a:r>
              <a:rPr lang="en-US" sz="1600" dirty="0">
                <a:solidFill>
                  <a:schemeClr val="bg1"/>
                </a:solidFill>
              </a:rPr>
              <a:t>() - </a:t>
            </a:r>
            <a:r>
              <a:rPr lang="en-US" sz="1600" dirty="0" err="1">
                <a:solidFill>
                  <a:schemeClr val="bg1"/>
                </a:solidFill>
              </a:rPr>
              <a:t>b.length</a:t>
            </a:r>
            <a:r>
              <a:rPr lang="en-US" sz="1600" dirty="0">
                <a:solidFill>
                  <a:schemeClr val="bg1"/>
                </a:solidFill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639821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31A0-5D88-7064-F864-D1CDBBE8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F6E77-6E8B-3EB5-B32B-BE6A658A1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979428" cy="5716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b="1" dirty="0">
                <a:solidFill>
                  <a:schemeClr val="bg1"/>
                </a:solidFill>
              </a:rPr>
              <a:t>Stream</a:t>
            </a:r>
            <a:r>
              <a:rPr lang="en-US" sz="1800" dirty="0">
                <a:solidFill>
                  <a:schemeClr val="bg1"/>
                </a:solidFill>
              </a:rPr>
              <a:t> in Java is: a </a:t>
            </a:r>
            <a:r>
              <a:rPr lang="en-US" sz="1800" b="1" dirty="0">
                <a:solidFill>
                  <a:schemeClr val="bg1"/>
                </a:solidFill>
              </a:rPr>
              <a:t>sequence of elements</a:t>
            </a:r>
            <a:r>
              <a:rPr lang="en-US" sz="1800" dirty="0">
                <a:solidFill>
                  <a:schemeClr val="bg1"/>
                </a:solidFill>
              </a:rPr>
              <a:t> supporting </a:t>
            </a:r>
            <a:r>
              <a:rPr lang="en-US" sz="1800" b="1" dirty="0">
                <a:solidFill>
                  <a:schemeClr val="bg1"/>
                </a:solidFill>
              </a:rPr>
              <a:t>functional-style operations</a:t>
            </a:r>
            <a:r>
              <a:rPr lang="en-US" sz="1800" dirty="0">
                <a:solidFill>
                  <a:schemeClr val="bg1"/>
                </a:solidFill>
              </a:rPr>
              <a:t> to produce a result. A Stream is thus:-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bg1"/>
                </a:solidFill>
              </a:rPr>
              <a:t>Sequence</a:t>
            </a:r>
            <a:r>
              <a:rPr lang="en-US" sz="1800" dirty="0">
                <a:solidFill>
                  <a:schemeClr val="bg1"/>
                </a:solidFill>
              </a:rPr>
              <a:t> → ordered flow of data (not storage)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bg1"/>
                </a:solidFill>
              </a:rPr>
              <a:t>Functional-style</a:t>
            </a:r>
            <a:r>
              <a:rPr lang="en-US" sz="1800" dirty="0">
                <a:solidFill>
                  <a:schemeClr val="bg1"/>
                </a:solidFill>
              </a:rPr>
              <a:t> → uses lambdas (no manual loops)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chemeClr val="bg1"/>
                </a:solidFill>
              </a:rPr>
              <a:t>Produce a result</a:t>
            </a:r>
            <a:r>
              <a:rPr lang="en-US" sz="1800" dirty="0">
                <a:solidFill>
                  <a:schemeClr val="bg1"/>
                </a:solidFill>
              </a:rPr>
              <a:t> → eventually ends with a terminal operation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stream is about </a:t>
            </a:r>
            <a:r>
              <a:rPr lang="en-US" sz="1800" b="1" dirty="0">
                <a:solidFill>
                  <a:schemeClr val="bg1"/>
                </a:solidFill>
              </a:rPr>
              <a:t>processing</a:t>
            </a:r>
            <a:r>
              <a:rPr lang="en-US" sz="1800" dirty="0">
                <a:solidFill>
                  <a:schemeClr val="bg1"/>
                </a:solidFill>
              </a:rPr>
              <a:t>, not </a:t>
            </a:r>
            <a:r>
              <a:rPr lang="en-US" sz="1800" b="1" dirty="0">
                <a:solidFill>
                  <a:schemeClr val="bg1"/>
                </a:solidFill>
              </a:rPr>
              <a:t>holding</a:t>
            </a:r>
            <a:r>
              <a:rPr lang="en-US" sz="1800" dirty="0">
                <a:solidFill>
                  <a:schemeClr val="bg1"/>
                </a:solidFill>
              </a:rPr>
              <a:t> data.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Stream vs Collection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5C192F-59D8-A65E-7595-F59626B7D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400171"/>
              </p:ext>
            </p:extLst>
          </p:nvPr>
        </p:nvGraphicFramePr>
        <p:xfrm>
          <a:off x="175846" y="4353107"/>
          <a:ext cx="9613900" cy="18288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{284E427A-3D55-4303-BF80-6455036E1DE7}</a:tableStyleId>
              </a:tblPr>
              <a:tblGrid>
                <a:gridCol w="4806950">
                  <a:extLst>
                    <a:ext uri="{9D8B030D-6E8A-4147-A177-3AD203B41FA5}">
                      <a16:colId xmlns:a16="http://schemas.microsoft.com/office/drawing/2014/main" val="2016113103"/>
                    </a:ext>
                  </a:extLst>
                </a:gridCol>
                <a:gridCol w="4806950">
                  <a:extLst>
                    <a:ext uri="{9D8B030D-6E8A-4147-A177-3AD203B41FA5}">
                      <a16:colId xmlns:a16="http://schemas.microsoft.com/office/drawing/2014/main" val="25683348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Stream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23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Stores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Processes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416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Can add/remove elements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Cannot modify 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870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Can be reused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Used only once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12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Eager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Lazy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842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92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5AAA-DA45-BDD5-F05B-60578D66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Stream {intermediate vs terminal operation}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55F3D-CA5E-7F86-630E-EF05BD6B4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991151" cy="57282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1. </a:t>
            </a:r>
            <a:r>
              <a:rPr lang="en-US" sz="1600" u="sng" dirty="0">
                <a:solidFill>
                  <a:schemeClr val="bg1"/>
                </a:solidFill>
              </a:rPr>
              <a:t>Intermediate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u="sng" dirty="0">
                <a:solidFill>
                  <a:schemeClr val="bg1"/>
                </a:solidFill>
              </a:rPr>
              <a:t>Operations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These: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Return another stream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Are lazy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Build the pipeline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Examples: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filter, map, sorted, distinct, limit, skip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2. </a:t>
            </a:r>
            <a:r>
              <a:rPr lang="en-US" sz="1600" u="sng" dirty="0">
                <a:solidFill>
                  <a:schemeClr val="bg1"/>
                </a:solidFill>
              </a:rPr>
              <a:t>Terminal Operations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These: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Produce a result or side effect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Trigger execution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Examples: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 err="1">
                <a:solidFill>
                  <a:schemeClr val="bg1"/>
                </a:solidFill>
              </a:rPr>
              <a:t>forEach</a:t>
            </a:r>
            <a:r>
              <a:rPr lang="en-US" sz="1600" dirty="0">
                <a:solidFill>
                  <a:schemeClr val="bg1"/>
                </a:solidFill>
              </a:rPr>
              <a:t>, collect, count, reduce, </a:t>
            </a:r>
            <a:r>
              <a:rPr lang="en-US" sz="1600" dirty="0" err="1">
                <a:solidFill>
                  <a:schemeClr val="bg1"/>
                </a:solidFill>
              </a:rPr>
              <a:t>findFirst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Without a terminal operation → nothing runs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798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DD7FF-DE61-510E-DA0E-14D81D895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0238C-CE60-6641-A4C1-1F47A4D6D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Stream {stateless vs stateful operation}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65E4F-034D-8CBB-AA11-417869395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991151" cy="57282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1. </a:t>
            </a:r>
            <a:r>
              <a:rPr lang="en-US" sz="1800" u="sng" dirty="0">
                <a:solidFill>
                  <a:schemeClr val="bg1"/>
                </a:solidFill>
              </a:rPr>
              <a:t>Stateless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u="sng" dirty="0">
                <a:solidFill>
                  <a:schemeClr val="bg1"/>
                </a:solidFill>
              </a:rPr>
              <a:t>Operations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Each element processed independently so it is </a:t>
            </a:r>
            <a:r>
              <a:rPr lang="en-IN" sz="1800" dirty="0">
                <a:solidFill>
                  <a:schemeClr val="bg1"/>
                </a:solidFill>
              </a:rPr>
              <a:t>easy to parallelize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Examples: filter, map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2. </a:t>
            </a:r>
            <a:r>
              <a:rPr lang="en-US" sz="1800" u="sng" dirty="0">
                <a:solidFill>
                  <a:schemeClr val="bg1"/>
                </a:solidFill>
              </a:rPr>
              <a:t>Stateful Operations</a:t>
            </a:r>
          </a:p>
          <a:p>
            <a:pPr>
              <a:buNone/>
            </a:pPr>
            <a:r>
              <a:rPr lang="en-US" sz="1800" dirty="0">
                <a:solidFill>
                  <a:schemeClr val="bg1"/>
                </a:solidFill>
              </a:rPr>
              <a:t>Need information about other elements Stateful operations may require buffering.</a:t>
            </a:r>
          </a:p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Examples: sorted, distinct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374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65BBC-0677-896F-093B-6DAF5D1C7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4814A-C8D4-33AF-B9D5-ABA45798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Stream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5563E-8DC6-4DF5-3449-3BFDF7022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991151" cy="5728217"/>
          </a:xfrm>
        </p:spPr>
        <p:txBody>
          <a:bodyPr>
            <a:noAutofit/>
          </a:bodyPr>
          <a:lstStyle/>
          <a:p>
            <a:pPr marL="342900" indent="-342900">
              <a:buAutoNum type="arabicPeriod"/>
            </a:pPr>
            <a:r>
              <a:rPr lang="en-US" sz="1800" u="sng" dirty="0">
                <a:solidFill>
                  <a:schemeClr val="bg1"/>
                </a:solidFill>
              </a:rPr>
              <a:t>Collections</a:t>
            </a:r>
          </a:p>
          <a:p>
            <a:pPr marL="457200" lvl="1" indent="0">
              <a:buNone/>
            </a:pPr>
            <a:endParaRPr lang="en-US" sz="200" u="sng" dirty="0">
              <a:solidFill>
                <a:schemeClr val="bg1"/>
              </a:solidFill>
            </a:endParaRPr>
          </a:p>
          <a:p>
            <a:pPr marL="800100" lvl="1" indent="-342900">
              <a:buAutoNum type="arabicPeriod"/>
            </a:pPr>
            <a:r>
              <a:rPr lang="en-US" sz="1600" dirty="0" err="1">
                <a:solidFill>
                  <a:schemeClr val="bg1"/>
                </a:solidFill>
              </a:rPr>
              <a:t>list.stream</a:t>
            </a:r>
            <a:r>
              <a:rPr lang="en-US" sz="1600" dirty="0">
                <a:solidFill>
                  <a:schemeClr val="bg1"/>
                </a:solidFill>
              </a:rPr>
              <a:t>()</a:t>
            </a:r>
          </a:p>
          <a:p>
            <a:pPr marL="800100" lvl="1" indent="-342900">
              <a:buAutoNum type="arabicPeriod"/>
            </a:pPr>
            <a:r>
              <a:rPr lang="en-US" sz="1600" dirty="0" err="1">
                <a:solidFill>
                  <a:schemeClr val="bg1"/>
                </a:solidFill>
              </a:rPr>
              <a:t>set.stream</a:t>
            </a:r>
            <a:r>
              <a:rPr lang="en-US" sz="1600" dirty="0">
                <a:solidFill>
                  <a:schemeClr val="bg1"/>
                </a:solidFill>
              </a:rPr>
              <a:t>()</a:t>
            </a:r>
          </a:p>
          <a:p>
            <a:pPr marL="457200" lvl="1" indent="0">
              <a:buNone/>
            </a:pPr>
            <a:endParaRPr lang="en-US" sz="200" u="sng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sz="1800" u="sng" dirty="0">
                <a:solidFill>
                  <a:schemeClr val="bg1"/>
                </a:solidFill>
              </a:rPr>
              <a:t>Arrays</a:t>
            </a:r>
          </a:p>
          <a:p>
            <a:pPr marL="800100" lvl="1" indent="-342900">
              <a:buAutoNum type="arabicPeriod"/>
            </a:pPr>
            <a:endParaRPr lang="en-US" sz="200" u="sng" dirty="0">
              <a:solidFill>
                <a:schemeClr val="bg1"/>
              </a:solidFill>
            </a:endParaRPr>
          </a:p>
          <a:p>
            <a:pPr marL="800100" lvl="1" indent="-342900">
              <a:buAutoNum type="arabicPeriod"/>
            </a:pPr>
            <a:r>
              <a:rPr lang="en-US" sz="1400" dirty="0" err="1">
                <a:solidFill>
                  <a:schemeClr val="bg1"/>
                </a:solidFill>
              </a:rPr>
              <a:t>Arrays.stream</a:t>
            </a:r>
            <a:r>
              <a:rPr lang="en-US" sz="1400" dirty="0">
                <a:solidFill>
                  <a:schemeClr val="bg1"/>
                </a:solidFill>
              </a:rPr>
              <a:t>(array)</a:t>
            </a:r>
          </a:p>
          <a:p>
            <a:pPr marL="457200" lvl="1" indent="0">
              <a:buNone/>
            </a:pPr>
            <a:endParaRPr lang="en-US" sz="200" u="sng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sz="1800" u="sng" dirty="0">
                <a:solidFill>
                  <a:schemeClr val="bg1"/>
                </a:solidFill>
              </a:rPr>
              <a:t>Static factory methods</a:t>
            </a:r>
          </a:p>
          <a:p>
            <a:pPr marL="800100" lvl="1" indent="-342900">
              <a:buAutoNum type="arabicPeriod"/>
            </a:pPr>
            <a:r>
              <a:rPr lang="en-US" sz="1400" dirty="0" err="1">
                <a:solidFill>
                  <a:schemeClr val="bg1"/>
                </a:solidFill>
              </a:rPr>
              <a:t>Stream.of</a:t>
            </a:r>
            <a:r>
              <a:rPr lang="en-US" sz="1400" dirty="0">
                <a:solidFill>
                  <a:schemeClr val="bg1"/>
                </a:solidFill>
              </a:rPr>
              <a:t>("A", "B", "C")</a:t>
            </a:r>
          </a:p>
          <a:p>
            <a:pPr marL="457200" lvl="1" indent="0">
              <a:buNone/>
            </a:pPr>
            <a:endParaRPr lang="en-US" sz="200" u="sng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sz="1800" u="sng" dirty="0">
                <a:solidFill>
                  <a:schemeClr val="bg1"/>
                </a:solidFill>
              </a:rPr>
              <a:t>Infinite generators</a:t>
            </a:r>
          </a:p>
          <a:p>
            <a:pPr marL="800100" lvl="1" indent="-342900">
              <a:buAutoNum type="arabicPeriod"/>
            </a:pPr>
            <a:r>
              <a:rPr lang="en-US" sz="1400" dirty="0" err="1">
                <a:solidFill>
                  <a:schemeClr val="bg1"/>
                </a:solidFill>
              </a:rPr>
              <a:t>Stream.generate</a:t>
            </a:r>
            <a:r>
              <a:rPr lang="en-US" sz="1400" dirty="0">
                <a:solidFill>
                  <a:schemeClr val="bg1"/>
                </a:solidFill>
              </a:rPr>
              <a:t>(Math::random)</a:t>
            </a:r>
          </a:p>
          <a:p>
            <a:pPr marL="800100" lvl="1" indent="-342900">
              <a:buAutoNum type="arabicPeriod"/>
            </a:pPr>
            <a:r>
              <a:rPr lang="pt-BR" sz="1400" dirty="0">
                <a:solidFill>
                  <a:schemeClr val="bg1"/>
                </a:solidFill>
              </a:rPr>
              <a:t>Stream.iterate(0, n -&gt; n + 1)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These produce </a:t>
            </a:r>
            <a:r>
              <a:rPr lang="en-US" sz="1400" b="1" dirty="0">
                <a:solidFill>
                  <a:schemeClr val="bg1"/>
                </a:solidFill>
              </a:rPr>
              <a:t>infinite streams</a:t>
            </a:r>
            <a:r>
              <a:rPr lang="en-US" sz="1400" dirty="0">
                <a:solidFill>
                  <a:schemeClr val="bg1"/>
                </a:solidFill>
              </a:rPr>
              <a:t> — must use limit().</a:t>
            </a:r>
          </a:p>
          <a:p>
            <a:pPr marL="457200" lvl="1" indent="0"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593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8EA89-A9FC-5946-2A37-95BDDD394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004E2-DAE9-8FA1-15F1-F9F21EA8F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Stream {</a:t>
            </a:r>
            <a:r>
              <a:rPr lang="en-IN" sz="2000" dirty="0"/>
              <a:t>Reduction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4E651-B0BE-F74D-8BF6-76A98FF2C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991151" cy="57282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A </a:t>
            </a:r>
            <a:r>
              <a:rPr lang="en-US" sz="1800" b="1" dirty="0">
                <a:solidFill>
                  <a:schemeClr val="bg1"/>
                </a:solidFill>
              </a:rPr>
              <a:t>reduction</a:t>
            </a:r>
            <a:r>
              <a:rPr lang="en-US" sz="1800" dirty="0">
                <a:solidFill>
                  <a:schemeClr val="bg1"/>
                </a:solidFill>
              </a:rPr>
              <a:t> combines elements into a single result.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Examples: Sum, Average, String concatenation, Finding max/min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Streams are designed heavily around reduction operations : collect() and reduce().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Streams do </a:t>
            </a:r>
            <a:r>
              <a:rPr lang="en-IN" sz="1800" b="1" dirty="0">
                <a:solidFill>
                  <a:schemeClr val="bg1"/>
                </a:solidFill>
              </a:rPr>
              <a:t>internal iteration, </a:t>
            </a:r>
            <a:r>
              <a:rPr lang="en-IN" sz="1800" dirty="0">
                <a:solidFill>
                  <a:schemeClr val="bg1"/>
                </a:solidFill>
              </a:rPr>
              <a:t>so</a:t>
            </a:r>
            <a:r>
              <a:rPr lang="en-IN" sz="1800" b="1" dirty="0">
                <a:solidFill>
                  <a:schemeClr val="bg1"/>
                </a:solidFill>
              </a:rPr>
              <a:t> </a:t>
            </a:r>
            <a:r>
              <a:rPr lang="en-IN" sz="1800" dirty="0">
                <a:solidFill>
                  <a:schemeClr val="bg1"/>
                </a:solidFill>
              </a:rPr>
              <a:t>Java handles traversal, splitting, and optimization. This enables: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Easier parallelism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Better optimization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Cleaner code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403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C6C1C-A522-A9E3-DA47-21A81D7F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Stream &amp; Lambda {</a:t>
            </a:r>
            <a:r>
              <a:rPr lang="en-IN" sz="2000" dirty="0"/>
              <a:t>Examples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D8063-F169-71B4-2111-BF0E67CFA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1059444"/>
            <a:ext cx="11784691" cy="57275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Example 1 — Filter + Map</a:t>
            </a:r>
          </a:p>
          <a:p>
            <a:pPr marL="0" indent="0">
              <a:buNone/>
            </a:pPr>
            <a:endParaRPr lang="en-US" sz="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Task: </a:t>
            </a:r>
            <a:r>
              <a:rPr lang="en-US" sz="1800" dirty="0">
                <a:solidFill>
                  <a:schemeClr val="bg1"/>
                </a:solidFill>
              </a:rPr>
              <a:t>From a list of names: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Keep names longer than 4 characters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Convert them to uppercase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public class StreamExample1 {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{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List&lt;String&gt; names = </a:t>
            </a:r>
            <a:r>
              <a:rPr lang="en-IN" sz="1500" dirty="0" err="1">
                <a:solidFill>
                  <a:schemeClr val="bg1"/>
                </a:solidFill>
              </a:rPr>
              <a:t>List.of</a:t>
            </a:r>
            <a:r>
              <a:rPr lang="en-IN" sz="1500" dirty="0">
                <a:solidFill>
                  <a:schemeClr val="bg1"/>
                </a:solidFill>
              </a:rPr>
              <a:t>("Amit", "Rahul", "Neha", "Priyanka", "Raj");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names.stream</a:t>
            </a:r>
            <a:r>
              <a:rPr lang="en-IN" sz="1500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.filter(name -&gt; </a:t>
            </a:r>
            <a:r>
              <a:rPr lang="en-IN" sz="1500" dirty="0" err="1">
                <a:solidFill>
                  <a:schemeClr val="bg1"/>
                </a:solidFill>
              </a:rPr>
              <a:t>name.length</a:t>
            </a:r>
            <a:r>
              <a:rPr lang="en-IN" sz="1500" dirty="0">
                <a:solidFill>
                  <a:schemeClr val="bg1"/>
                </a:solidFill>
              </a:rPr>
              <a:t>() &gt; 4)   // keep long names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.map(String::</a:t>
            </a:r>
            <a:r>
              <a:rPr lang="en-IN" sz="1500" dirty="0" err="1">
                <a:solidFill>
                  <a:schemeClr val="bg1"/>
                </a:solidFill>
              </a:rPr>
              <a:t>toUpperCase</a:t>
            </a:r>
            <a:r>
              <a:rPr lang="en-IN" sz="1500" dirty="0">
                <a:solidFill>
                  <a:schemeClr val="bg1"/>
                </a:solidFill>
              </a:rPr>
              <a:t>)            // convert to uppercase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.</a:t>
            </a:r>
            <a:r>
              <a:rPr lang="en-IN" sz="1500" dirty="0" err="1">
                <a:solidFill>
                  <a:schemeClr val="bg1"/>
                </a:solidFill>
              </a:rPr>
              <a:t>forEach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System.out</a:t>
            </a:r>
            <a:r>
              <a:rPr lang="en-IN" sz="1500" dirty="0">
                <a:solidFill>
                  <a:schemeClr val="bg1"/>
                </a:solidFill>
              </a:rPr>
              <a:t>::</a:t>
            </a:r>
            <a:r>
              <a:rPr lang="en-IN" sz="1500" dirty="0" err="1">
                <a:solidFill>
                  <a:schemeClr val="bg1"/>
                </a:solidFill>
              </a:rPr>
              <a:t>println</a:t>
            </a:r>
            <a:r>
              <a:rPr lang="en-IN" sz="1500" dirty="0">
                <a:solidFill>
                  <a:schemeClr val="bg1"/>
                </a:solidFill>
              </a:rPr>
              <a:t>);       // print result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4606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2DFC4-99BD-32F1-FC0E-9DFB6F53A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50CC1-8A3C-953A-1E47-4ACF0F37E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Stream &amp; Lambda {</a:t>
            </a:r>
            <a:r>
              <a:rPr lang="en-IN" sz="2000" dirty="0"/>
              <a:t>Examples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B315B-6465-39BE-F827-C3CB1C182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957204"/>
            <a:ext cx="11784691" cy="58468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Example 2 — Filter + Map + Sorted</a:t>
            </a:r>
          </a:p>
          <a:p>
            <a:pPr marL="0" indent="0">
              <a:buNone/>
            </a:pPr>
            <a:endParaRPr lang="en-US" sz="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Task: </a:t>
            </a:r>
            <a:r>
              <a:rPr lang="en-US" sz="1700" dirty="0">
                <a:solidFill>
                  <a:schemeClr val="bg1"/>
                </a:solidFill>
              </a:rPr>
              <a:t>From numbers: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bg1"/>
                </a:solidFill>
              </a:rPr>
              <a:t>Keep even numbers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bg1"/>
                </a:solidFill>
              </a:rPr>
              <a:t>Multiply by 10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bg1"/>
                </a:solidFill>
              </a:rPr>
              <a:t>Sort in ascending order</a:t>
            </a:r>
          </a:p>
          <a:p>
            <a:pPr marL="342900" indent="-342900">
              <a:buFont typeface="+mj-lt"/>
              <a:buAutoNum type="arabicPeriod"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public class StreamExample2 {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{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List&lt;Integer&gt; numbers = </a:t>
            </a:r>
            <a:r>
              <a:rPr lang="en-IN" sz="1500" dirty="0" err="1">
                <a:solidFill>
                  <a:schemeClr val="bg1"/>
                </a:solidFill>
              </a:rPr>
              <a:t>List.of</a:t>
            </a:r>
            <a:r>
              <a:rPr lang="en-IN" sz="1500" dirty="0">
                <a:solidFill>
                  <a:schemeClr val="bg1"/>
                </a:solidFill>
              </a:rPr>
              <a:t>(5, 2, 8, 1, 10, 3);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numbers.stream</a:t>
            </a:r>
            <a:r>
              <a:rPr lang="en-IN" sz="1500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  .filter(n -&gt; n % 2 == 0)     // even numbers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  .map(n -&gt; n * 10)            // multiply by 10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  .sorted()                    // sort ascending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  .</a:t>
            </a:r>
            <a:r>
              <a:rPr lang="en-IN" sz="1500" dirty="0" err="1">
                <a:solidFill>
                  <a:schemeClr val="bg1"/>
                </a:solidFill>
              </a:rPr>
              <a:t>forEach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System.out</a:t>
            </a:r>
            <a:r>
              <a:rPr lang="en-IN" sz="1500" dirty="0">
                <a:solidFill>
                  <a:schemeClr val="bg1"/>
                </a:solidFill>
              </a:rPr>
              <a:t>::</a:t>
            </a:r>
            <a:r>
              <a:rPr lang="en-IN" sz="1500" dirty="0" err="1">
                <a:solidFill>
                  <a:schemeClr val="bg1"/>
                </a:solidFill>
              </a:rPr>
              <a:t>println</a:t>
            </a:r>
            <a:r>
              <a:rPr lang="en-IN" sz="1500" dirty="0">
                <a:solidFill>
                  <a:schemeClr val="bg1"/>
                </a:solidFill>
              </a:rPr>
              <a:t>);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5056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A4B47-6285-32CF-DF7A-5018D2052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2D459-1CD0-88B1-C948-D9776166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Stream &amp; Lambda {</a:t>
            </a:r>
            <a:r>
              <a:rPr lang="en-IN" sz="2000" dirty="0"/>
              <a:t>Examples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F87E0-BFE5-4B1C-29EB-DE26CF495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957204"/>
            <a:ext cx="11784691" cy="58468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Example 3 — </a:t>
            </a:r>
            <a:r>
              <a:rPr lang="en-IN" sz="1800" b="1" dirty="0">
                <a:solidFill>
                  <a:schemeClr val="bg1"/>
                </a:solidFill>
              </a:rPr>
              <a:t>Map +</a:t>
            </a:r>
            <a:r>
              <a:rPr lang="en-IN" sz="1800" dirty="0">
                <a:solidFill>
                  <a:schemeClr val="bg1"/>
                </a:solidFill>
              </a:rPr>
              <a:t> </a:t>
            </a:r>
            <a:r>
              <a:rPr lang="en-IN" sz="1800" b="1" dirty="0">
                <a:solidFill>
                  <a:schemeClr val="bg1"/>
                </a:solidFill>
              </a:rPr>
              <a:t>Distinct</a:t>
            </a: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Task: </a:t>
            </a:r>
            <a:r>
              <a:rPr lang="en-IN" sz="1800" dirty="0">
                <a:solidFill>
                  <a:schemeClr val="bg1"/>
                </a:solidFill>
              </a:rPr>
              <a:t>From words:</a:t>
            </a:r>
            <a:endParaRPr lang="en-US" sz="17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Convert to lowercase</a:t>
            </a:r>
            <a:endParaRPr lang="en-US" sz="17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Remove duplicates</a:t>
            </a:r>
            <a:endParaRPr lang="en-US" sz="17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public class StreamExample3 {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{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List&lt;String&gt; words = </a:t>
            </a:r>
            <a:r>
              <a:rPr lang="en-IN" sz="1500" dirty="0" err="1">
                <a:solidFill>
                  <a:schemeClr val="bg1"/>
                </a:solidFill>
              </a:rPr>
              <a:t>List.of</a:t>
            </a:r>
            <a:r>
              <a:rPr lang="en-IN" sz="1500" dirty="0">
                <a:solidFill>
                  <a:schemeClr val="bg1"/>
                </a:solidFill>
              </a:rPr>
              <a:t>("Java", "Stream", "JAVA", "lambda", "stream");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words.stream</a:t>
            </a:r>
            <a:r>
              <a:rPr lang="en-IN" sz="1500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.map(String::</a:t>
            </a:r>
            <a:r>
              <a:rPr lang="en-IN" sz="1500" dirty="0" err="1">
                <a:solidFill>
                  <a:schemeClr val="bg1"/>
                </a:solidFill>
              </a:rPr>
              <a:t>toLowerCase</a:t>
            </a:r>
            <a:r>
              <a:rPr lang="en-IN" sz="1500" dirty="0">
                <a:solidFill>
                  <a:schemeClr val="bg1"/>
                </a:solidFill>
              </a:rPr>
              <a:t>)  // normalize case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.distinct()                // remove duplicates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.</a:t>
            </a:r>
            <a:r>
              <a:rPr lang="en-IN" sz="1500" dirty="0" err="1">
                <a:solidFill>
                  <a:schemeClr val="bg1"/>
                </a:solidFill>
              </a:rPr>
              <a:t>forEach</a:t>
            </a:r>
            <a:r>
              <a:rPr lang="en-IN" sz="1500" dirty="0">
                <a:solidFill>
                  <a:schemeClr val="bg1"/>
                </a:solidFill>
              </a:rPr>
              <a:t>(</a:t>
            </a:r>
            <a:r>
              <a:rPr lang="en-IN" sz="1500" dirty="0" err="1">
                <a:solidFill>
                  <a:schemeClr val="bg1"/>
                </a:solidFill>
              </a:rPr>
              <a:t>System.out</a:t>
            </a:r>
            <a:r>
              <a:rPr lang="en-IN" sz="1500" dirty="0">
                <a:solidFill>
                  <a:schemeClr val="bg1"/>
                </a:solidFill>
              </a:rPr>
              <a:t>::</a:t>
            </a:r>
            <a:r>
              <a:rPr lang="en-IN" sz="1500" dirty="0" err="1">
                <a:solidFill>
                  <a:schemeClr val="bg1"/>
                </a:solidFill>
              </a:rPr>
              <a:t>println</a:t>
            </a:r>
            <a:r>
              <a:rPr lang="en-IN" sz="1500" dirty="0">
                <a:solidFill>
                  <a:schemeClr val="bg1"/>
                </a:solidFill>
              </a:rPr>
              <a:t>);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3845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E2541-0267-6A7C-7CCC-4D2B56F2A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6E471-6A3A-6CFA-E559-CF77F64E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Stream &amp; Lambda {</a:t>
            </a:r>
            <a:r>
              <a:rPr lang="en-IN" sz="2000" dirty="0"/>
              <a:t>Examples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B7CC2-A51C-FD02-27ED-1B78BA891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957204"/>
            <a:ext cx="11784691" cy="58468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Example 4 — </a:t>
            </a:r>
            <a:r>
              <a:rPr lang="en-IN" sz="1800" b="1" dirty="0">
                <a:solidFill>
                  <a:schemeClr val="bg1"/>
                </a:solidFill>
              </a:rPr>
              <a:t>Reduce – Combine into One Value</a:t>
            </a: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Task: </a:t>
            </a:r>
            <a:r>
              <a:rPr lang="en-IN" sz="1800" dirty="0">
                <a:solidFill>
                  <a:schemeClr val="bg1"/>
                </a:solidFill>
              </a:rPr>
              <a:t>Sum of Numbers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public class ReduceExample1 {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{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List&lt;Integer&gt; numbers = </a:t>
            </a:r>
            <a:r>
              <a:rPr lang="en-IN" sz="1500" dirty="0" err="1">
                <a:solidFill>
                  <a:schemeClr val="bg1"/>
                </a:solidFill>
              </a:rPr>
              <a:t>List.of</a:t>
            </a:r>
            <a:r>
              <a:rPr lang="en-IN" sz="1500" dirty="0">
                <a:solidFill>
                  <a:schemeClr val="bg1"/>
                </a:solidFill>
              </a:rPr>
              <a:t>(1, 2, 3, 4, 5);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int sum = </a:t>
            </a:r>
            <a:r>
              <a:rPr lang="en-IN" sz="1500" dirty="0" err="1">
                <a:solidFill>
                  <a:schemeClr val="bg1"/>
                </a:solidFill>
              </a:rPr>
              <a:t>numbers.stream</a:t>
            </a:r>
            <a:r>
              <a:rPr lang="en-IN" sz="1500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            .reduce(0, (a, b) -&gt; a + b);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("Sum = " + sum);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4867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A6BA-57F4-0F67-632D-AD5BDDDB5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5992F-5026-1416-1A08-97FBA5788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Stream &amp; Lambda {</a:t>
            </a:r>
            <a:r>
              <a:rPr lang="en-IN" sz="2000" dirty="0"/>
              <a:t>Examples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01985-E46E-4C2D-453F-6D601C140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957204"/>
            <a:ext cx="11784691" cy="58468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Example 5 — </a:t>
            </a:r>
            <a:r>
              <a:rPr lang="en-IN" sz="1800" b="1" dirty="0">
                <a:solidFill>
                  <a:schemeClr val="bg1"/>
                </a:solidFill>
              </a:rPr>
              <a:t>Reduce – Find</a:t>
            </a:r>
            <a:r>
              <a:rPr lang="en-IN" sz="1800" dirty="0">
                <a:solidFill>
                  <a:schemeClr val="bg1"/>
                </a:solidFill>
              </a:rPr>
              <a:t> </a:t>
            </a:r>
            <a:r>
              <a:rPr lang="en-IN" sz="1800" b="1" dirty="0">
                <a:solidFill>
                  <a:schemeClr val="bg1"/>
                </a:solidFill>
              </a:rPr>
              <a:t>Maximum</a:t>
            </a:r>
            <a:endParaRPr lang="en-US" sz="18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Task: </a:t>
            </a:r>
            <a:r>
              <a:rPr lang="en-IN" sz="1800" dirty="0">
                <a:solidFill>
                  <a:schemeClr val="bg1"/>
                </a:solidFill>
              </a:rPr>
              <a:t>Maximum Number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public class ReduceExample2 {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{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List&lt;Integer&gt; numbers = </a:t>
            </a:r>
            <a:r>
              <a:rPr lang="en-IN" sz="1500" dirty="0" err="1">
                <a:solidFill>
                  <a:schemeClr val="bg1"/>
                </a:solidFill>
              </a:rPr>
              <a:t>List.of</a:t>
            </a:r>
            <a:r>
              <a:rPr lang="en-IN" sz="1500" dirty="0">
                <a:solidFill>
                  <a:schemeClr val="bg1"/>
                </a:solidFill>
              </a:rPr>
              <a:t>(10, 25, 8, 42, 19);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int max = </a:t>
            </a:r>
            <a:r>
              <a:rPr lang="en-IN" sz="1500" dirty="0" err="1">
                <a:solidFill>
                  <a:schemeClr val="bg1"/>
                </a:solidFill>
              </a:rPr>
              <a:t>numbers.stream</a:t>
            </a:r>
            <a:r>
              <a:rPr lang="en-IN" sz="1500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            .reduce(</a:t>
            </a:r>
            <a:r>
              <a:rPr lang="en-IN" sz="1500" dirty="0" err="1">
                <a:solidFill>
                  <a:schemeClr val="bg1"/>
                </a:solidFill>
              </a:rPr>
              <a:t>Integer.MIN_VALUE</a:t>
            </a:r>
            <a:r>
              <a:rPr lang="en-IN" sz="1500" dirty="0">
                <a:solidFill>
                  <a:schemeClr val="bg1"/>
                </a:solidFill>
              </a:rPr>
              <a:t>, (a, b) -&gt; a &gt; b ? a : b);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("Max = " + max);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3661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092D-DB9D-7131-90E0-6466BDA8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A076-ED10-6BC5-CD68-0CE5EA00A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Stream &amp; Lambda {</a:t>
            </a:r>
            <a:r>
              <a:rPr lang="en-IN" sz="2000" dirty="0"/>
              <a:t>Examples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B67D9-8769-F89C-7985-53956ACBF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957204"/>
            <a:ext cx="11784691" cy="58468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Example 6 — </a:t>
            </a:r>
            <a:r>
              <a:rPr lang="en-IN" sz="1800" b="1" dirty="0">
                <a:solidFill>
                  <a:schemeClr val="bg1"/>
                </a:solidFill>
              </a:rPr>
              <a:t>collect() — Save into Collections</a:t>
            </a:r>
          </a:p>
          <a:p>
            <a:pPr marL="0" indent="0">
              <a:buNone/>
            </a:pPr>
            <a:endParaRPr lang="en-US" sz="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Task: </a:t>
            </a:r>
            <a:r>
              <a:rPr lang="en-IN" sz="1800" b="1" dirty="0">
                <a:solidFill>
                  <a:schemeClr val="bg1"/>
                </a:solidFill>
              </a:rPr>
              <a:t>Collect to List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public class CollectExample1 {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{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List&lt;String&gt; names = </a:t>
            </a:r>
            <a:r>
              <a:rPr lang="en-IN" sz="1500" dirty="0" err="1">
                <a:solidFill>
                  <a:schemeClr val="bg1"/>
                </a:solidFill>
              </a:rPr>
              <a:t>List.of</a:t>
            </a:r>
            <a:r>
              <a:rPr lang="en-IN" sz="1500" dirty="0">
                <a:solidFill>
                  <a:schemeClr val="bg1"/>
                </a:solidFill>
              </a:rPr>
              <a:t>("Amit", "Rahul", "Neha", "Ajay");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List&lt;String&gt; result = </a:t>
            </a:r>
            <a:r>
              <a:rPr lang="en-IN" sz="1500" dirty="0" err="1">
                <a:solidFill>
                  <a:schemeClr val="bg1"/>
                </a:solidFill>
              </a:rPr>
              <a:t>names.stream</a:t>
            </a:r>
            <a:r>
              <a:rPr lang="en-IN" sz="1500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                      .filter(n -&gt; </a:t>
            </a:r>
            <a:r>
              <a:rPr lang="en-IN" sz="1500" dirty="0" err="1">
                <a:solidFill>
                  <a:schemeClr val="bg1"/>
                </a:solidFill>
              </a:rPr>
              <a:t>n.startsWith</a:t>
            </a:r>
            <a:r>
              <a:rPr lang="en-IN" sz="1500" dirty="0">
                <a:solidFill>
                  <a:schemeClr val="bg1"/>
                </a:solidFill>
              </a:rPr>
              <a:t>("A"))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                      .collect(</a:t>
            </a:r>
            <a:r>
              <a:rPr lang="en-IN" sz="1500" dirty="0" err="1">
                <a:solidFill>
                  <a:schemeClr val="bg1"/>
                </a:solidFill>
              </a:rPr>
              <a:t>Collectors.toList</a:t>
            </a:r>
            <a:r>
              <a:rPr lang="en-IN" sz="1500" dirty="0">
                <a:solidFill>
                  <a:schemeClr val="bg1"/>
                </a:solidFill>
              </a:rPr>
              <a:t>());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(result);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66032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B020-23EB-C244-AA25-E14440C1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0584-17F5-2C3A-9ADB-4FAFFAD1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Stream &amp; Lambda {</a:t>
            </a:r>
            <a:r>
              <a:rPr lang="en-IN" sz="2000" dirty="0"/>
              <a:t>Examples</a:t>
            </a:r>
            <a:r>
              <a:rPr lang="en-IN" sz="2400" dirty="0"/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8CFE8-4489-57C2-2EC0-41E2E0F51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26" y="957204"/>
            <a:ext cx="11784691" cy="58468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bg1"/>
                </a:solidFill>
              </a:rPr>
              <a:t>Example 7 </a:t>
            </a:r>
            <a:r>
              <a:rPr lang="en-US" sz="1800" b="1" dirty="0">
                <a:solidFill>
                  <a:schemeClr val="bg1"/>
                </a:solidFill>
              </a:rPr>
              <a:t>— </a:t>
            </a:r>
            <a:r>
              <a:rPr lang="en-IN" sz="1800" b="1" dirty="0">
                <a:solidFill>
                  <a:schemeClr val="bg1"/>
                </a:solidFill>
              </a:rPr>
              <a:t>collect() — Collect to set</a:t>
            </a:r>
          </a:p>
          <a:p>
            <a:pPr marL="0" indent="0">
              <a:buNone/>
            </a:pPr>
            <a:endParaRPr lang="en-US" sz="2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Task: </a:t>
            </a:r>
            <a:r>
              <a:rPr lang="en-IN" sz="1800" b="1" dirty="0">
                <a:solidFill>
                  <a:schemeClr val="bg1"/>
                </a:solidFill>
              </a:rPr>
              <a:t>Collect to List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public class CollectExample2 {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public static void main(String[] </a:t>
            </a:r>
            <a:r>
              <a:rPr lang="en-IN" sz="1500" dirty="0" err="1">
                <a:solidFill>
                  <a:schemeClr val="bg1"/>
                </a:solidFill>
              </a:rPr>
              <a:t>args</a:t>
            </a:r>
            <a:r>
              <a:rPr lang="en-IN" sz="1500" dirty="0">
                <a:solidFill>
                  <a:schemeClr val="bg1"/>
                </a:solidFill>
              </a:rPr>
              <a:t>) {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List&lt;String&gt; words = </a:t>
            </a:r>
            <a:r>
              <a:rPr lang="en-IN" sz="1500" dirty="0" err="1">
                <a:solidFill>
                  <a:schemeClr val="bg1"/>
                </a:solidFill>
              </a:rPr>
              <a:t>List.of</a:t>
            </a:r>
            <a:r>
              <a:rPr lang="en-IN" sz="1500" dirty="0">
                <a:solidFill>
                  <a:schemeClr val="bg1"/>
                </a:solidFill>
              </a:rPr>
              <a:t>("Java", "Stream", "Java", "Lambda");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Set&lt;String&gt; unique = </a:t>
            </a:r>
            <a:r>
              <a:rPr lang="en-IN" sz="1500" dirty="0" err="1">
                <a:solidFill>
                  <a:schemeClr val="bg1"/>
                </a:solidFill>
              </a:rPr>
              <a:t>words.stream</a:t>
            </a:r>
            <a:r>
              <a:rPr lang="en-IN" sz="1500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                          .collect(</a:t>
            </a:r>
            <a:r>
              <a:rPr lang="en-IN" sz="1500" dirty="0" err="1">
                <a:solidFill>
                  <a:schemeClr val="bg1"/>
                </a:solidFill>
              </a:rPr>
              <a:t>Collectors.toSet</a:t>
            </a:r>
            <a:r>
              <a:rPr lang="en-IN" sz="1500" dirty="0">
                <a:solidFill>
                  <a:schemeClr val="bg1"/>
                </a:solidFill>
              </a:rPr>
              <a:t>());</a:t>
            </a:r>
          </a:p>
          <a:p>
            <a:pPr marL="0" indent="0">
              <a:buNone/>
            </a:pPr>
            <a:endParaRPr lang="en-IN" sz="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    </a:t>
            </a:r>
            <a:r>
              <a:rPr lang="en-IN" sz="1500" dirty="0" err="1">
                <a:solidFill>
                  <a:schemeClr val="bg1"/>
                </a:solidFill>
              </a:rPr>
              <a:t>System.out.println</a:t>
            </a:r>
            <a:r>
              <a:rPr lang="en-IN" sz="1500" dirty="0">
                <a:solidFill>
                  <a:schemeClr val="bg1"/>
                </a:solidFill>
              </a:rPr>
              <a:t>(unique);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10050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F1F8-E09E-EEFD-DCDD-ED3EFECA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auhaus 93" panose="04030905020B02020C02" pitchFamily="82" charset="0"/>
              </a:rPr>
              <a:t>Thank you!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F2CC60C-CCCA-D126-A44D-7042E9DE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5623" y="6404668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&lt;</a:t>
            </a:r>
            <a:r>
              <a:rPr lang="en-IN" dirty="0">
                <a:solidFill>
                  <a:schemeClr val="accent1"/>
                </a:solidFill>
                <a:latin typeface="Bauhaus 93" panose="04030905020B02020C02" pitchFamily="82" charset="0"/>
                <a:ea typeface="Cambria" panose="02040503050406030204" pitchFamily="18" charset="0"/>
              </a:rPr>
              <a:t>ai/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&gt; &lt;IQ/&gt; </a:t>
            </a:r>
            <a:r>
              <a:rPr lang="en-IN" dirty="0">
                <a:latin typeface="Arial Black" panose="020B0A04020102020204" pitchFamily="34" charset="0"/>
                <a:ea typeface="Cambria" panose="02040503050406030204" pitchFamily="18" charset="0"/>
              </a:rPr>
              <a:t>L</a:t>
            </a:r>
            <a:r>
              <a:rPr lang="en-IN" dirty="0">
                <a:latin typeface="Bauhaus 93" panose="04030905020B02020C02" pitchFamily="82" charset="0"/>
                <a:ea typeface="Cambria" panose="02040503050406030204" pitchFamily="18" charset="0"/>
              </a:rPr>
              <a:t>ABS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336652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1562</TotalTime>
  <Words>1380</Words>
  <Application>Microsoft Office PowerPoint</Application>
  <PresentationFormat>Widescreen</PresentationFormat>
  <Paragraphs>249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Agency FB</vt:lpstr>
      <vt:lpstr>Aptos</vt:lpstr>
      <vt:lpstr>Arial</vt:lpstr>
      <vt:lpstr>Arial Black</vt:lpstr>
      <vt:lpstr>Bauhaus 93</vt:lpstr>
      <vt:lpstr>Trebuchet MS</vt:lpstr>
      <vt:lpstr>Berlin</vt:lpstr>
      <vt:lpstr>&lt;ai/&gt; &lt;IQ/&gt; LABS</vt:lpstr>
      <vt:lpstr>Lambda &amp; Stream{Agenda}</vt:lpstr>
      <vt:lpstr>Why Stream &amp; Lambda</vt:lpstr>
      <vt:lpstr>Lambda</vt:lpstr>
      <vt:lpstr>Lambda</vt:lpstr>
      <vt:lpstr>Stream</vt:lpstr>
      <vt:lpstr>Stream {intermediate vs terminal operation}</vt:lpstr>
      <vt:lpstr>Stream {stateless vs stateful operation}</vt:lpstr>
      <vt:lpstr>Stream sources</vt:lpstr>
      <vt:lpstr>Stream {Reduction}</vt:lpstr>
      <vt:lpstr>Stream &amp; Lambda {Examples}</vt:lpstr>
      <vt:lpstr>Stream &amp; Lambda {Examples}</vt:lpstr>
      <vt:lpstr>Stream &amp; Lambda {Examples}</vt:lpstr>
      <vt:lpstr>Stream &amp; Lambda {Examples}</vt:lpstr>
      <vt:lpstr>Stream &amp; Lambda {Examples}</vt:lpstr>
      <vt:lpstr>Stream &amp; Lambda {Examples}</vt:lpstr>
      <vt:lpstr>Stream &amp; Lambda {Examples}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Slick Ark</dc:creator>
  <cp:lastModifiedBy>Slick Ark</cp:lastModifiedBy>
  <cp:revision>295</cp:revision>
  <dcterms:created xsi:type="dcterms:W3CDTF">2026-02-04T04:23:12Z</dcterms:created>
  <dcterms:modified xsi:type="dcterms:W3CDTF">2026-02-09T11:48:09Z</dcterms:modified>
</cp:coreProperties>
</file>