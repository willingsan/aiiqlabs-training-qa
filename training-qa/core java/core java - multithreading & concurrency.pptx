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8" r:id="rId3"/>
    <p:sldId id="288" r:id="rId4"/>
    <p:sldId id="289" r:id="rId5"/>
    <p:sldId id="300" r:id="rId6"/>
    <p:sldId id="301" r:id="rId7"/>
    <p:sldId id="305" r:id="rId8"/>
    <p:sldId id="302" r:id="rId9"/>
    <p:sldId id="303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22" r:id="rId24"/>
    <p:sldId id="323" r:id="rId25"/>
    <p:sldId id="28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47" autoAdjust="0"/>
    <p:restoredTop sz="94660"/>
  </p:normalViewPr>
  <p:slideViewPr>
    <p:cSldViewPr snapToGrid="0">
      <p:cViewPr varScale="1">
        <p:scale>
          <a:sx n="93" d="100"/>
          <a:sy n="93" d="100"/>
        </p:scale>
        <p:origin x="89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969DC-181F-4921-8B5F-0EF62F4CE89E}" type="doc">
      <dgm:prSet loTypeId="urn:microsoft.com/office/officeart/2005/8/layout/targe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07259D-CC92-40A2-B71A-EC53F9211F9A}">
      <dgm:prSet phldrT="[Text]" phldr="0" custT="1"/>
      <dgm:spPr/>
      <dgm:t>
        <a:bodyPr tIns="180000"/>
        <a:lstStyle/>
        <a:p>
          <a:pPr algn="l"/>
          <a:r>
            <a:rPr lang="en-IN" sz="3200" dirty="0"/>
            <a:t>Thread</a:t>
          </a:r>
        </a:p>
      </dgm:t>
    </dgm:pt>
    <dgm:pt modelId="{CDA5EB07-4899-4932-BD18-04FBCCD240D5}" type="parTrans" cxnId="{7C5D232D-E9B4-4960-B9C9-71A7B8F558DB}">
      <dgm:prSet/>
      <dgm:spPr/>
      <dgm:t>
        <a:bodyPr/>
        <a:lstStyle/>
        <a:p>
          <a:endParaRPr lang="en-IN"/>
        </a:p>
      </dgm:t>
    </dgm:pt>
    <dgm:pt modelId="{0B90EAA4-646A-462C-BE6B-22BCE114692F}" type="sibTrans" cxnId="{7C5D232D-E9B4-4960-B9C9-71A7B8F558DB}">
      <dgm:prSet/>
      <dgm:spPr/>
      <dgm:t>
        <a:bodyPr/>
        <a:lstStyle/>
        <a:p>
          <a:endParaRPr lang="en-IN"/>
        </a:p>
      </dgm:t>
    </dgm:pt>
    <dgm:pt modelId="{29513CEE-C872-4255-A290-C4BDE6E5CDB4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Creating Threads</a:t>
          </a:r>
        </a:p>
      </dgm:t>
    </dgm:pt>
    <dgm:pt modelId="{92813842-A6E0-423F-864C-7A4FE3BBE7AA}" type="parTrans" cxnId="{1DB5F0D3-C7E7-4977-A2B2-0078BCE78EFC}">
      <dgm:prSet/>
      <dgm:spPr/>
      <dgm:t>
        <a:bodyPr/>
        <a:lstStyle/>
        <a:p>
          <a:endParaRPr lang="en-IN"/>
        </a:p>
      </dgm:t>
    </dgm:pt>
    <dgm:pt modelId="{DE6A4B1D-F319-4794-8014-0FFD2623E4CB}" type="sibTrans" cxnId="{1DB5F0D3-C7E7-4977-A2B2-0078BCE78EFC}">
      <dgm:prSet/>
      <dgm:spPr/>
      <dgm:t>
        <a:bodyPr/>
        <a:lstStyle/>
        <a:p>
          <a:endParaRPr lang="en-IN"/>
        </a:p>
      </dgm:t>
    </dgm:pt>
    <dgm:pt modelId="{870B91A1-7977-4CE3-B27C-6AE86C41D6F9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Synchronization</a:t>
          </a:r>
        </a:p>
      </dgm:t>
    </dgm:pt>
    <dgm:pt modelId="{4868F0FF-0A7D-4007-80CE-5DC4ED195136}" type="parTrans" cxnId="{6BD3B303-D7CC-40D7-88A1-7989F3A107CC}">
      <dgm:prSet/>
      <dgm:spPr/>
      <dgm:t>
        <a:bodyPr/>
        <a:lstStyle/>
        <a:p>
          <a:endParaRPr lang="en-IN"/>
        </a:p>
      </dgm:t>
    </dgm:pt>
    <dgm:pt modelId="{E7DBC3EA-52F7-4308-A19A-2140A9695EF9}" type="sibTrans" cxnId="{6BD3B303-D7CC-40D7-88A1-7989F3A107CC}">
      <dgm:prSet/>
      <dgm:spPr/>
      <dgm:t>
        <a:bodyPr/>
        <a:lstStyle/>
        <a:p>
          <a:endParaRPr lang="en-IN"/>
        </a:p>
      </dgm:t>
    </dgm:pt>
    <dgm:pt modelId="{DAFD03EE-4AA8-410E-82C6-45C1952E775A}">
      <dgm:prSet phldrT="[Text]" phldr="0" custT="1"/>
      <dgm:spPr/>
      <dgm:t>
        <a:bodyPr tIns="180000" bIns="180000"/>
        <a:lstStyle/>
        <a:p>
          <a:pPr algn="l"/>
          <a:r>
            <a:rPr lang="en-IN" sz="3200" dirty="0"/>
            <a:t>Inter-thread communication</a:t>
          </a:r>
        </a:p>
      </dgm:t>
    </dgm:pt>
    <dgm:pt modelId="{32CDFF8D-66C6-42BC-AFB4-A5CB23575B0D}" type="parTrans" cxnId="{03E69AFC-DD79-4A18-92EF-F42B43221775}">
      <dgm:prSet/>
      <dgm:spPr/>
      <dgm:t>
        <a:bodyPr/>
        <a:lstStyle/>
        <a:p>
          <a:endParaRPr lang="en-IN"/>
        </a:p>
      </dgm:t>
    </dgm:pt>
    <dgm:pt modelId="{A7583725-F19B-4BCB-947F-452B135B48AD}" type="sibTrans" cxnId="{03E69AFC-DD79-4A18-92EF-F42B43221775}">
      <dgm:prSet/>
      <dgm:spPr/>
      <dgm:t>
        <a:bodyPr/>
        <a:lstStyle/>
        <a:p>
          <a:endParaRPr lang="en-IN"/>
        </a:p>
      </dgm:t>
    </dgm:pt>
    <dgm:pt modelId="{AE21209F-7D24-4CB6-AD9C-E5EF802F5A1B}">
      <dgm:prSet phldrT="[Text]" phldr="0" custT="1"/>
      <dgm:spPr/>
      <dgm:t>
        <a:bodyPr tIns="180000"/>
        <a:lstStyle/>
        <a:p>
          <a:pPr algn="l"/>
          <a:r>
            <a:rPr lang="en-IN" sz="3200" dirty="0"/>
            <a:t>Thread Lifecycle</a:t>
          </a:r>
        </a:p>
      </dgm:t>
    </dgm:pt>
    <dgm:pt modelId="{45AD07B5-F8D1-44A6-B39E-5FB7B0EF4F16}" type="parTrans" cxnId="{D0F7279C-246F-41E1-8E5C-902C45407CD9}">
      <dgm:prSet/>
      <dgm:spPr/>
      <dgm:t>
        <a:bodyPr/>
        <a:lstStyle/>
        <a:p>
          <a:endParaRPr lang="en-IN"/>
        </a:p>
      </dgm:t>
    </dgm:pt>
    <dgm:pt modelId="{C63E4574-1D14-48F3-B09C-D07828D068CF}" type="sibTrans" cxnId="{D0F7279C-246F-41E1-8E5C-902C45407CD9}">
      <dgm:prSet/>
      <dgm:spPr/>
      <dgm:t>
        <a:bodyPr/>
        <a:lstStyle/>
        <a:p>
          <a:endParaRPr lang="en-IN"/>
        </a:p>
      </dgm:t>
    </dgm:pt>
    <dgm:pt modelId="{DE860416-E6AE-46B5-862B-CD2595D1ACD2}" type="pres">
      <dgm:prSet presAssocID="{6BD969DC-181F-4921-8B5F-0EF62F4CE89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D66BBEE-7F67-4E6F-A56A-94C435C76A0E}" type="pres">
      <dgm:prSet presAssocID="{BF07259D-CC92-40A2-B71A-EC53F9211F9A}" presName="circle1" presStyleLbl="node1" presStyleIdx="0" presStyleCnt="5"/>
      <dgm:spPr/>
    </dgm:pt>
    <dgm:pt modelId="{FDE74903-F762-4C18-A9EA-82E9B3622505}" type="pres">
      <dgm:prSet presAssocID="{BF07259D-CC92-40A2-B71A-EC53F9211F9A}" presName="space" presStyleCnt="0"/>
      <dgm:spPr/>
    </dgm:pt>
    <dgm:pt modelId="{7340E5E1-75B9-4AC7-BC8E-760EBCEC593A}" type="pres">
      <dgm:prSet presAssocID="{BF07259D-CC92-40A2-B71A-EC53F9211F9A}" presName="rect1" presStyleLbl="alignAcc1" presStyleIdx="0" presStyleCnt="5"/>
      <dgm:spPr/>
    </dgm:pt>
    <dgm:pt modelId="{4350FF3B-86F0-424B-947A-DEEE3D168949}" type="pres">
      <dgm:prSet presAssocID="{AE21209F-7D24-4CB6-AD9C-E5EF802F5A1B}" presName="vertSpace2" presStyleLbl="node1" presStyleIdx="0" presStyleCnt="5"/>
      <dgm:spPr/>
    </dgm:pt>
    <dgm:pt modelId="{CD90A3B7-009E-4398-B561-EE71CC60C11B}" type="pres">
      <dgm:prSet presAssocID="{AE21209F-7D24-4CB6-AD9C-E5EF802F5A1B}" presName="circle2" presStyleLbl="node1" presStyleIdx="1" presStyleCnt="5"/>
      <dgm:spPr/>
    </dgm:pt>
    <dgm:pt modelId="{7FF3767B-A142-410A-A211-A342406B26E2}" type="pres">
      <dgm:prSet presAssocID="{AE21209F-7D24-4CB6-AD9C-E5EF802F5A1B}" presName="rect2" presStyleLbl="alignAcc1" presStyleIdx="1" presStyleCnt="5"/>
      <dgm:spPr/>
    </dgm:pt>
    <dgm:pt modelId="{492F3133-497F-4D30-89A4-E128FDA1B105}" type="pres">
      <dgm:prSet presAssocID="{29513CEE-C872-4255-A290-C4BDE6E5CDB4}" presName="vertSpace3" presStyleLbl="node1" presStyleIdx="1" presStyleCnt="5"/>
      <dgm:spPr/>
    </dgm:pt>
    <dgm:pt modelId="{BAF0B66C-ABFC-4012-9038-6E8433ED2727}" type="pres">
      <dgm:prSet presAssocID="{29513CEE-C872-4255-A290-C4BDE6E5CDB4}" presName="circle3" presStyleLbl="node1" presStyleIdx="2" presStyleCnt="5"/>
      <dgm:spPr/>
    </dgm:pt>
    <dgm:pt modelId="{0502FDA4-88B9-4EDE-B454-5F0C0E5FBF48}" type="pres">
      <dgm:prSet presAssocID="{29513CEE-C872-4255-A290-C4BDE6E5CDB4}" presName="rect3" presStyleLbl="alignAcc1" presStyleIdx="2" presStyleCnt="5"/>
      <dgm:spPr/>
    </dgm:pt>
    <dgm:pt modelId="{6EBC34CE-C5DA-496D-AD14-B2FB534EDDD5}" type="pres">
      <dgm:prSet presAssocID="{870B91A1-7977-4CE3-B27C-6AE86C41D6F9}" presName="vertSpace4" presStyleLbl="node1" presStyleIdx="2" presStyleCnt="5"/>
      <dgm:spPr/>
    </dgm:pt>
    <dgm:pt modelId="{666FC3F5-6FCE-4860-B741-4A59AC94D441}" type="pres">
      <dgm:prSet presAssocID="{870B91A1-7977-4CE3-B27C-6AE86C41D6F9}" presName="circle4" presStyleLbl="node1" presStyleIdx="3" presStyleCnt="5"/>
      <dgm:spPr/>
    </dgm:pt>
    <dgm:pt modelId="{E61D944F-392B-476A-9D49-D82FD8971894}" type="pres">
      <dgm:prSet presAssocID="{870B91A1-7977-4CE3-B27C-6AE86C41D6F9}" presName="rect4" presStyleLbl="alignAcc1" presStyleIdx="3" presStyleCnt="5"/>
      <dgm:spPr/>
    </dgm:pt>
    <dgm:pt modelId="{4036654E-5FAC-45EE-A0C2-22A45E91A538}" type="pres">
      <dgm:prSet presAssocID="{DAFD03EE-4AA8-410E-82C6-45C1952E775A}" presName="vertSpace5" presStyleLbl="node1" presStyleIdx="3" presStyleCnt="5"/>
      <dgm:spPr/>
    </dgm:pt>
    <dgm:pt modelId="{C43901B1-830E-4E0E-AB54-33BE444E6A93}" type="pres">
      <dgm:prSet presAssocID="{DAFD03EE-4AA8-410E-82C6-45C1952E775A}" presName="circle5" presStyleLbl="node1" presStyleIdx="4" presStyleCnt="5"/>
      <dgm:spPr/>
    </dgm:pt>
    <dgm:pt modelId="{E0BF4809-3C8B-4225-8D7E-FC1885A5FDAA}" type="pres">
      <dgm:prSet presAssocID="{DAFD03EE-4AA8-410E-82C6-45C1952E775A}" presName="rect5" presStyleLbl="alignAcc1" presStyleIdx="4" presStyleCnt="5" custLinFactNeighborX="265"/>
      <dgm:spPr/>
    </dgm:pt>
    <dgm:pt modelId="{AE2DCCCF-C4D9-4127-A2D1-BA19241541A9}" type="pres">
      <dgm:prSet presAssocID="{BF07259D-CC92-40A2-B71A-EC53F9211F9A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7DF42CA0-87E0-4DDC-AA4A-536266C43DB0}" type="pres">
      <dgm:prSet presAssocID="{AE21209F-7D24-4CB6-AD9C-E5EF802F5A1B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D65D16CA-65F1-4F38-B190-0CA964B0144A}" type="pres">
      <dgm:prSet presAssocID="{29513CEE-C872-4255-A290-C4BDE6E5CDB4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AA353DBE-A88B-4C46-BE47-214492FB885B}" type="pres">
      <dgm:prSet presAssocID="{870B91A1-7977-4CE3-B27C-6AE86C41D6F9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09467562-DA01-4339-82DC-CEB837615E1D}" type="pres">
      <dgm:prSet presAssocID="{DAFD03EE-4AA8-410E-82C6-45C1952E775A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6BD3B303-D7CC-40D7-88A1-7989F3A107CC}" srcId="{6BD969DC-181F-4921-8B5F-0EF62F4CE89E}" destId="{870B91A1-7977-4CE3-B27C-6AE86C41D6F9}" srcOrd="3" destOrd="0" parTransId="{4868F0FF-0A7D-4007-80CE-5DC4ED195136}" sibTransId="{E7DBC3EA-52F7-4308-A19A-2140A9695EF9}"/>
    <dgm:cxn modelId="{A559870B-7859-4DC3-BE58-A2A33CE7600F}" type="presOf" srcId="{29513CEE-C872-4255-A290-C4BDE6E5CDB4}" destId="{D65D16CA-65F1-4F38-B190-0CA964B0144A}" srcOrd="1" destOrd="0" presId="urn:microsoft.com/office/officeart/2005/8/layout/target3"/>
    <dgm:cxn modelId="{2C5FC812-45D5-418B-BCFD-96C05CE31ABB}" type="presOf" srcId="{6BD969DC-181F-4921-8B5F-0EF62F4CE89E}" destId="{DE860416-E6AE-46B5-862B-CD2595D1ACD2}" srcOrd="0" destOrd="0" presId="urn:microsoft.com/office/officeart/2005/8/layout/target3"/>
    <dgm:cxn modelId="{7C5D232D-E9B4-4960-B9C9-71A7B8F558DB}" srcId="{6BD969DC-181F-4921-8B5F-0EF62F4CE89E}" destId="{BF07259D-CC92-40A2-B71A-EC53F9211F9A}" srcOrd="0" destOrd="0" parTransId="{CDA5EB07-4899-4932-BD18-04FBCCD240D5}" sibTransId="{0B90EAA4-646A-462C-BE6B-22BCE114692F}"/>
    <dgm:cxn modelId="{B9748D48-19F4-4E34-8D1E-CFD69FE68F78}" type="presOf" srcId="{BF07259D-CC92-40A2-B71A-EC53F9211F9A}" destId="{7340E5E1-75B9-4AC7-BC8E-760EBCEC593A}" srcOrd="0" destOrd="0" presId="urn:microsoft.com/office/officeart/2005/8/layout/target3"/>
    <dgm:cxn modelId="{8E9C4151-0980-4C74-A7A6-9783DF9D8457}" type="presOf" srcId="{870B91A1-7977-4CE3-B27C-6AE86C41D6F9}" destId="{E61D944F-392B-476A-9D49-D82FD8971894}" srcOrd="0" destOrd="0" presId="urn:microsoft.com/office/officeart/2005/8/layout/target3"/>
    <dgm:cxn modelId="{1BFFC85A-6E56-4EB8-81C8-49BD4C29B295}" type="presOf" srcId="{870B91A1-7977-4CE3-B27C-6AE86C41D6F9}" destId="{AA353DBE-A88B-4C46-BE47-214492FB885B}" srcOrd="1" destOrd="0" presId="urn:microsoft.com/office/officeart/2005/8/layout/target3"/>
    <dgm:cxn modelId="{0EFF5A80-8138-4AFF-8B5D-C29B8F50D7FE}" type="presOf" srcId="{DAFD03EE-4AA8-410E-82C6-45C1952E775A}" destId="{09467562-DA01-4339-82DC-CEB837615E1D}" srcOrd="1" destOrd="0" presId="urn:microsoft.com/office/officeart/2005/8/layout/target3"/>
    <dgm:cxn modelId="{D17F5F99-DA88-41AF-92B9-4A5CD114F449}" type="presOf" srcId="{AE21209F-7D24-4CB6-AD9C-E5EF802F5A1B}" destId="{7FF3767B-A142-410A-A211-A342406B26E2}" srcOrd="0" destOrd="0" presId="urn:microsoft.com/office/officeart/2005/8/layout/target3"/>
    <dgm:cxn modelId="{D0F7279C-246F-41E1-8E5C-902C45407CD9}" srcId="{6BD969DC-181F-4921-8B5F-0EF62F4CE89E}" destId="{AE21209F-7D24-4CB6-AD9C-E5EF802F5A1B}" srcOrd="1" destOrd="0" parTransId="{45AD07B5-F8D1-44A6-B39E-5FB7B0EF4F16}" sibTransId="{C63E4574-1D14-48F3-B09C-D07828D068CF}"/>
    <dgm:cxn modelId="{7060D5B1-D540-4274-BA8A-C26CDF97038F}" type="presOf" srcId="{DAFD03EE-4AA8-410E-82C6-45C1952E775A}" destId="{E0BF4809-3C8B-4225-8D7E-FC1885A5FDAA}" srcOrd="0" destOrd="0" presId="urn:microsoft.com/office/officeart/2005/8/layout/target3"/>
    <dgm:cxn modelId="{9FB51FC7-350C-4032-963A-E9F080E97618}" type="presOf" srcId="{29513CEE-C872-4255-A290-C4BDE6E5CDB4}" destId="{0502FDA4-88B9-4EDE-B454-5F0C0E5FBF48}" srcOrd="0" destOrd="0" presId="urn:microsoft.com/office/officeart/2005/8/layout/target3"/>
    <dgm:cxn modelId="{1DB5F0D3-C7E7-4977-A2B2-0078BCE78EFC}" srcId="{6BD969DC-181F-4921-8B5F-0EF62F4CE89E}" destId="{29513CEE-C872-4255-A290-C4BDE6E5CDB4}" srcOrd="2" destOrd="0" parTransId="{92813842-A6E0-423F-864C-7A4FE3BBE7AA}" sibTransId="{DE6A4B1D-F319-4794-8014-0FFD2623E4CB}"/>
    <dgm:cxn modelId="{B3D374D4-E24B-46A4-9D27-56178AE41B34}" type="presOf" srcId="{BF07259D-CC92-40A2-B71A-EC53F9211F9A}" destId="{AE2DCCCF-C4D9-4127-A2D1-BA19241541A9}" srcOrd="1" destOrd="0" presId="urn:microsoft.com/office/officeart/2005/8/layout/target3"/>
    <dgm:cxn modelId="{FEEA89E9-D78C-4D97-9C5E-5D2F45CCC7B7}" type="presOf" srcId="{AE21209F-7D24-4CB6-AD9C-E5EF802F5A1B}" destId="{7DF42CA0-87E0-4DDC-AA4A-536266C43DB0}" srcOrd="1" destOrd="0" presId="urn:microsoft.com/office/officeart/2005/8/layout/target3"/>
    <dgm:cxn modelId="{03E69AFC-DD79-4A18-92EF-F42B43221775}" srcId="{6BD969DC-181F-4921-8B5F-0EF62F4CE89E}" destId="{DAFD03EE-4AA8-410E-82C6-45C1952E775A}" srcOrd="4" destOrd="0" parTransId="{32CDFF8D-66C6-42BC-AFB4-A5CB23575B0D}" sibTransId="{A7583725-F19B-4BCB-947F-452B135B48AD}"/>
    <dgm:cxn modelId="{A15BE67A-6750-4650-8738-EDAD6AFC28DE}" type="presParOf" srcId="{DE860416-E6AE-46B5-862B-CD2595D1ACD2}" destId="{DD66BBEE-7F67-4E6F-A56A-94C435C76A0E}" srcOrd="0" destOrd="0" presId="urn:microsoft.com/office/officeart/2005/8/layout/target3"/>
    <dgm:cxn modelId="{3223D544-F4DF-466A-BCC5-D1858842068D}" type="presParOf" srcId="{DE860416-E6AE-46B5-862B-CD2595D1ACD2}" destId="{FDE74903-F762-4C18-A9EA-82E9B3622505}" srcOrd="1" destOrd="0" presId="urn:microsoft.com/office/officeart/2005/8/layout/target3"/>
    <dgm:cxn modelId="{F9F17FAA-59BF-457D-AF9C-F83D9268917F}" type="presParOf" srcId="{DE860416-E6AE-46B5-862B-CD2595D1ACD2}" destId="{7340E5E1-75B9-4AC7-BC8E-760EBCEC593A}" srcOrd="2" destOrd="0" presId="urn:microsoft.com/office/officeart/2005/8/layout/target3"/>
    <dgm:cxn modelId="{E31E7D54-F0ED-4081-B7C1-0D7FB4EA8C7D}" type="presParOf" srcId="{DE860416-E6AE-46B5-862B-CD2595D1ACD2}" destId="{4350FF3B-86F0-424B-947A-DEEE3D168949}" srcOrd="3" destOrd="0" presId="urn:microsoft.com/office/officeart/2005/8/layout/target3"/>
    <dgm:cxn modelId="{573102ED-ECA5-4230-9BD2-EF3A924EDD47}" type="presParOf" srcId="{DE860416-E6AE-46B5-862B-CD2595D1ACD2}" destId="{CD90A3B7-009E-4398-B561-EE71CC60C11B}" srcOrd="4" destOrd="0" presId="urn:microsoft.com/office/officeart/2005/8/layout/target3"/>
    <dgm:cxn modelId="{C53FD30C-EEED-41FB-8BA4-35883278939D}" type="presParOf" srcId="{DE860416-E6AE-46B5-862B-CD2595D1ACD2}" destId="{7FF3767B-A142-410A-A211-A342406B26E2}" srcOrd="5" destOrd="0" presId="urn:microsoft.com/office/officeart/2005/8/layout/target3"/>
    <dgm:cxn modelId="{A5A983BC-F965-440B-8981-10FCF6C98158}" type="presParOf" srcId="{DE860416-E6AE-46B5-862B-CD2595D1ACD2}" destId="{492F3133-497F-4D30-89A4-E128FDA1B105}" srcOrd="6" destOrd="0" presId="urn:microsoft.com/office/officeart/2005/8/layout/target3"/>
    <dgm:cxn modelId="{BFD5E680-B8F6-45A2-90F0-90CDC2468F3F}" type="presParOf" srcId="{DE860416-E6AE-46B5-862B-CD2595D1ACD2}" destId="{BAF0B66C-ABFC-4012-9038-6E8433ED2727}" srcOrd="7" destOrd="0" presId="urn:microsoft.com/office/officeart/2005/8/layout/target3"/>
    <dgm:cxn modelId="{B2721806-B332-4594-9BF6-8F66D489040E}" type="presParOf" srcId="{DE860416-E6AE-46B5-862B-CD2595D1ACD2}" destId="{0502FDA4-88B9-4EDE-B454-5F0C0E5FBF48}" srcOrd="8" destOrd="0" presId="urn:microsoft.com/office/officeart/2005/8/layout/target3"/>
    <dgm:cxn modelId="{35960C98-6F0F-465F-BBD6-94060ADA746F}" type="presParOf" srcId="{DE860416-E6AE-46B5-862B-CD2595D1ACD2}" destId="{6EBC34CE-C5DA-496D-AD14-B2FB534EDDD5}" srcOrd="9" destOrd="0" presId="urn:microsoft.com/office/officeart/2005/8/layout/target3"/>
    <dgm:cxn modelId="{E6139588-00F6-4826-91DE-63F5A079FC97}" type="presParOf" srcId="{DE860416-E6AE-46B5-862B-CD2595D1ACD2}" destId="{666FC3F5-6FCE-4860-B741-4A59AC94D441}" srcOrd="10" destOrd="0" presId="urn:microsoft.com/office/officeart/2005/8/layout/target3"/>
    <dgm:cxn modelId="{4EC3B001-00C6-4A05-ABD1-300821FF31EB}" type="presParOf" srcId="{DE860416-E6AE-46B5-862B-CD2595D1ACD2}" destId="{E61D944F-392B-476A-9D49-D82FD8971894}" srcOrd="11" destOrd="0" presId="urn:microsoft.com/office/officeart/2005/8/layout/target3"/>
    <dgm:cxn modelId="{126C51D9-9816-4707-9714-94E66033BCF2}" type="presParOf" srcId="{DE860416-E6AE-46B5-862B-CD2595D1ACD2}" destId="{4036654E-5FAC-45EE-A0C2-22A45E91A538}" srcOrd="12" destOrd="0" presId="urn:microsoft.com/office/officeart/2005/8/layout/target3"/>
    <dgm:cxn modelId="{AE06E995-820E-45BA-B67C-7A0B5D8ABA72}" type="presParOf" srcId="{DE860416-E6AE-46B5-862B-CD2595D1ACD2}" destId="{C43901B1-830E-4E0E-AB54-33BE444E6A93}" srcOrd="13" destOrd="0" presId="urn:microsoft.com/office/officeart/2005/8/layout/target3"/>
    <dgm:cxn modelId="{55DA1456-794A-4CA2-886B-528AB2C1169F}" type="presParOf" srcId="{DE860416-E6AE-46B5-862B-CD2595D1ACD2}" destId="{E0BF4809-3C8B-4225-8D7E-FC1885A5FDAA}" srcOrd="14" destOrd="0" presId="urn:microsoft.com/office/officeart/2005/8/layout/target3"/>
    <dgm:cxn modelId="{A238F773-EC2D-450B-929D-25C13150D21C}" type="presParOf" srcId="{DE860416-E6AE-46B5-862B-CD2595D1ACD2}" destId="{AE2DCCCF-C4D9-4127-A2D1-BA19241541A9}" srcOrd="15" destOrd="0" presId="urn:microsoft.com/office/officeart/2005/8/layout/target3"/>
    <dgm:cxn modelId="{358E8FB3-7D06-4DAC-B336-63B7FDC94E4C}" type="presParOf" srcId="{DE860416-E6AE-46B5-862B-CD2595D1ACD2}" destId="{7DF42CA0-87E0-4DDC-AA4A-536266C43DB0}" srcOrd="16" destOrd="0" presId="urn:microsoft.com/office/officeart/2005/8/layout/target3"/>
    <dgm:cxn modelId="{85364540-5494-4F63-B2CE-B5B6501F6BDC}" type="presParOf" srcId="{DE860416-E6AE-46B5-862B-CD2595D1ACD2}" destId="{D65D16CA-65F1-4F38-B190-0CA964B0144A}" srcOrd="17" destOrd="0" presId="urn:microsoft.com/office/officeart/2005/8/layout/target3"/>
    <dgm:cxn modelId="{B78838B9-ECC9-46D2-B609-2D0333A0AC80}" type="presParOf" srcId="{DE860416-E6AE-46B5-862B-CD2595D1ACD2}" destId="{AA353DBE-A88B-4C46-BE47-214492FB885B}" srcOrd="18" destOrd="0" presId="urn:microsoft.com/office/officeart/2005/8/layout/target3"/>
    <dgm:cxn modelId="{BA88DC33-DDE5-4606-8F5E-C9BE2D06B75E}" type="presParOf" srcId="{DE860416-E6AE-46B5-862B-CD2595D1ACD2}" destId="{09467562-DA01-4339-82DC-CEB837615E1D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6BBEE-7F67-4E6F-A56A-94C435C76A0E}">
      <dsp:nvSpPr>
        <dsp:cNvPr id="0" name=""/>
        <dsp:cNvSpPr/>
      </dsp:nvSpPr>
      <dsp:spPr>
        <a:xfrm>
          <a:off x="0" y="0"/>
          <a:ext cx="5298895" cy="529889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340E5E1-75B9-4AC7-BC8E-760EBCEC593A}">
      <dsp:nvSpPr>
        <dsp:cNvPr id="0" name=""/>
        <dsp:cNvSpPr/>
      </dsp:nvSpPr>
      <dsp:spPr>
        <a:xfrm>
          <a:off x="2649447" y="0"/>
          <a:ext cx="6396344" cy="52988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Thread</a:t>
          </a:r>
        </a:p>
      </dsp:txBody>
      <dsp:txXfrm>
        <a:off x="2649447" y="0"/>
        <a:ext cx="6396344" cy="847823"/>
      </dsp:txXfrm>
    </dsp:sp>
    <dsp:sp modelId="{CD90A3B7-009E-4398-B561-EE71CC60C11B}">
      <dsp:nvSpPr>
        <dsp:cNvPr id="0" name=""/>
        <dsp:cNvSpPr/>
      </dsp:nvSpPr>
      <dsp:spPr>
        <a:xfrm>
          <a:off x="556384" y="847823"/>
          <a:ext cx="4186127" cy="4186127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FF3767B-A142-410A-A211-A342406B26E2}">
      <dsp:nvSpPr>
        <dsp:cNvPr id="0" name=""/>
        <dsp:cNvSpPr/>
      </dsp:nvSpPr>
      <dsp:spPr>
        <a:xfrm>
          <a:off x="2649447" y="847823"/>
          <a:ext cx="6396344" cy="418612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Thread Lifecycle</a:t>
          </a:r>
        </a:p>
      </dsp:txBody>
      <dsp:txXfrm>
        <a:off x="2649447" y="847823"/>
        <a:ext cx="6396344" cy="847823"/>
      </dsp:txXfrm>
    </dsp:sp>
    <dsp:sp modelId="{BAF0B66C-ABFC-4012-9038-6E8433ED2727}">
      <dsp:nvSpPr>
        <dsp:cNvPr id="0" name=""/>
        <dsp:cNvSpPr/>
      </dsp:nvSpPr>
      <dsp:spPr>
        <a:xfrm>
          <a:off x="1112768" y="1695646"/>
          <a:ext cx="3073359" cy="307335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02FDA4-88B9-4EDE-B454-5F0C0E5FBF48}">
      <dsp:nvSpPr>
        <dsp:cNvPr id="0" name=""/>
        <dsp:cNvSpPr/>
      </dsp:nvSpPr>
      <dsp:spPr>
        <a:xfrm>
          <a:off x="2649447" y="1695646"/>
          <a:ext cx="6396344" cy="307335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Creating Threads</a:t>
          </a:r>
        </a:p>
      </dsp:txBody>
      <dsp:txXfrm>
        <a:off x="2649447" y="1695646"/>
        <a:ext cx="6396344" cy="847823"/>
      </dsp:txXfrm>
    </dsp:sp>
    <dsp:sp modelId="{666FC3F5-6FCE-4860-B741-4A59AC94D441}">
      <dsp:nvSpPr>
        <dsp:cNvPr id="0" name=""/>
        <dsp:cNvSpPr/>
      </dsp:nvSpPr>
      <dsp:spPr>
        <a:xfrm>
          <a:off x="1669152" y="2543470"/>
          <a:ext cx="1960591" cy="1960591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61D944F-392B-476A-9D49-D82FD8971894}">
      <dsp:nvSpPr>
        <dsp:cNvPr id="0" name=""/>
        <dsp:cNvSpPr/>
      </dsp:nvSpPr>
      <dsp:spPr>
        <a:xfrm>
          <a:off x="2649447" y="2543470"/>
          <a:ext cx="6396344" cy="196059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Synchronization</a:t>
          </a:r>
        </a:p>
      </dsp:txBody>
      <dsp:txXfrm>
        <a:off x="2649447" y="2543470"/>
        <a:ext cx="6396344" cy="847823"/>
      </dsp:txXfrm>
    </dsp:sp>
    <dsp:sp modelId="{C43901B1-830E-4E0E-AB54-33BE444E6A93}">
      <dsp:nvSpPr>
        <dsp:cNvPr id="0" name=""/>
        <dsp:cNvSpPr/>
      </dsp:nvSpPr>
      <dsp:spPr>
        <a:xfrm>
          <a:off x="2225536" y="3391293"/>
          <a:ext cx="847823" cy="84782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0BF4809-3C8B-4225-8D7E-FC1885A5FDAA}">
      <dsp:nvSpPr>
        <dsp:cNvPr id="0" name=""/>
        <dsp:cNvSpPr/>
      </dsp:nvSpPr>
      <dsp:spPr>
        <a:xfrm>
          <a:off x="2649447" y="3391293"/>
          <a:ext cx="6396344" cy="84782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1920" tIns="180000" rIns="121920" bIns="1800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Inter-thread communication</a:t>
          </a:r>
        </a:p>
      </dsp:txBody>
      <dsp:txXfrm>
        <a:off x="2649447" y="3391293"/>
        <a:ext cx="6396344" cy="8478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CF51D-2CA1-4036-9BAF-10979399AB3B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1FD81-BCC5-4427-8597-1D23DC5F3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29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26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6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7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6" y="776216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78055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208315"/>
            <a:ext cx="10437812" cy="58109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208315"/>
            <a:ext cx="1602997" cy="581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6726" y="-36183"/>
            <a:ext cx="9613861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47041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033" y="270769"/>
            <a:ext cx="945384" cy="447331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8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4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8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3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2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9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80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6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119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437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24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03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971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46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8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0B59F-74D7-40A6-8C1E-2D62BF488CDC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12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55A1-778B-CBD3-2A30-970B27E7B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sz="4400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/&gt;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67B07-2AB6-250A-AB80-DE8B50BCA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Agency FB" panose="020B0503020202020204" pitchFamily="34" charset="0"/>
              </a:rPr>
              <a:t>Core JAVA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98916-F9E7-EBAC-BE3B-5EA90029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54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9174-4221-2E61-2BBA-A5675E5D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Multi threading and concurrency {</a:t>
            </a:r>
            <a:r>
              <a:rPr lang="en-IN" sz="2000" dirty="0"/>
              <a:t>Agenda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9D6B-D71E-9A8C-F04C-695B0CF7B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7DBE-7876-EDF4-6E90-83F9BF3C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0D294A9-1C75-20B8-E943-80AC12FC0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1074249"/>
              </p:ext>
            </p:extLst>
          </p:nvPr>
        </p:nvGraphicFramePr>
        <p:xfrm>
          <a:off x="311150" y="1044755"/>
          <a:ext cx="9045792" cy="5298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93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AC8B-BB9D-1C73-7C6C-6DA31094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04C9-CF4E-F114-217D-A5DA9CBD3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799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thread</a:t>
            </a:r>
            <a:r>
              <a:rPr lang="en-US" sz="1800" dirty="0">
                <a:solidFill>
                  <a:schemeClr val="bg1"/>
                </a:solidFill>
              </a:rPr>
              <a:t> is the </a:t>
            </a:r>
            <a:r>
              <a:rPr lang="en-US" sz="1800" b="1" dirty="0">
                <a:solidFill>
                  <a:schemeClr val="bg1"/>
                </a:solidFill>
              </a:rPr>
              <a:t>smallest unit of execution</a:t>
            </a:r>
            <a:r>
              <a:rPr lang="en-US" sz="1800" dirty="0">
                <a:solidFill>
                  <a:schemeClr val="bg1"/>
                </a:solidFill>
              </a:rPr>
              <a:t> inside a program. It is a single path of execution within a process.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Java program always has at least </a:t>
            </a:r>
            <a:r>
              <a:rPr lang="en-US" sz="1800" b="1" dirty="0">
                <a:solidFill>
                  <a:schemeClr val="bg1"/>
                </a:solidFill>
              </a:rPr>
              <a:t>one thread</a:t>
            </a:r>
            <a:r>
              <a:rPr lang="en-US" sz="1800" dirty="0">
                <a:solidFill>
                  <a:schemeClr val="bg1"/>
                </a:solidFill>
              </a:rPr>
              <a:t> — the </a:t>
            </a:r>
            <a:r>
              <a:rPr lang="en-US" sz="1800" b="1" dirty="0">
                <a:solidFill>
                  <a:schemeClr val="bg1"/>
                </a:solidFill>
              </a:rPr>
              <a:t>main thread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public class Test {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public static void main(String[] </a:t>
            </a:r>
            <a:r>
              <a:rPr lang="en-US" sz="1600" i="1" dirty="0" err="1">
                <a:solidFill>
                  <a:schemeClr val="bg1"/>
                </a:solidFill>
              </a:rPr>
              <a:t>args</a:t>
            </a:r>
            <a:r>
              <a:rPr lang="en-US" sz="1600" i="1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    </a:t>
            </a:r>
            <a:r>
              <a:rPr lang="en-US" sz="1600" i="1" dirty="0" err="1">
                <a:solidFill>
                  <a:schemeClr val="bg1"/>
                </a:solidFill>
              </a:rPr>
              <a:t>System.out.println</a:t>
            </a:r>
            <a:r>
              <a:rPr lang="en-US" sz="1600" i="1" dirty="0">
                <a:solidFill>
                  <a:schemeClr val="bg1"/>
                </a:solidFill>
              </a:rPr>
              <a:t>("Main thread running");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Here, the main() method runs on the </a:t>
            </a:r>
            <a:r>
              <a:rPr lang="en-US" sz="1800" b="1" dirty="0">
                <a:solidFill>
                  <a:schemeClr val="bg1"/>
                </a:solidFill>
              </a:rPr>
              <a:t>main thread</a:t>
            </a:r>
            <a:r>
              <a:rPr lang="en-US" sz="1800" dirty="0">
                <a:solidFill>
                  <a:schemeClr val="bg1"/>
                </a:solidFill>
              </a:rPr>
              <a:t>. Threads allow: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Multitasking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Better CPU utilization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Responsive applications (UI doesn’t freeze)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Faster background processing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28DD-DE8B-6C76-B10F-29710DE8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18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D1B4-9532-5749-D08D-1918B3B3B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Thread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9EE9A-933A-F66E-9ECE-92A9D670F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34522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8728-4CCC-D318-05F2-84A1A2FDDB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BC99B8F-A8C3-3AFD-460C-A1DDCA11E3D7}"/>
              </a:ext>
            </a:extLst>
          </p:cNvPr>
          <p:cNvGrpSpPr/>
          <p:nvPr/>
        </p:nvGrpSpPr>
        <p:grpSpPr>
          <a:xfrm>
            <a:off x="332215" y="1140077"/>
            <a:ext cx="11178713" cy="4658479"/>
            <a:chOff x="332215" y="1140077"/>
            <a:chExt cx="11178713" cy="4658479"/>
          </a:xfrm>
          <a:solidFill>
            <a:schemeClr val="accent1">
              <a:lumMod val="60000"/>
              <a:lumOff val="40000"/>
            </a:schemeClr>
          </a:solidFill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E2521EF-2598-AE5C-1DE0-126B8BD48A1B}"/>
                </a:ext>
              </a:extLst>
            </p:cNvPr>
            <p:cNvGrpSpPr/>
            <p:nvPr/>
          </p:nvGrpSpPr>
          <p:grpSpPr>
            <a:xfrm>
              <a:off x="3228619" y="1140077"/>
              <a:ext cx="8282309" cy="4658479"/>
              <a:chOff x="2833508" y="1018303"/>
              <a:chExt cx="8282309" cy="4658479"/>
            </a:xfrm>
            <a:grpFill/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D1DE457-B2CE-C25B-47EE-071B685ADDBB}"/>
                  </a:ext>
                </a:extLst>
              </p:cNvPr>
              <p:cNvGrpSpPr/>
              <p:nvPr/>
            </p:nvGrpSpPr>
            <p:grpSpPr>
              <a:xfrm>
                <a:off x="2833508" y="1566333"/>
                <a:ext cx="1083733" cy="1083733"/>
                <a:chOff x="3522133" y="2432981"/>
                <a:chExt cx="1083733" cy="1083733"/>
              </a:xfrm>
              <a:grp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" name="Rectangle: Rounded Corners 12">
                  <a:extLst>
                    <a:ext uri="{FF2B5EF4-FFF2-40B4-BE49-F238E27FC236}">
                      <a16:creationId xmlns:a16="http://schemas.microsoft.com/office/drawing/2014/main" id="{2EFC8BEC-C80A-0063-8169-7611670E5131}"/>
                    </a:ext>
                  </a:extLst>
                </p:cNvPr>
                <p:cNvSpPr/>
                <p:nvPr/>
              </p:nvSpPr>
              <p:spPr>
                <a:xfrm>
                  <a:off x="3522133" y="2432981"/>
                  <a:ext cx="1083733" cy="1083733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4" name="Rectangle: Rounded Corners 4">
                  <a:extLst>
                    <a:ext uri="{FF2B5EF4-FFF2-40B4-BE49-F238E27FC236}">
                      <a16:creationId xmlns:a16="http://schemas.microsoft.com/office/drawing/2014/main" id="{BFDDFAE6-2388-288F-9B75-2853BBD22855}"/>
                    </a:ext>
                  </a:extLst>
                </p:cNvPr>
                <p:cNvSpPr txBox="1"/>
                <p:nvPr/>
              </p:nvSpPr>
              <p:spPr>
                <a:xfrm>
                  <a:off x="3575036" y="2485884"/>
                  <a:ext cx="977927" cy="977927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83820" tIns="83820" rIns="83820" bIns="83820" numCol="1" spcCol="1270" anchor="ctr" anchorCtr="0">
                  <a:no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3300" kern="1200" dirty="0"/>
                    <a:t>New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9CC7BBC-6C55-6F67-B3B6-11BD05C57358}"/>
                  </a:ext>
                </a:extLst>
              </p:cNvPr>
              <p:cNvGrpSpPr/>
              <p:nvPr/>
            </p:nvGrpSpPr>
            <p:grpSpPr>
              <a:xfrm>
                <a:off x="3134747" y="4593049"/>
                <a:ext cx="1967156" cy="1083733"/>
                <a:chOff x="3522133" y="2432981"/>
                <a:chExt cx="1083733" cy="1083733"/>
              </a:xfrm>
              <a:grp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201E32E0-1A48-0EF5-E889-445CA0A407CB}"/>
                    </a:ext>
                  </a:extLst>
                </p:cNvPr>
                <p:cNvSpPr/>
                <p:nvPr/>
              </p:nvSpPr>
              <p:spPr>
                <a:xfrm>
                  <a:off x="3522133" y="2432981"/>
                  <a:ext cx="1083733" cy="1083733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7" name="Rectangle: Rounded Corners 4">
                  <a:extLst>
                    <a:ext uri="{FF2B5EF4-FFF2-40B4-BE49-F238E27FC236}">
                      <a16:creationId xmlns:a16="http://schemas.microsoft.com/office/drawing/2014/main" id="{4EB6F3F0-42C6-02DA-BC5C-73348710EDAF}"/>
                    </a:ext>
                  </a:extLst>
                </p:cNvPr>
                <p:cNvSpPr txBox="1"/>
                <p:nvPr/>
              </p:nvSpPr>
              <p:spPr>
                <a:xfrm>
                  <a:off x="3575036" y="2485884"/>
                  <a:ext cx="977927" cy="977927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83820" tIns="83820" rIns="83820" bIns="83820" numCol="1" spcCol="1270" anchor="ctr" anchorCtr="0">
                  <a:no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3300" kern="1200" dirty="0"/>
                    <a:t>Dead</a:t>
                  </a: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A2C10323-0F07-1140-7E51-B54FD12CDE56}"/>
                  </a:ext>
                </a:extLst>
              </p:cNvPr>
              <p:cNvGrpSpPr/>
              <p:nvPr/>
            </p:nvGrpSpPr>
            <p:grpSpPr>
              <a:xfrm>
                <a:off x="9060771" y="4588759"/>
                <a:ext cx="2055046" cy="1083733"/>
                <a:chOff x="3522133" y="2601483"/>
                <a:chExt cx="1083733" cy="1083733"/>
              </a:xfrm>
              <a:grp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9" name="Rectangle: Rounded Corners 18">
                  <a:extLst>
                    <a:ext uri="{FF2B5EF4-FFF2-40B4-BE49-F238E27FC236}">
                      <a16:creationId xmlns:a16="http://schemas.microsoft.com/office/drawing/2014/main" id="{4E65714F-CAA8-A0F5-D458-AC3869419C87}"/>
                    </a:ext>
                  </a:extLst>
                </p:cNvPr>
                <p:cNvSpPr/>
                <p:nvPr/>
              </p:nvSpPr>
              <p:spPr>
                <a:xfrm>
                  <a:off x="3522133" y="2601483"/>
                  <a:ext cx="1083733" cy="1083733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20" name="Rectangle: Rounded Corners 4">
                  <a:extLst>
                    <a:ext uri="{FF2B5EF4-FFF2-40B4-BE49-F238E27FC236}">
                      <a16:creationId xmlns:a16="http://schemas.microsoft.com/office/drawing/2014/main" id="{7DE1B622-7823-80C1-D8E4-8CF1EDDC878D}"/>
                    </a:ext>
                  </a:extLst>
                </p:cNvPr>
                <p:cNvSpPr txBox="1"/>
                <p:nvPr/>
              </p:nvSpPr>
              <p:spPr>
                <a:xfrm>
                  <a:off x="3575036" y="2666506"/>
                  <a:ext cx="977927" cy="977927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83820" tIns="83820" rIns="83820" bIns="83820" numCol="1" spcCol="1270" anchor="ctr" anchorCtr="0">
                  <a:no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3300" dirty="0"/>
                    <a:t>Waiting</a:t>
                  </a:r>
                  <a:endParaRPr lang="en-IN" sz="3300" kern="1200" dirty="0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46D5B24-629B-5267-4ABD-A11808BA1F8C}"/>
                  </a:ext>
                </a:extLst>
              </p:cNvPr>
              <p:cNvGrpSpPr/>
              <p:nvPr/>
            </p:nvGrpSpPr>
            <p:grpSpPr>
              <a:xfrm>
                <a:off x="6053650" y="1018303"/>
                <a:ext cx="2123489" cy="1083733"/>
                <a:chOff x="3522133" y="2432981"/>
                <a:chExt cx="1083733" cy="1083733"/>
              </a:xfrm>
              <a:grp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72305A24-FED1-81A4-F3C7-F083FD0CE1E8}"/>
                    </a:ext>
                  </a:extLst>
                </p:cNvPr>
                <p:cNvSpPr/>
                <p:nvPr/>
              </p:nvSpPr>
              <p:spPr>
                <a:xfrm>
                  <a:off x="3522133" y="2432981"/>
                  <a:ext cx="1083733" cy="1083733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32" name="Rectangle: Rounded Corners 4">
                  <a:extLst>
                    <a:ext uri="{FF2B5EF4-FFF2-40B4-BE49-F238E27FC236}">
                      <a16:creationId xmlns:a16="http://schemas.microsoft.com/office/drawing/2014/main" id="{59EAE6F8-9D7D-FB09-06DD-B73998A0B658}"/>
                    </a:ext>
                  </a:extLst>
                </p:cNvPr>
                <p:cNvSpPr txBox="1"/>
                <p:nvPr/>
              </p:nvSpPr>
              <p:spPr>
                <a:xfrm>
                  <a:off x="3575036" y="2485884"/>
                  <a:ext cx="977927" cy="977927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83820" tIns="83820" rIns="83820" bIns="83820" numCol="1" spcCol="1270" anchor="ctr" anchorCtr="0">
                  <a:no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3300" kern="1200" dirty="0"/>
                    <a:t>Runnable</a:t>
                  </a: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8E3D4412-F4A2-BE8D-968A-89C615C0C635}"/>
                  </a:ext>
                </a:extLst>
              </p:cNvPr>
              <p:cNvGrpSpPr/>
              <p:nvPr/>
            </p:nvGrpSpPr>
            <p:grpSpPr>
              <a:xfrm>
                <a:off x="6235975" y="3230717"/>
                <a:ext cx="1967157" cy="1083733"/>
                <a:chOff x="3522133" y="2432981"/>
                <a:chExt cx="1083733" cy="1083733"/>
              </a:xfrm>
              <a:grpFill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F086E7F7-D4AB-DC39-A1DD-BBC5FF748A0C}"/>
                    </a:ext>
                  </a:extLst>
                </p:cNvPr>
                <p:cNvSpPr/>
                <p:nvPr/>
              </p:nvSpPr>
              <p:spPr>
                <a:xfrm>
                  <a:off x="3522133" y="2432981"/>
                  <a:ext cx="1083733" cy="1083733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35" name="Rectangle: Rounded Corners 4">
                  <a:extLst>
                    <a:ext uri="{FF2B5EF4-FFF2-40B4-BE49-F238E27FC236}">
                      <a16:creationId xmlns:a16="http://schemas.microsoft.com/office/drawing/2014/main" id="{B13F9C83-C261-120B-69AD-8B07EA2CFA91}"/>
                    </a:ext>
                  </a:extLst>
                </p:cNvPr>
                <p:cNvSpPr txBox="1"/>
                <p:nvPr/>
              </p:nvSpPr>
              <p:spPr>
                <a:xfrm>
                  <a:off x="3575036" y="2485884"/>
                  <a:ext cx="977927" cy="977927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83820" tIns="83820" rIns="83820" bIns="83820" numCol="1" spcCol="1270" anchor="ctr" anchorCtr="0">
                  <a:noAutofit/>
                </a:bodyPr>
                <a:lstStyle/>
                <a:p>
                  <a:pPr marL="0" lvl="0" indent="0" algn="ctr" defTabSz="1466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3300" kern="1200" dirty="0"/>
                    <a:t>Running</a:t>
                  </a:r>
                </a:p>
              </p:txBody>
            </p: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6B58743-63A1-F40A-D37A-ADB26CE4C60E}"/>
                  </a:ext>
                </a:extLst>
              </p:cNvPr>
              <p:cNvCxnSpPr>
                <a:stCxn id="13" idx="3"/>
                <a:endCxn id="31" idx="1"/>
              </p:cNvCxnSpPr>
              <p:nvPr/>
            </p:nvCxnSpPr>
            <p:spPr>
              <a:xfrm flipV="1">
                <a:off x="3917241" y="1560170"/>
                <a:ext cx="2136409" cy="548030"/>
              </a:xfrm>
              <a:prstGeom prst="straightConnector1">
                <a:avLst/>
              </a:prstGeom>
              <a:grpFill/>
              <a:ln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6B50F42-96AF-A74E-5764-B2206DD96581}"/>
                  </a:ext>
                </a:extLst>
              </p:cNvPr>
              <p:cNvCxnSpPr>
                <a:cxnSpLocks/>
                <a:stCxn id="31" idx="2"/>
              </p:cNvCxnSpPr>
              <p:nvPr/>
            </p:nvCxnSpPr>
            <p:spPr>
              <a:xfrm flipH="1">
                <a:off x="7115394" y="2102036"/>
                <a:ext cx="1" cy="1128681"/>
              </a:xfrm>
              <a:prstGeom prst="straightConnector1">
                <a:avLst/>
              </a:prstGeom>
              <a:grpFill/>
              <a:ln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BF207D48-E30D-118B-1BD7-A62B7C8B9591}"/>
                  </a:ext>
                </a:extLst>
              </p:cNvPr>
              <p:cNvCxnSpPr>
                <a:cxnSpLocks/>
                <a:endCxn id="19" idx="1"/>
              </p:cNvCxnSpPr>
              <p:nvPr/>
            </p:nvCxnSpPr>
            <p:spPr>
              <a:xfrm>
                <a:off x="8177139" y="4276236"/>
                <a:ext cx="883632" cy="854390"/>
              </a:xfrm>
              <a:prstGeom prst="straightConnector1">
                <a:avLst/>
              </a:prstGeom>
              <a:grpFill/>
              <a:ln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6673CFA8-8EE7-AF82-091A-D0ADEFFD0691}"/>
                  </a:ext>
                </a:extLst>
              </p:cNvPr>
              <p:cNvCxnSpPr>
                <a:endCxn id="16" idx="3"/>
              </p:cNvCxnSpPr>
              <p:nvPr/>
            </p:nvCxnSpPr>
            <p:spPr>
              <a:xfrm flipH="1">
                <a:off x="5101903" y="4261547"/>
                <a:ext cx="1186005" cy="873369"/>
              </a:xfrm>
              <a:prstGeom prst="straightConnector1">
                <a:avLst/>
              </a:prstGeom>
              <a:grpFill/>
              <a:ln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3917F4A5-F46E-8A21-F26C-0E6E8F4DA7E9}"/>
                </a:ext>
              </a:extLst>
            </p:cNvPr>
            <p:cNvSpPr/>
            <p:nvPr/>
          </p:nvSpPr>
          <p:spPr>
            <a:xfrm>
              <a:off x="332215" y="3048418"/>
              <a:ext cx="1733648" cy="1083733"/>
            </a:xfrm>
            <a:prstGeom prst="roundRect">
              <a:avLst/>
            </a:prstGeom>
            <a:grp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5" name="Rectangle: Rounded Corners 4">
              <a:extLst>
                <a:ext uri="{FF2B5EF4-FFF2-40B4-BE49-F238E27FC236}">
                  <a16:creationId xmlns:a16="http://schemas.microsoft.com/office/drawing/2014/main" id="{4959073B-C50B-F202-3FA8-1356BF4D8B51}"/>
                </a:ext>
              </a:extLst>
            </p:cNvPr>
            <p:cNvSpPr txBox="1"/>
            <p:nvPr/>
          </p:nvSpPr>
          <p:spPr>
            <a:xfrm>
              <a:off x="405943" y="3143212"/>
              <a:ext cx="1564390" cy="97792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300" kern="1200" dirty="0"/>
                <a:t>Thread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2B62328-26DA-35E9-0B99-0F649EE6BE13}"/>
                </a:ext>
              </a:extLst>
            </p:cNvPr>
            <p:cNvCxnSpPr>
              <a:stCxn id="54" idx="3"/>
              <a:endCxn id="13" idx="1"/>
            </p:cNvCxnSpPr>
            <p:nvPr/>
          </p:nvCxnSpPr>
          <p:spPr>
            <a:xfrm flipV="1">
              <a:off x="2065863" y="2229974"/>
              <a:ext cx="1162756" cy="1360311"/>
            </a:xfrm>
            <a:prstGeom prst="straightConnector1">
              <a:avLst/>
            </a:prstGeom>
            <a:grpFill/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055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46FB-A8D8-1CFE-407F-F820EC49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Thread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946A8-D75C-2634-56EC-D1CEC9FE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308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1. NEW :- </a:t>
            </a:r>
            <a:r>
              <a:rPr lang="en-US" sz="1800" dirty="0">
                <a:solidFill>
                  <a:schemeClr val="bg1"/>
                </a:solidFill>
              </a:rPr>
              <a:t>Thread is created but not yet started.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2. RUNNABLE :- </a:t>
            </a:r>
            <a:r>
              <a:rPr lang="en-US" sz="1800" dirty="0">
                <a:solidFill>
                  <a:schemeClr val="bg1"/>
                </a:solidFill>
              </a:rPr>
              <a:t>Thread is ready to run and waiting for CPU time.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3. RUNNING (conceptual state) :- </a:t>
            </a:r>
            <a:r>
              <a:rPr lang="en-US" sz="1800" dirty="0">
                <a:solidFill>
                  <a:schemeClr val="bg1"/>
                </a:solidFill>
              </a:rPr>
              <a:t>Thread is actively executing its run() method.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4. BLOCKED :- </a:t>
            </a:r>
            <a:r>
              <a:rPr lang="en-US" sz="1800" dirty="0">
                <a:solidFill>
                  <a:schemeClr val="bg1"/>
                </a:solidFill>
              </a:rPr>
              <a:t>Thread is waiting to acquire a </a:t>
            </a:r>
            <a:r>
              <a:rPr lang="en-US" sz="1800" b="1" dirty="0">
                <a:solidFill>
                  <a:schemeClr val="bg1"/>
                </a:solidFill>
              </a:rPr>
              <a:t>monitor lock</a:t>
            </a:r>
            <a:r>
              <a:rPr lang="en-US" sz="1800" dirty="0">
                <a:solidFill>
                  <a:schemeClr val="bg1"/>
                </a:solidFill>
              </a:rPr>
              <a:t>. This happens when entering a synchronized block and another thread already holds the lock.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5. WAITING :- </a:t>
            </a:r>
            <a:r>
              <a:rPr lang="en-US" sz="1800" dirty="0">
                <a:solidFill>
                  <a:schemeClr val="bg1"/>
                </a:solidFill>
              </a:rPr>
              <a:t>Thread waits </a:t>
            </a:r>
            <a:r>
              <a:rPr lang="en-US" sz="1800" b="1" dirty="0">
                <a:solidFill>
                  <a:schemeClr val="bg1"/>
                </a:solidFill>
              </a:rPr>
              <a:t>indefinitely</a:t>
            </a:r>
            <a:r>
              <a:rPr lang="en-US" sz="1800" dirty="0">
                <a:solidFill>
                  <a:schemeClr val="bg1"/>
                </a:solidFill>
              </a:rPr>
              <a:t> for another thread’s action. Caused by: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lang="en-US" sz="1800" dirty="0" err="1">
                <a:solidFill>
                  <a:schemeClr val="bg1"/>
                </a:solidFill>
              </a:rPr>
              <a:t>Object.wait</a:t>
            </a:r>
            <a:r>
              <a:rPr lang="en-US" sz="18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lang="en-US" sz="1800" dirty="0" err="1">
                <a:solidFill>
                  <a:schemeClr val="bg1"/>
                </a:solidFill>
              </a:rPr>
              <a:t>Thread.join</a:t>
            </a:r>
            <a:r>
              <a:rPr lang="en-US" sz="18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</a:t>
            </a:r>
            <a:r>
              <a:rPr lang="en-US" sz="1800" dirty="0" err="1">
                <a:solidFill>
                  <a:schemeClr val="bg1"/>
                </a:solidFill>
              </a:rPr>
              <a:t>LockSupport.park</a:t>
            </a:r>
            <a:r>
              <a:rPr lang="en-US" sz="18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6. TIMED_WAITING :- </a:t>
            </a:r>
            <a:r>
              <a:rPr lang="en-US" sz="1800" dirty="0">
                <a:solidFill>
                  <a:schemeClr val="bg1"/>
                </a:solidFill>
              </a:rPr>
              <a:t>Thread waits for a specified time.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7. TERMINATED (DEAD) :- </a:t>
            </a:r>
            <a:r>
              <a:rPr lang="en-US" sz="1800" dirty="0">
                <a:solidFill>
                  <a:schemeClr val="bg1"/>
                </a:solidFill>
              </a:rPr>
              <a:t>Thread has finished execution.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4A92E-84DB-D2CC-B12A-41FB0D46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584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A884-6B8E-14D4-E9A4-DBE3F075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Creating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5EA3F-7B67-07E8-8A86-BA2378797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364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Threads can be created by:-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extending Thread class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implementing Runnable interface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using executor framework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Method 1:- extending Thread class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class </a:t>
            </a:r>
            <a:r>
              <a:rPr lang="en-IN" sz="1600" dirty="0" err="1">
                <a:solidFill>
                  <a:schemeClr val="bg1"/>
                </a:solidFill>
              </a:rPr>
              <a:t>MyThread</a:t>
            </a:r>
            <a:r>
              <a:rPr lang="en-IN" sz="1600" dirty="0">
                <a:solidFill>
                  <a:schemeClr val="bg1"/>
                </a:solidFill>
              </a:rPr>
              <a:t> extends Thread {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public void run() {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("Thread running using Thread class");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public class Main {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MyThread</a:t>
            </a:r>
            <a:r>
              <a:rPr lang="en-IN" sz="1600" dirty="0">
                <a:solidFill>
                  <a:schemeClr val="bg1"/>
                </a:solidFill>
              </a:rPr>
              <a:t> t = new </a:t>
            </a:r>
            <a:r>
              <a:rPr lang="en-IN" sz="1600" dirty="0" err="1">
                <a:solidFill>
                  <a:schemeClr val="bg1"/>
                </a:solidFill>
              </a:rPr>
              <a:t>MyThread</a:t>
            </a:r>
            <a:r>
              <a:rPr lang="en-IN" sz="1600" dirty="0">
                <a:solidFill>
                  <a:schemeClr val="bg1"/>
                </a:solidFill>
              </a:rPr>
              <a:t>(); // Step 1: Create thread object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t.start</a:t>
            </a:r>
            <a:r>
              <a:rPr lang="en-IN" sz="1600" dirty="0">
                <a:solidFill>
                  <a:schemeClr val="bg1"/>
                </a:solidFill>
              </a:rPr>
              <a:t>();                   // Step 2: Start thread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D612E-A85D-F843-5D1F-5C0E713D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4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012F-E836-FE9F-503A-EBC7741A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Creating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8C087-6F64-5FE1-4BAE-2DEAC4FBB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685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Method 2: Implementing the Runnable Interface (most common)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class </a:t>
            </a:r>
            <a:r>
              <a:rPr lang="en-IN" sz="1800" dirty="0" err="1">
                <a:solidFill>
                  <a:schemeClr val="bg1"/>
                </a:solidFill>
              </a:rPr>
              <a:t>MyRunnable</a:t>
            </a:r>
            <a:r>
              <a:rPr lang="en-IN" sz="1800" dirty="0">
                <a:solidFill>
                  <a:schemeClr val="bg1"/>
                </a:solidFill>
              </a:rPr>
              <a:t> implements Runnable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public void run()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</a:t>
            </a: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("Thread running using Runnable");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public class Main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800" dirty="0" err="1">
                <a:solidFill>
                  <a:schemeClr val="bg1"/>
                </a:solidFill>
              </a:rPr>
              <a:t>args</a:t>
            </a:r>
            <a:r>
              <a:rPr lang="en-IN" sz="1800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</a:t>
            </a:r>
            <a:r>
              <a:rPr lang="en-IN" sz="1800" dirty="0" err="1">
                <a:solidFill>
                  <a:schemeClr val="bg1"/>
                </a:solidFill>
              </a:rPr>
              <a:t>MyRunnable</a:t>
            </a:r>
            <a:r>
              <a:rPr lang="en-IN" sz="1800" dirty="0">
                <a:solidFill>
                  <a:schemeClr val="bg1"/>
                </a:solidFill>
              </a:rPr>
              <a:t> task = new </a:t>
            </a:r>
            <a:r>
              <a:rPr lang="en-IN" sz="1800" dirty="0" err="1">
                <a:solidFill>
                  <a:schemeClr val="bg1"/>
                </a:solidFill>
              </a:rPr>
              <a:t>MyRunnable</a:t>
            </a:r>
            <a:r>
              <a:rPr lang="en-IN" sz="1800" dirty="0">
                <a:solidFill>
                  <a:schemeClr val="bg1"/>
                </a:solidFill>
              </a:rPr>
              <a:t>(); // Step 1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Thread t = new Thread(task);        // Step 2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</a:t>
            </a:r>
            <a:r>
              <a:rPr lang="en-IN" sz="1800" dirty="0" err="1">
                <a:solidFill>
                  <a:schemeClr val="bg1"/>
                </a:solidFill>
              </a:rPr>
              <a:t>t.start</a:t>
            </a:r>
            <a:r>
              <a:rPr lang="en-IN" sz="1800" dirty="0">
                <a:solidFill>
                  <a:schemeClr val="bg1"/>
                </a:solidFill>
              </a:rPr>
              <a:t>();                          // Step 3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1AEF1-AF10-1634-E1A4-BEE26245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679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3698-3E40-3D44-189D-5E129449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Creating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19613-E107-51F5-6EB5-97E36F773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13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Method 3: Using Executor Framework (Best for Real Applications)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public class Main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800" dirty="0" err="1">
                <a:solidFill>
                  <a:schemeClr val="bg1"/>
                </a:solidFill>
              </a:rPr>
              <a:t>args</a:t>
            </a:r>
            <a:r>
              <a:rPr lang="en-IN" sz="1800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</a:t>
            </a:r>
            <a:r>
              <a:rPr lang="en-IN" sz="1800" dirty="0" err="1">
                <a:solidFill>
                  <a:schemeClr val="bg1"/>
                </a:solidFill>
              </a:rPr>
              <a:t>ExecutorService</a:t>
            </a:r>
            <a:r>
              <a:rPr lang="en-IN" sz="1800" dirty="0">
                <a:solidFill>
                  <a:schemeClr val="bg1"/>
                </a:solidFill>
              </a:rPr>
              <a:t> executor = </a:t>
            </a:r>
            <a:r>
              <a:rPr lang="en-IN" sz="1800" dirty="0" err="1">
                <a:solidFill>
                  <a:schemeClr val="bg1"/>
                </a:solidFill>
              </a:rPr>
              <a:t>Executors.newFixedThreadPool</a:t>
            </a:r>
            <a:r>
              <a:rPr lang="en-IN" sz="1800" dirty="0">
                <a:solidFill>
                  <a:schemeClr val="bg1"/>
                </a:solidFill>
              </a:rPr>
              <a:t>(2);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</a:t>
            </a:r>
            <a:r>
              <a:rPr lang="en-IN" sz="1800" dirty="0" err="1">
                <a:solidFill>
                  <a:schemeClr val="bg1"/>
                </a:solidFill>
              </a:rPr>
              <a:t>executor.execute</a:t>
            </a:r>
            <a:r>
              <a:rPr lang="en-IN" sz="1800" dirty="0">
                <a:solidFill>
                  <a:schemeClr val="bg1"/>
                </a:solidFill>
              </a:rPr>
              <a:t>(() -&gt;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    </a:t>
            </a: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("Task executed by thread pool");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});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</a:t>
            </a:r>
            <a:r>
              <a:rPr lang="en-IN" sz="1800" dirty="0" err="1">
                <a:solidFill>
                  <a:schemeClr val="bg1"/>
                </a:solidFill>
              </a:rPr>
              <a:t>executor.shutdown</a:t>
            </a:r>
            <a:r>
              <a:rPr lang="en-IN" sz="1800" dirty="0">
                <a:solidFill>
                  <a:schemeClr val="bg1"/>
                </a:solidFill>
              </a:rPr>
              <a:t>();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CB93B-1267-161A-C2AF-73319767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7349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75FD-7761-FCAC-3ECC-B3C698DC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Creating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7166B-A23B-0A0A-548D-A7D95AAC9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Important Difference: start() vs run()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51486A-1BC6-1BD5-D326-79C015A22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299038"/>
              </p:ext>
            </p:extLst>
          </p:nvPr>
        </p:nvGraphicFramePr>
        <p:xfrm>
          <a:off x="206905" y="1695009"/>
          <a:ext cx="9613900" cy="13716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4258640807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708713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What Happens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261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start()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Creates a new thread and calls run() internally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81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run()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Just a normal method call (no new thread)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557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76617B-BDDE-E431-70A0-7B0DD7074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2920"/>
              </p:ext>
            </p:extLst>
          </p:nvPr>
        </p:nvGraphicFramePr>
        <p:xfrm>
          <a:off x="167394" y="4570395"/>
          <a:ext cx="9613900" cy="14630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2704026365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27235553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Best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74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Extend Thread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Simple learning 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680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Implement Runnable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Flexible &amp; widely 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777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Executor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Real-world multithreading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5903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AF28CB-28D7-DCC0-BF0E-341E38A1895E}"/>
              </a:ext>
            </a:extLst>
          </p:cNvPr>
          <p:cNvSpPr txBox="1"/>
          <p:nvPr/>
        </p:nvSpPr>
        <p:spPr>
          <a:xfrm>
            <a:off x="118534" y="4034177"/>
            <a:ext cx="253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CF47AF9-D633-529F-2864-C38AD62B84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78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9A5D6-3B46-3EF4-9869-36FD2418F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4C4A0-9836-8089-64C3-0345F1162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Synchronization</a:t>
            </a:r>
            <a:r>
              <a:rPr lang="en-US" sz="1800" dirty="0">
                <a:solidFill>
                  <a:schemeClr val="bg1"/>
                </a:solidFill>
              </a:rPr>
              <a:t> is a mechanism that ensures </a:t>
            </a:r>
            <a:r>
              <a:rPr lang="en-US" sz="1800" b="1" dirty="0">
                <a:solidFill>
                  <a:schemeClr val="bg1"/>
                </a:solidFill>
              </a:rPr>
              <a:t>only one thread at a time</a:t>
            </a:r>
            <a:r>
              <a:rPr lang="en-US" sz="1800" dirty="0">
                <a:solidFill>
                  <a:schemeClr val="bg1"/>
                </a:solidFill>
              </a:rPr>
              <a:t> can access a shared resource. It prevents </a:t>
            </a:r>
            <a:r>
              <a:rPr lang="en-US" sz="1800" b="1" dirty="0">
                <a:solidFill>
                  <a:schemeClr val="bg1"/>
                </a:solidFill>
              </a:rPr>
              <a:t>data inconsistency</a:t>
            </a:r>
            <a:r>
              <a:rPr lang="en-US" sz="1800" dirty="0">
                <a:solidFill>
                  <a:schemeClr val="bg1"/>
                </a:solidFill>
              </a:rPr>
              <a:t> when multiple threads modify the same data. It makes threads take turns using a shared resource by using a </a:t>
            </a:r>
            <a:r>
              <a:rPr lang="en-US" sz="1800" b="1" dirty="0">
                <a:solidFill>
                  <a:schemeClr val="bg1"/>
                </a:solidFill>
              </a:rPr>
              <a:t>lock (monitor)</a:t>
            </a:r>
            <a:r>
              <a:rPr lang="en-US" sz="1800" dirty="0">
                <a:solidFill>
                  <a:schemeClr val="bg1"/>
                </a:solidFill>
              </a:rPr>
              <a:t>. Only the thread holding the lock can enter the synchronized code.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Problems without proper synchronization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84BDB5-433B-5777-F157-93D81BE30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120411"/>
              </p:ext>
            </p:extLst>
          </p:nvPr>
        </p:nvGraphicFramePr>
        <p:xfrm>
          <a:off x="443971" y="2879779"/>
          <a:ext cx="9613900" cy="14630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2010959412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548836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1916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Race 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Multiple threads update data unpredictably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345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Inconsistency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Incorrect values due to overlap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857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Thread Interference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 thread overwrites another's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486248"/>
                  </a:ext>
                </a:extLst>
              </a:tr>
            </a:tbl>
          </a:graphicData>
        </a:graphic>
      </p:graphicFrame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2933F1E-9990-275D-9674-3CEE2C2E16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343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5678-B8CC-8CF0-4933-5F7E990A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BF4C9-E856-BA4C-8778-297E99CBC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590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Method 1: synchronized method. It locks the </a:t>
            </a:r>
            <a:r>
              <a:rPr lang="en-IN" sz="1800" dirty="0">
                <a:solidFill>
                  <a:schemeClr val="bg1"/>
                </a:solidFill>
              </a:rPr>
              <a:t>entire method.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class </a:t>
            </a:r>
            <a:r>
              <a:rPr lang="en-IN" sz="1800" dirty="0" err="1">
                <a:solidFill>
                  <a:schemeClr val="bg1"/>
                </a:solidFill>
              </a:rPr>
              <a:t>BankAccount</a:t>
            </a:r>
            <a:r>
              <a:rPr lang="en-IN" sz="1800" dirty="0">
                <a:solidFill>
                  <a:schemeClr val="bg1"/>
                </a:solidFill>
              </a:rPr>
              <a:t>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private int balance = 1000;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public synchronized void withdraw(int amount)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balance -= amount;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</a:t>
            </a: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("Withdrawn: " + amount + " Balance: " + balance);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Note:-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Lock is on the </a:t>
            </a:r>
            <a:r>
              <a:rPr lang="en-US" sz="1800" b="1" dirty="0">
                <a:solidFill>
                  <a:schemeClr val="bg1"/>
                </a:solidFill>
              </a:rPr>
              <a:t>object (this)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Only one thread can execute this method per object</a:t>
            </a: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95C89-655B-01D7-33DE-B43C9272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3185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85F8-BF5A-2137-CCE8-C77B13C5D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726" y="-36183"/>
            <a:ext cx="9780293" cy="1176408"/>
          </a:xfrm>
        </p:spPr>
        <p:txBody>
          <a:bodyPr>
            <a:normAutofit/>
          </a:bodyPr>
          <a:lstStyle/>
          <a:p>
            <a:r>
              <a:rPr lang="en-IN" sz="1600" dirty="0"/>
              <a:t>Synchronization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6B467-1A95-CDBC-EBED-71B82F0DC9F6}"/>
              </a:ext>
            </a:extLst>
          </p:cNvPr>
          <p:cNvSpPr txBox="1"/>
          <p:nvPr/>
        </p:nvSpPr>
        <p:spPr>
          <a:xfrm>
            <a:off x="90311" y="920044"/>
            <a:ext cx="5753643" cy="452431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class </a:t>
            </a:r>
            <a:r>
              <a:rPr lang="en-IN" sz="1600" dirty="0" err="1">
                <a:solidFill>
                  <a:schemeClr val="bg1"/>
                </a:solidFill>
              </a:rPr>
              <a:t>BankAccount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int balance = 1000;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synchronized void withdraw(int amount)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if (balance &gt;= amount)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</a:t>
            </a:r>
            <a:r>
              <a:rPr lang="en-IN" sz="1600" dirty="0" err="1">
                <a:solidFill>
                  <a:schemeClr val="bg1"/>
                </a:solidFill>
              </a:rPr>
              <a:t>Thread.currentThread</a:t>
            </a:r>
            <a:r>
              <a:rPr lang="en-IN" sz="1600" dirty="0">
                <a:solidFill>
                  <a:schemeClr val="bg1"/>
                </a:solidFill>
              </a:rPr>
              <a:t>().</a:t>
            </a:r>
            <a:r>
              <a:rPr lang="en-IN" sz="1600" dirty="0" err="1">
                <a:solidFill>
                  <a:schemeClr val="bg1"/>
                </a:solidFill>
              </a:rPr>
              <a:t>getName</a:t>
            </a:r>
            <a:r>
              <a:rPr lang="en-IN" sz="1600" dirty="0">
                <a:solidFill>
                  <a:schemeClr val="bg1"/>
                </a:solidFill>
              </a:rPr>
              <a:t>() + " withdrawing " + amount);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balance -= amount;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("Remaining balance: " + balance);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 else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</a:t>
            </a:r>
            <a:r>
              <a:rPr lang="en-IN" sz="1600" dirty="0" err="1">
                <a:solidFill>
                  <a:schemeClr val="bg1"/>
                </a:solidFill>
              </a:rPr>
              <a:t>Thread.currentThread</a:t>
            </a:r>
            <a:r>
              <a:rPr lang="en-IN" sz="1600" dirty="0">
                <a:solidFill>
                  <a:schemeClr val="bg1"/>
                </a:solidFill>
              </a:rPr>
              <a:t>().</a:t>
            </a:r>
            <a:r>
              <a:rPr lang="en-IN" sz="1600" dirty="0" err="1">
                <a:solidFill>
                  <a:schemeClr val="bg1"/>
                </a:solidFill>
              </a:rPr>
              <a:t>getName</a:t>
            </a:r>
            <a:r>
              <a:rPr lang="en-IN" sz="1600" dirty="0">
                <a:solidFill>
                  <a:schemeClr val="bg1"/>
                </a:solidFill>
              </a:rPr>
              <a:t>() + " - Insufficient balance");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2DF8F-8836-1BDA-4F7E-25AC4743404B}"/>
              </a:ext>
            </a:extLst>
          </p:cNvPr>
          <p:cNvSpPr txBox="1"/>
          <p:nvPr/>
        </p:nvSpPr>
        <p:spPr>
          <a:xfrm>
            <a:off x="5978769" y="920044"/>
            <a:ext cx="5937739" cy="329320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public class Test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US" sz="1600" dirty="0" err="1">
                <a:solidFill>
                  <a:schemeClr val="bg1"/>
                </a:solidFill>
              </a:rPr>
              <a:t>args</a:t>
            </a:r>
            <a:r>
              <a:rPr lang="en-US" sz="1600" dirty="0">
                <a:solidFill>
                  <a:schemeClr val="bg1"/>
                </a:solidFill>
              </a:rPr>
              <a:t>)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</a:t>
            </a:r>
            <a:r>
              <a:rPr lang="en-US" sz="1600" dirty="0" err="1">
                <a:solidFill>
                  <a:schemeClr val="bg1"/>
                </a:solidFill>
              </a:rPr>
              <a:t>BankAccount</a:t>
            </a:r>
            <a:r>
              <a:rPr lang="en-US" sz="1600" dirty="0">
                <a:solidFill>
                  <a:schemeClr val="bg1"/>
                </a:solidFill>
              </a:rPr>
              <a:t> account = new </a:t>
            </a:r>
            <a:r>
              <a:rPr lang="en-US" sz="1600" dirty="0" err="1">
                <a:solidFill>
                  <a:schemeClr val="bg1"/>
                </a:solidFill>
              </a:rPr>
              <a:t>BankAccount</a:t>
            </a:r>
            <a:r>
              <a:rPr lang="en-US" sz="1600" dirty="0">
                <a:solidFill>
                  <a:schemeClr val="bg1"/>
                </a:solidFill>
              </a:rPr>
              <a:t>();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       Runnable task = () -&gt; </a:t>
            </a:r>
            <a:r>
              <a:rPr lang="en-US" sz="1600" dirty="0" err="1">
                <a:solidFill>
                  <a:schemeClr val="bg1"/>
                </a:solidFill>
              </a:rPr>
              <a:t>account.withdraw</a:t>
            </a:r>
            <a:r>
              <a:rPr lang="en-US" sz="1600" dirty="0">
                <a:solidFill>
                  <a:schemeClr val="bg1"/>
                </a:solidFill>
              </a:rPr>
              <a:t>(800);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       Thread t1 = new Thread(task, "User1");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Thread t2 = new Thread(task, "User2");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       t1.start();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t2.start();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F4F81A5-7A59-A842-863E-44825B4A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708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961F-19A3-6FC2-EA94-2F3C7C8E7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593EC-C86A-C8FF-EFF4-48D38A01D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675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Method 2 : Synchronized block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class </a:t>
            </a:r>
            <a:r>
              <a:rPr lang="en-IN" sz="1800" dirty="0" err="1">
                <a:solidFill>
                  <a:schemeClr val="bg1"/>
                </a:solidFill>
              </a:rPr>
              <a:t>BankAccount</a:t>
            </a:r>
            <a:r>
              <a:rPr lang="en-IN" sz="1800" dirty="0">
                <a:solidFill>
                  <a:schemeClr val="bg1"/>
                </a:solidFill>
              </a:rPr>
              <a:t>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private int balance = 1000;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public void withdraw(int amount)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synchronized(this) {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    balance -= amount;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    </a:t>
            </a:r>
            <a:r>
              <a:rPr lang="en-IN" sz="1800" dirty="0" err="1">
                <a:solidFill>
                  <a:schemeClr val="bg1"/>
                </a:solidFill>
              </a:rPr>
              <a:t>System.out.println</a:t>
            </a:r>
            <a:r>
              <a:rPr lang="en-IN" sz="1800" dirty="0">
                <a:solidFill>
                  <a:schemeClr val="bg1"/>
                </a:solidFill>
              </a:rPr>
              <a:t>("Withdrawn: " + amount + " Balance: " + balance);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    }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Note:-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1. The lock is not on the entire method. Only the critical section is locked.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BB205-5BCA-CB4E-D31B-06A2E030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4741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FFE10-743D-EB0D-745E-12A75BD7B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Synchronization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BB3D4C-09C0-3E21-546C-6A92D6BDC748}"/>
              </a:ext>
            </a:extLst>
          </p:cNvPr>
          <p:cNvSpPr txBox="1"/>
          <p:nvPr/>
        </p:nvSpPr>
        <p:spPr>
          <a:xfrm>
            <a:off x="111369" y="931985"/>
            <a:ext cx="5937739" cy="540147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class </a:t>
            </a:r>
            <a:r>
              <a:rPr lang="en-IN" sz="1500" dirty="0" err="1">
                <a:solidFill>
                  <a:schemeClr val="bg1"/>
                </a:solidFill>
              </a:rPr>
              <a:t>BankAccount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int balance = 1000;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void withdraw(int amount) {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Thread.currentThread</a:t>
            </a:r>
            <a:r>
              <a:rPr lang="en-IN" sz="1500" dirty="0">
                <a:solidFill>
                  <a:schemeClr val="bg1"/>
                </a:solidFill>
              </a:rPr>
              <a:t>().</a:t>
            </a:r>
            <a:r>
              <a:rPr lang="en-IN" sz="1500" dirty="0" err="1">
                <a:solidFill>
                  <a:schemeClr val="bg1"/>
                </a:solidFill>
              </a:rPr>
              <a:t>getName</a:t>
            </a:r>
            <a:r>
              <a:rPr lang="en-IN" sz="1500" dirty="0">
                <a:solidFill>
                  <a:schemeClr val="bg1"/>
                </a:solidFill>
              </a:rPr>
              <a:t>() + " trying to withdraw...");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synchronized(this) {   // Lock starts here (critical section)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    if (balance &gt;= amount)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Thread.currentThread</a:t>
            </a:r>
            <a:r>
              <a:rPr lang="en-IN" sz="1500" dirty="0">
                <a:solidFill>
                  <a:schemeClr val="bg1"/>
                </a:solidFill>
              </a:rPr>
              <a:t>().</a:t>
            </a:r>
            <a:r>
              <a:rPr lang="en-IN" sz="1500" dirty="0" err="1">
                <a:solidFill>
                  <a:schemeClr val="bg1"/>
                </a:solidFill>
              </a:rPr>
              <a:t>getName</a:t>
            </a:r>
            <a:r>
              <a:rPr lang="en-IN" sz="1500" dirty="0">
                <a:solidFill>
                  <a:schemeClr val="bg1"/>
                </a:solidFill>
              </a:rPr>
              <a:t>() + " withdrawing " + amount);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balance -= amount;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("Remaining balance: " + balance);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} else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Thread.currentThread</a:t>
            </a:r>
            <a:r>
              <a:rPr lang="en-IN" sz="1500" dirty="0">
                <a:solidFill>
                  <a:schemeClr val="bg1"/>
                </a:solidFill>
              </a:rPr>
              <a:t>().</a:t>
            </a:r>
            <a:r>
              <a:rPr lang="en-IN" sz="1500" dirty="0" err="1">
                <a:solidFill>
                  <a:schemeClr val="bg1"/>
                </a:solidFill>
              </a:rPr>
              <a:t>getName</a:t>
            </a:r>
            <a:r>
              <a:rPr lang="en-IN" sz="1500" dirty="0">
                <a:solidFill>
                  <a:schemeClr val="bg1"/>
                </a:solidFill>
              </a:rPr>
              <a:t>() + " - Insufficient balance");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}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} // Lock released here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F31F3-71A0-B57F-9C22-4D14800E7137}"/>
              </a:ext>
            </a:extLst>
          </p:cNvPr>
          <p:cNvSpPr txBox="1"/>
          <p:nvPr/>
        </p:nvSpPr>
        <p:spPr>
          <a:xfrm>
            <a:off x="6189785" y="931985"/>
            <a:ext cx="5767753" cy="309315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public class Test {</a:t>
            </a:r>
          </a:p>
          <a:p>
            <a:r>
              <a:rPr lang="en-US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US" sz="1500" dirty="0" err="1">
                <a:solidFill>
                  <a:schemeClr val="bg1"/>
                </a:solidFill>
              </a:rPr>
              <a:t>args</a:t>
            </a:r>
            <a:r>
              <a:rPr lang="en-US" sz="1500" dirty="0">
                <a:solidFill>
                  <a:schemeClr val="bg1"/>
                </a:solidFill>
              </a:rPr>
              <a:t>) {</a:t>
            </a:r>
          </a:p>
          <a:p>
            <a:r>
              <a:rPr lang="en-US" sz="1500" dirty="0">
                <a:solidFill>
                  <a:schemeClr val="bg1"/>
                </a:solidFill>
              </a:rPr>
              <a:t>        </a:t>
            </a:r>
            <a:r>
              <a:rPr lang="en-US" sz="1500" dirty="0" err="1">
                <a:solidFill>
                  <a:schemeClr val="bg1"/>
                </a:solidFill>
              </a:rPr>
              <a:t>BankAccount</a:t>
            </a:r>
            <a:r>
              <a:rPr lang="en-US" sz="1500" dirty="0">
                <a:solidFill>
                  <a:schemeClr val="bg1"/>
                </a:solidFill>
              </a:rPr>
              <a:t> account = new </a:t>
            </a:r>
            <a:r>
              <a:rPr lang="en-US" sz="1500" dirty="0" err="1">
                <a:solidFill>
                  <a:schemeClr val="bg1"/>
                </a:solidFill>
              </a:rPr>
              <a:t>BankAccount</a:t>
            </a:r>
            <a:r>
              <a:rPr lang="en-US" sz="1500" dirty="0">
                <a:solidFill>
                  <a:schemeClr val="bg1"/>
                </a:solidFill>
              </a:rPr>
              <a:t>();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        Runnable task = () -&gt; </a:t>
            </a:r>
            <a:r>
              <a:rPr lang="en-US" sz="1500" dirty="0" err="1">
                <a:solidFill>
                  <a:schemeClr val="bg1"/>
                </a:solidFill>
              </a:rPr>
              <a:t>account.withdraw</a:t>
            </a:r>
            <a:r>
              <a:rPr lang="en-US" sz="1500" dirty="0">
                <a:solidFill>
                  <a:schemeClr val="bg1"/>
                </a:solidFill>
              </a:rPr>
              <a:t>(800);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        Thread t1 = new Thread(task, "User1");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        Thread t2 = new Thread(task, "User2");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        t1.start();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        t2.start();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1500" dirty="0">
                <a:solidFill>
                  <a:schemeClr val="bg1"/>
                </a:solidFill>
              </a:rPr>
              <a:t>}</a:t>
            </a:r>
            <a:endParaRPr lang="en-IN" sz="1500" dirty="0">
              <a:solidFill>
                <a:schemeClr val="bg1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95831AF-1CE2-B382-EEBF-6015554E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2711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C4A8-4D18-D746-6368-512ED9449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BDBB5-F101-91C9-1E6E-BD42D3511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Method 3: Static Synchronization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class Counter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private static int count = 0;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public static synchronized void increment()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 count++;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Note:-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Lock is on: </a:t>
            </a:r>
            <a:r>
              <a:rPr lang="en-US" sz="1800" dirty="0" err="1">
                <a:solidFill>
                  <a:schemeClr val="bg1"/>
                </a:solidFill>
              </a:rPr>
              <a:t>Counter.class</a:t>
            </a:r>
            <a:r>
              <a:rPr lang="en-US" sz="1800" dirty="0">
                <a:solidFill>
                  <a:schemeClr val="bg1"/>
                </a:solidFill>
              </a:rPr>
              <a:t>. It is used when data is </a:t>
            </a:r>
            <a:r>
              <a:rPr lang="en-US" sz="1800" b="1" dirty="0">
                <a:solidFill>
                  <a:schemeClr val="bg1"/>
                </a:solidFill>
              </a:rPr>
              <a:t>shared among all objects</a:t>
            </a: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748E2-3A16-C090-6CF1-C62D10F4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861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4AB1-83DD-ECE2-8474-3DEA1F19D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Synchronization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6EC27-35DF-9E79-FB70-2C221B1C0D52}"/>
              </a:ext>
            </a:extLst>
          </p:cNvPr>
          <p:cNvSpPr txBox="1"/>
          <p:nvPr/>
        </p:nvSpPr>
        <p:spPr>
          <a:xfrm>
            <a:off x="105508" y="920262"/>
            <a:ext cx="5386754" cy="5170646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class </a:t>
            </a:r>
            <a:r>
              <a:rPr lang="en-IN" sz="1500" dirty="0" err="1">
                <a:solidFill>
                  <a:schemeClr val="bg1"/>
                </a:solidFill>
              </a:rPr>
              <a:t>VisitorCounter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static int count = 0;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void visit()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synchronized(</a:t>
            </a:r>
            <a:r>
              <a:rPr lang="en-IN" sz="1500" dirty="0" err="1">
                <a:solidFill>
                  <a:schemeClr val="bg1"/>
                </a:solidFill>
              </a:rPr>
              <a:t>VisitorCounter.class</a:t>
            </a:r>
            <a:r>
              <a:rPr lang="en-IN" sz="1500" dirty="0">
                <a:solidFill>
                  <a:schemeClr val="bg1"/>
                </a:solidFill>
              </a:rPr>
              <a:t>) {  // Class-level lock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count++;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public class Test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throws </a:t>
            </a:r>
            <a:r>
              <a:rPr lang="en-IN" sz="1500" dirty="0" err="1">
                <a:solidFill>
                  <a:schemeClr val="bg1"/>
                </a:solidFill>
              </a:rPr>
              <a:t>InterruptedException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VisitorCounter</a:t>
            </a:r>
            <a:r>
              <a:rPr lang="en-IN" sz="1500" dirty="0">
                <a:solidFill>
                  <a:schemeClr val="bg1"/>
                </a:solidFill>
              </a:rPr>
              <a:t> vc1 = new </a:t>
            </a:r>
            <a:r>
              <a:rPr lang="en-IN" sz="1500" dirty="0" err="1">
                <a:solidFill>
                  <a:schemeClr val="bg1"/>
                </a:solidFill>
              </a:rPr>
              <a:t>VisitorCounter</a:t>
            </a:r>
            <a:r>
              <a:rPr lang="en-IN" sz="15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VisitorCounter</a:t>
            </a:r>
            <a:r>
              <a:rPr lang="en-IN" sz="1500" dirty="0">
                <a:solidFill>
                  <a:schemeClr val="bg1"/>
                </a:solidFill>
              </a:rPr>
              <a:t> vc2 = new </a:t>
            </a:r>
            <a:r>
              <a:rPr lang="en-IN" sz="1500" dirty="0" err="1">
                <a:solidFill>
                  <a:schemeClr val="bg1"/>
                </a:solidFill>
              </a:rPr>
              <a:t>VisitorCounter</a:t>
            </a:r>
            <a:r>
              <a:rPr lang="en-IN" sz="1500" dirty="0">
                <a:solidFill>
                  <a:schemeClr val="bg1"/>
                </a:solidFill>
              </a:rPr>
              <a:t>();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    Runnable task = () -&gt;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for(int </a:t>
            </a:r>
            <a:r>
              <a:rPr lang="en-IN" sz="1500" dirty="0" err="1">
                <a:solidFill>
                  <a:schemeClr val="bg1"/>
                </a:solidFill>
              </a:rPr>
              <a:t>i</a:t>
            </a:r>
            <a:r>
              <a:rPr lang="en-IN" sz="1500" dirty="0">
                <a:solidFill>
                  <a:schemeClr val="bg1"/>
                </a:solidFill>
              </a:rPr>
              <a:t> = 0; </a:t>
            </a:r>
            <a:r>
              <a:rPr lang="en-IN" sz="1500" dirty="0" err="1">
                <a:solidFill>
                  <a:schemeClr val="bg1"/>
                </a:solidFill>
              </a:rPr>
              <a:t>i</a:t>
            </a:r>
            <a:r>
              <a:rPr lang="en-IN" sz="1500" dirty="0">
                <a:solidFill>
                  <a:schemeClr val="bg1"/>
                </a:solidFill>
              </a:rPr>
              <a:t> &lt; 1000; </a:t>
            </a:r>
            <a:r>
              <a:rPr lang="en-IN" sz="1500" dirty="0" err="1">
                <a:solidFill>
                  <a:schemeClr val="bg1"/>
                </a:solidFill>
              </a:rPr>
              <a:t>i</a:t>
            </a:r>
            <a:r>
              <a:rPr lang="en-IN" sz="1500" dirty="0">
                <a:solidFill>
                  <a:schemeClr val="bg1"/>
                </a:solidFill>
              </a:rPr>
              <a:t>++)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    vc1.visit();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};</a:t>
            </a:r>
          </a:p>
          <a:p>
            <a:endParaRPr lang="en-IN" sz="15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E214E-99B2-A114-766C-983C853066D0}"/>
              </a:ext>
            </a:extLst>
          </p:cNvPr>
          <p:cNvSpPr txBox="1"/>
          <p:nvPr/>
        </p:nvSpPr>
        <p:spPr>
          <a:xfrm>
            <a:off x="5691555" y="920261"/>
            <a:ext cx="5386754" cy="5401479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class </a:t>
            </a:r>
            <a:r>
              <a:rPr lang="en-IN" sz="1500" dirty="0" err="1">
                <a:solidFill>
                  <a:schemeClr val="bg1"/>
                </a:solidFill>
              </a:rPr>
              <a:t>VisitorCounter</a:t>
            </a:r>
            <a:r>
              <a:rPr lang="en-IN" sz="1500" dirty="0">
                <a:solidFill>
                  <a:schemeClr val="bg1"/>
                </a:solidFill>
              </a:rPr>
              <a:t>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static int count = 0;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>
                <a:solidFill>
                  <a:schemeClr val="bg1"/>
                </a:solidFill>
              </a:rPr>
              <a:t>    void visit()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synchronized(</a:t>
            </a:r>
            <a:r>
              <a:rPr lang="en-IN" sz="1500" dirty="0" err="1">
                <a:solidFill>
                  <a:schemeClr val="bg1"/>
                </a:solidFill>
              </a:rPr>
              <a:t>VisitorCounter.class</a:t>
            </a:r>
            <a:r>
              <a:rPr lang="en-IN" sz="1500" dirty="0">
                <a:solidFill>
                  <a:schemeClr val="bg1"/>
                </a:solidFill>
              </a:rPr>
              <a:t>) {  // Class-level lock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    count++;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 Thread t1 = new Thread(task);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        Thread t2 = new Thread(task);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        t1.start();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        t2.start();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        t1.join();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        t2.join();</a:t>
            </a:r>
          </a:p>
          <a:p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        </a:t>
            </a:r>
            <a:r>
              <a:rPr lang="en-US" sz="1500" dirty="0" err="1">
                <a:solidFill>
                  <a:schemeClr val="bg1"/>
                </a:solidFill>
              </a:rPr>
              <a:t>System.out.println</a:t>
            </a:r>
            <a:r>
              <a:rPr lang="en-US" sz="1500" dirty="0">
                <a:solidFill>
                  <a:schemeClr val="bg1"/>
                </a:solidFill>
              </a:rPr>
              <a:t>("Total visitors: " + </a:t>
            </a:r>
            <a:r>
              <a:rPr lang="en-US" sz="1500" dirty="0" err="1">
                <a:solidFill>
                  <a:schemeClr val="bg1"/>
                </a:solidFill>
              </a:rPr>
              <a:t>VisitorCounter.count</a:t>
            </a:r>
            <a:r>
              <a:rPr lang="en-US" sz="1500" dirty="0">
                <a:solidFill>
                  <a:schemeClr val="bg1"/>
                </a:solidFill>
              </a:rPr>
              <a:t>);</a:t>
            </a:r>
          </a:p>
          <a:p>
            <a:r>
              <a:rPr lang="en-US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US" sz="1500" dirty="0">
                <a:solidFill>
                  <a:schemeClr val="bg1"/>
                </a:solidFill>
              </a:rPr>
              <a:t>}</a:t>
            </a:r>
            <a:endParaRPr lang="en-IN" sz="1500" dirty="0">
              <a:solidFill>
                <a:schemeClr val="bg1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776BE5A-170E-F9E1-E589-50A4A637BB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6231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5DD2D-23BB-5A76-DC08-8B8ED8CD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Inter-thread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7CD9D-343A-3AA7-F20F-345174F72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Thread can talk to each other and notify them of their status. </a:t>
            </a:r>
            <a:r>
              <a:rPr lang="en-US" sz="1800" dirty="0">
                <a:solidFill>
                  <a:schemeClr val="bg1"/>
                </a:solidFill>
              </a:rPr>
              <a:t>It’s a mechanism where threads </a:t>
            </a:r>
            <a:r>
              <a:rPr lang="en-US" sz="1800" b="1" dirty="0">
                <a:solidFill>
                  <a:schemeClr val="bg1"/>
                </a:solidFill>
              </a:rPr>
              <a:t>talk to each other</a:t>
            </a:r>
            <a:r>
              <a:rPr lang="en-US" sz="1800" dirty="0">
                <a:solidFill>
                  <a:schemeClr val="bg1"/>
                </a:solidFill>
              </a:rPr>
              <a:t> to: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Wait for a condition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Signal when work is done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Avoid busy waiting (wasting CPU)</a:t>
            </a: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Inter-thread communication in java uses:-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wait()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notify()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bg1"/>
                </a:solidFill>
              </a:rPr>
              <a:t>notifyAll</a:t>
            </a:r>
            <a:r>
              <a:rPr lang="en-US" sz="1800" dirty="0">
                <a:solidFill>
                  <a:schemeClr val="bg1"/>
                </a:solidFill>
              </a:rPr>
              <a:t>()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join()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BF8D8-EFB6-FF50-21C7-FB62FBE6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845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E1ED-723A-412D-410C-8B6201FA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Inter-thread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968CF-4F3D-73D6-6B99-6C8989FE8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6871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u="sng" dirty="0">
                <a:solidFill>
                  <a:schemeClr val="bg1"/>
                </a:solidFill>
              </a:rPr>
              <a:t>wait</a:t>
            </a:r>
            <a:r>
              <a:rPr lang="en-IN" sz="1800" u="sng" dirty="0">
                <a:solidFill>
                  <a:schemeClr val="bg1"/>
                </a:solidFill>
              </a:rPr>
              <a:t>() </a:t>
            </a:r>
            <a:r>
              <a:rPr lang="en-IN" sz="1800" b="1" u="sng" dirty="0">
                <a:solidFill>
                  <a:schemeClr val="bg1"/>
                </a:solidFill>
              </a:rPr>
              <a:t>Method</a:t>
            </a:r>
          </a:p>
          <a:p>
            <a:pPr marL="0" indent="0">
              <a:buNone/>
            </a:pPr>
            <a:endParaRPr lang="en-US" sz="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Purpose:</a:t>
            </a:r>
            <a:r>
              <a:rPr lang="en-US" sz="1800" dirty="0">
                <a:solidFill>
                  <a:schemeClr val="bg1"/>
                </a:solidFill>
              </a:rPr>
              <a:t> Makes a thread pause and release the lock until another thread wakes it up. It must be called inside a </a:t>
            </a:r>
            <a:r>
              <a:rPr lang="en-US" sz="1800" b="1" dirty="0">
                <a:solidFill>
                  <a:schemeClr val="bg1"/>
                </a:solidFill>
              </a:rPr>
              <a:t>synchronized block. </a:t>
            </a:r>
            <a:r>
              <a:rPr lang="en-US" sz="1800" dirty="0">
                <a:solidFill>
                  <a:schemeClr val="bg1"/>
                </a:solidFill>
              </a:rPr>
              <a:t>Example:-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synchronized(obj)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</a:t>
            </a:r>
            <a:r>
              <a:rPr lang="en-US" sz="1800" dirty="0" err="1">
                <a:solidFill>
                  <a:schemeClr val="bg1"/>
                </a:solidFill>
              </a:rPr>
              <a:t>obj.wait</a:t>
            </a:r>
            <a:r>
              <a:rPr lang="en-US" sz="1800" dirty="0">
                <a:solidFill>
                  <a:schemeClr val="bg1"/>
                </a:solidFill>
              </a:rPr>
              <a:t>();  // Thread goes to WAITING state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u="sng" dirty="0">
                <a:solidFill>
                  <a:schemeClr val="bg1"/>
                </a:solidFill>
              </a:rPr>
              <a:t>notify() Method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Purpose:</a:t>
            </a:r>
            <a:r>
              <a:rPr lang="en-US" sz="1800" dirty="0">
                <a:solidFill>
                  <a:schemeClr val="bg1"/>
                </a:solidFill>
              </a:rPr>
              <a:t> Wakes up </a:t>
            </a:r>
            <a:r>
              <a:rPr lang="en-US" sz="1800" b="1" dirty="0">
                <a:solidFill>
                  <a:schemeClr val="bg1"/>
                </a:solidFill>
              </a:rPr>
              <a:t>one</a:t>
            </a:r>
            <a:r>
              <a:rPr lang="en-US" sz="1800" dirty="0">
                <a:solidFill>
                  <a:schemeClr val="bg1"/>
                </a:solidFill>
              </a:rPr>
              <a:t> thread waiting on the same object’s lock.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synchronized(obj) {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</a:t>
            </a:r>
            <a:r>
              <a:rPr lang="en-US" sz="1800" dirty="0" err="1">
                <a:solidFill>
                  <a:schemeClr val="bg1"/>
                </a:solidFill>
              </a:rPr>
              <a:t>obj.notify</a:t>
            </a:r>
            <a:r>
              <a:rPr lang="en-US" sz="1800" dirty="0">
                <a:solidFill>
                  <a:schemeClr val="bg1"/>
                </a:solidFill>
              </a:rPr>
              <a:t>();  // Wakes one waiting thread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}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2D989-F0C0-630A-E67C-015DEA4F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3836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43014-7B82-2BB5-68F0-A5D864B8A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Inter-thread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2054E-F23E-AB8A-171A-72B950B18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6637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u="sng" dirty="0" err="1">
                <a:solidFill>
                  <a:schemeClr val="bg1"/>
                </a:solidFill>
              </a:rPr>
              <a:t>notifyAll</a:t>
            </a:r>
            <a:r>
              <a:rPr lang="en-US" sz="1800" b="1" u="sng" dirty="0">
                <a:solidFill>
                  <a:schemeClr val="bg1"/>
                </a:solidFill>
              </a:rPr>
              <a:t>() Method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Purpose:</a:t>
            </a:r>
            <a:r>
              <a:rPr lang="en-US" sz="1800" dirty="0">
                <a:solidFill>
                  <a:schemeClr val="bg1"/>
                </a:solidFill>
              </a:rPr>
              <a:t> Wakes up </a:t>
            </a:r>
            <a:r>
              <a:rPr lang="en-US" sz="1800" b="1" dirty="0">
                <a:solidFill>
                  <a:schemeClr val="bg1"/>
                </a:solidFill>
              </a:rPr>
              <a:t>all</a:t>
            </a:r>
            <a:r>
              <a:rPr lang="en-US" sz="1800" dirty="0">
                <a:solidFill>
                  <a:schemeClr val="bg1"/>
                </a:solidFill>
              </a:rPr>
              <a:t> waiting threads.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Useful when multiple threads may be waiting for different conditions.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u="sng" dirty="0">
                <a:solidFill>
                  <a:schemeClr val="bg1"/>
                </a:solidFill>
              </a:rPr>
              <a:t>join() Method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Purpose:</a:t>
            </a:r>
            <a:r>
              <a:rPr lang="en-US" sz="1800" dirty="0">
                <a:solidFill>
                  <a:schemeClr val="bg1"/>
                </a:solidFill>
              </a:rPr>
              <a:t> Makes one thread wait until another thread finishes. Example:-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Thread t = new Thread(() -&gt; {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    </a:t>
            </a:r>
            <a:r>
              <a:rPr lang="en-US" sz="1600" dirty="0" err="1">
                <a:solidFill>
                  <a:schemeClr val="bg1"/>
                </a:solidFill>
              </a:rPr>
              <a:t>System.out.println</a:t>
            </a:r>
            <a:r>
              <a:rPr lang="en-US" sz="1600" dirty="0">
                <a:solidFill>
                  <a:schemeClr val="bg1"/>
                </a:solidFill>
              </a:rPr>
              <a:t>("Child thread running");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});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</a:rPr>
              <a:t>t.start</a:t>
            </a:r>
            <a:r>
              <a:rPr lang="en-US" sz="1600" dirty="0">
                <a:solidFill>
                  <a:schemeClr val="bg1"/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</a:rPr>
              <a:t>t.join</a:t>
            </a:r>
            <a:r>
              <a:rPr lang="en-US" sz="1600" dirty="0">
                <a:solidFill>
                  <a:schemeClr val="bg1"/>
                </a:solidFill>
              </a:rPr>
              <a:t>();  // Main thread waits here</a:t>
            </a:r>
          </a:p>
          <a:p>
            <a:pPr marL="0" indent="0">
              <a:buNone/>
            </a:pPr>
            <a:r>
              <a:rPr lang="en-US" sz="1600" dirty="0" err="1">
                <a:solidFill>
                  <a:schemeClr val="bg1"/>
                </a:solidFill>
              </a:rPr>
              <a:t>System.out.println</a:t>
            </a:r>
            <a:r>
              <a:rPr lang="en-US" sz="1600" dirty="0">
                <a:solidFill>
                  <a:schemeClr val="bg1"/>
                </a:solidFill>
              </a:rPr>
              <a:t>("Main thread resumes");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AB334-DE21-902E-D80A-099032A2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707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91436-D548-DD17-6F6E-7EEBF00F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Inter-thread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F289-13BE-E74D-DDD9-0CC40B662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3237063"/>
          </a:xfrm>
        </p:spPr>
        <p:txBody>
          <a:bodyPr/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Summary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9A7462-7ACE-5957-B2A1-F5D9B36C6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047714"/>
              </p:ext>
            </p:extLst>
          </p:nvPr>
        </p:nvGraphicFramePr>
        <p:xfrm>
          <a:off x="147638" y="1707210"/>
          <a:ext cx="10754823" cy="23782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3584941">
                  <a:extLst>
                    <a:ext uri="{9D8B030D-6E8A-4147-A177-3AD203B41FA5}">
                      <a16:colId xmlns:a16="http://schemas.microsoft.com/office/drawing/2014/main" val="511536265"/>
                    </a:ext>
                  </a:extLst>
                </a:gridCol>
                <a:gridCol w="3584941">
                  <a:extLst>
                    <a:ext uri="{9D8B030D-6E8A-4147-A177-3AD203B41FA5}">
                      <a16:colId xmlns:a16="http://schemas.microsoft.com/office/drawing/2014/main" val="4270296253"/>
                    </a:ext>
                  </a:extLst>
                </a:gridCol>
                <a:gridCol w="3584941">
                  <a:extLst>
                    <a:ext uri="{9D8B030D-6E8A-4147-A177-3AD203B41FA5}">
                      <a16:colId xmlns:a16="http://schemas.microsoft.com/office/drawing/2014/main" val="4127122166"/>
                    </a:ext>
                  </a:extLst>
                </a:gridCol>
              </a:tblGrid>
              <a:tr h="47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</a:rPr>
                        <a:t>Belongs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8377079"/>
                  </a:ext>
                </a:extLst>
              </a:tr>
              <a:tr h="47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wait()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Pause thread &amp; release lock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410099"/>
                  </a:ext>
                </a:extLst>
              </a:tr>
              <a:tr h="47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notify()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Wake one waiting thread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8272953"/>
                  </a:ext>
                </a:extLst>
              </a:tr>
              <a:tr h="47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notifyAll()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Wake all waiting threads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085450"/>
                  </a:ext>
                </a:extLst>
              </a:tr>
              <a:tr h="475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join()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Thread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Wait for another thread to finish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0143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57D07A-49BC-1369-C271-137CAF3DB078}"/>
              </a:ext>
            </a:extLst>
          </p:cNvPr>
          <p:cNvSpPr txBox="1"/>
          <p:nvPr/>
        </p:nvSpPr>
        <p:spPr>
          <a:xfrm>
            <a:off x="147638" y="4495800"/>
            <a:ext cx="69331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Important Rules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Always call wait() / notify() inside synchronized block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Use while loop (not if) to re-check condition after waking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wait() releases lock, sleep() does NOT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C20F437-89C7-77BA-ABB6-21D4480E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2960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E2EE-30FA-633E-7F70-3DBB4BDB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Inter-thread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C55A4-6B0E-C534-9699-1C61DE63B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34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Print spooler example (multiple users, one printer)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Use case:-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Many users send print jobs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Printer can handle only one job at a 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Jobs wait in a queue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Printer thread waits if no jobs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Users wait if queue is full</a:t>
            </a: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F30DC83-024D-7C04-BF7B-02CDC8E9BF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867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D4520-88B1-4B6D-C597-93E4050C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Inter-thread communication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DF03F4-2DBD-ED7B-B7D8-9F6A2BAD512F}"/>
              </a:ext>
            </a:extLst>
          </p:cNvPr>
          <p:cNvSpPr txBox="1"/>
          <p:nvPr/>
        </p:nvSpPr>
        <p:spPr>
          <a:xfrm>
            <a:off x="76200" y="1580390"/>
            <a:ext cx="5908431" cy="427809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class </a:t>
            </a:r>
            <a:r>
              <a:rPr lang="en-IN" sz="1600" dirty="0" err="1">
                <a:solidFill>
                  <a:schemeClr val="bg1"/>
                </a:solidFill>
              </a:rPr>
              <a:t>PrinterSpooler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private Queue&lt;String&gt; </a:t>
            </a:r>
            <a:r>
              <a:rPr lang="en-IN" sz="1600" dirty="0" err="1">
                <a:solidFill>
                  <a:schemeClr val="bg1"/>
                </a:solidFill>
              </a:rPr>
              <a:t>printQueue</a:t>
            </a:r>
            <a:r>
              <a:rPr lang="en-IN" sz="1600" dirty="0">
                <a:solidFill>
                  <a:schemeClr val="bg1"/>
                </a:solidFill>
              </a:rPr>
              <a:t> = new LinkedList&lt;&gt;();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private final int LIMIT = 3;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public synchronized void </a:t>
            </a:r>
            <a:r>
              <a:rPr lang="en-IN" sz="1600" dirty="0" err="1">
                <a:solidFill>
                  <a:schemeClr val="bg1"/>
                </a:solidFill>
              </a:rPr>
              <a:t>submitJob</a:t>
            </a:r>
            <a:r>
              <a:rPr lang="en-IN" sz="1600" dirty="0">
                <a:solidFill>
                  <a:schemeClr val="bg1"/>
                </a:solidFill>
              </a:rPr>
              <a:t>(String document) throws </a:t>
            </a:r>
            <a:r>
              <a:rPr lang="en-IN" sz="1600" dirty="0" err="1">
                <a:solidFill>
                  <a:schemeClr val="bg1"/>
                </a:solidFill>
              </a:rPr>
              <a:t>InterruptedException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while (</a:t>
            </a:r>
            <a:r>
              <a:rPr lang="en-IN" sz="1600" dirty="0" err="1">
                <a:solidFill>
                  <a:schemeClr val="bg1"/>
                </a:solidFill>
              </a:rPr>
              <a:t>printQueue.size</a:t>
            </a:r>
            <a:r>
              <a:rPr lang="en-IN" sz="1600" dirty="0">
                <a:solidFill>
                  <a:schemeClr val="bg1"/>
                </a:solidFill>
              </a:rPr>
              <a:t>() == LIMIT)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("Queue full. " + </a:t>
            </a:r>
            <a:r>
              <a:rPr lang="en-IN" sz="1600" dirty="0" err="1">
                <a:solidFill>
                  <a:schemeClr val="bg1"/>
                </a:solidFill>
              </a:rPr>
              <a:t>Thread.currentThread</a:t>
            </a:r>
            <a:r>
              <a:rPr lang="en-IN" sz="1600" dirty="0">
                <a:solidFill>
                  <a:schemeClr val="bg1"/>
                </a:solidFill>
              </a:rPr>
              <a:t>().</a:t>
            </a:r>
            <a:r>
              <a:rPr lang="en-IN" sz="1600" dirty="0" err="1">
                <a:solidFill>
                  <a:schemeClr val="bg1"/>
                </a:solidFill>
              </a:rPr>
              <a:t>getName</a:t>
            </a:r>
            <a:r>
              <a:rPr lang="en-IN" sz="1600" dirty="0">
                <a:solidFill>
                  <a:schemeClr val="bg1"/>
                </a:solidFill>
              </a:rPr>
              <a:t>() + " waiting...");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wait(); // Wait until space available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printQueue.add</a:t>
            </a:r>
            <a:r>
              <a:rPr lang="en-IN" sz="1600" dirty="0">
                <a:solidFill>
                  <a:schemeClr val="bg1"/>
                </a:solidFill>
              </a:rPr>
              <a:t>(document);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</a:t>
            </a:r>
            <a:r>
              <a:rPr lang="en-IN" sz="1600" dirty="0" err="1">
                <a:solidFill>
                  <a:schemeClr val="bg1"/>
                </a:solidFill>
              </a:rPr>
              <a:t>Thread.currentThread</a:t>
            </a:r>
            <a:r>
              <a:rPr lang="en-IN" sz="1600" dirty="0">
                <a:solidFill>
                  <a:schemeClr val="bg1"/>
                </a:solidFill>
              </a:rPr>
              <a:t>().</a:t>
            </a:r>
            <a:r>
              <a:rPr lang="en-IN" sz="1600" dirty="0" err="1">
                <a:solidFill>
                  <a:schemeClr val="bg1"/>
                </a:solidFill>
              </a:rPr>
              <a:t>getName</a:t>
            </a:r>
            <a:r>
              <a:rPr lang="en-IN" sz="1600" dirty="0">
                <a:solidFill>
                  <a:schemeClr val="bg1"/>
                </a:solidFill>
              </a:rPr>
              <a:t>() + " submitted: " + document);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notifyAll</a:t>
            </a:r>
            <a:r>
              <a:rPr lang="en-IN" sz="1600" dirty="0">
                <a:solidFill>
                  <a:schemeClr val="bg1"/>
                </a:solidFill>
              </a:rPr>
              <a:t>(); // Wake printer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92348-190B-3D46-E3D3-2891536154F6}"/>
              </a:ext>
            </a:extLst>
          </p:cNvPr>
          <p:cNvSpPr txBox="1"/>
          <p:nvPr/>
        </p:nvSpPr>
        <p:spPr>
          <a:xfrm>
            <a:off x="6096000" y="1580390"/>
            <a:ext cx="5920154" cy="304698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 public synchronized void </a:t>
            </a:r>
            <a:r>
              <a:rPr lang="en-IN" sz="1600" dirty="0" err="1">
                <a:solidFill>
                  <a:schemeClr val="bg1"/>
                </a:solidFill>
              </a:rPr>
              <a:t>printJob</a:t>
            </a:r>
            <a:r>
              <a:rPr lang="en-IN" sz="1600" dirty="0">
                <a:solidFill>
                  <a:schemeClr val="bg1"/>
                </a:solidFill>
              </a:rPr>
              <a:t>() throws </a:t>
            </a:r>
            <a:r>
              <a:rPr lang="en-IN" sz="1600" dirty="0" err="1">
                <a:solidFill>
                  <a:schemeClr val="bg1"/>
                </a:solidFill>
              </a:rPr>
              <a:t>InterruptedException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while (</a:t>
            </a:r>
            <a:r>
              <a:rPr lang="en-IN" sz="1600" dirty="0" err="1">
                <a:solidFill>
                  <a:schemeClr val="bg1"/>
                </a:solidFill>
              </a:rPr>
              <a:t>printQueue.isEmpty</a:t>
            </a:r>
            <a:r>
              <a:rPr lang="en-IN" sz="1600" dirty="0">
                <a:solidFill>
                  <a:schemeClr val="bg1"/>
                </a:solidFill>
              </a:rPr>
              <a:t>())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wait(); // Wait for job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String doc = </a:t>
            </a:r>
            <a:r>
              <a:rPr lang="en-IN" sz="1600" dirty="0" err="1">
                <a:solidFill>
                  <a:schemeClr val="bg1"/>
                </a:solidFill>
              </a:rPr>
              <a:t>printQueue.poll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("🖨️ Printing: " + doc);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Thread.sleep</a:t>
            </a:r>
            <a:r>
              <a:rPr lang="en-IN" sz="1600" dirty="0">
                <a:solidFill>
                  <a:schemeClr val="bg1"/>
                </a:solidFill>
              </a:rPr>
              <a:t>(500); // Simulate printing time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notifyAll</a:t>
            </a:r>
            <a:r>
              <a:rPr lang="en-IN" sz="1600" dirty="0">
                <a:solidFill>
                  <a:schemeClr val="bg1"/>
                </a:solidFill>
              </a:rPr>
              <a:t>(); // Wake waiting users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D9C64-E4FB-0C78-7673-3E08E6DE3F3E}"/>
              </a:ext>
            </a:extLst>
          </p:cNvPr>
          <p:cNvSpPr txBox="1"/>
          <p:nvPr/>
        </p:nvSpPr>
        <p:spPr>
          <a:xfrm>
            <a:off x="0" y="996461"/>
            <a:ext cx="5668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Shared Printer Queue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E50DE13-7D7A-AF4F-FCC2-0D89249A45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2810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5D30A-9BEA-04B9-7EB1-7A8CDEC18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9E86-59C9-A665-01E9-F24F942F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Inter-thread communication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5D05B-39CF-2551-1B4B-47DB8C4879B7}"/>
              </a:ext>
            </a:extLst>
          </p:cNvPr>
          <p:cNvSpPr txBox="1"/>
          <p:nvPr/>
        </p:nvSpPr>
        <p:spPr>
          <a:xfrm>
            <a:off x="69560" y="1340063"/>
            <a:ext cx="5908431" cy="4770537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class User extends Thread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private </a:t>
            </a:r>
            <a:r>
              <a:rPr lang="en-IN" sz="1600" dirty="0" err="1">
                <a:solidFill>
                  <a:schemeClr val="bg1"/>
                </a:solidFill>
              </a:rPr>
              <a:t>PrinterSpooler</a:t>
            </a:r>
            <a:r>
              <a:rPr lang="en-IN" sz="1600" dirty="0">
                <a:solidFill>
                  <a:schemeClr val="bg1"/>
                </a:solidFill>
              </a:rPr>
              <a:t> spooler;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User(</a:t>
            </a:r>
            <a:r>
              <a:rPr lang="en-IN" sz="1600" dirty="0" err="1">
                <a:solidFill>
                  <a:schemeClr val="bg1"/>
                </a:solidFill>
              </a:rPr>
              <a:t>PrinterSpooler</a:t>
            </a:r>
            <a:r>
              <a:rPr lang="en-IN" sz="1600" dirty="0">
                <a:solidFill>
                  <a:schemeClr val="bg1"/>
                </a:solidFill>
              </a:rPr>
              <a:t> spooler, String name)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super(name);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this.spooler</a:t>
            </a:r>
            <a:r>
              <a:rPr lang="en-IN" sz="1600" dirty="0">
                <a:solidFill>
                  <a:schemeClr val="bg1"/>
                </a:solidFill>
              </a:rPr>
              <a:t> = spooler;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public void run()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try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for (int </a:t>
            </a:r>
            <a:r>
              <a:rPr lang="en-IN" sz="1600" dirty="0" err="1">
                <a:solidFill>
                  <a:schemeClr val="bg1"/>
                </a:solidFill>
              </a:rPr>
              <a:t>i</a:t>
            </a:r>
            <a:r>
              <a:rPr lang="en-IN" sz="1600" dirty="0">
                <a:solidFill>
                  <a:schemeClr val="bg1"/>
                </a:solidFill>
              </a:rPr>
              <a:t> = 1; </a:t>
            </a:r>
            <a:r>
              <a:rPr lang="en-IN" sz="1600" dirty="0" err="1">
                <a:solidFill>
                  <a:schemeClr val="bg1"/>
                </a:solidFill>
              </a:rPr>
              <a:t>i</a:t>
            </a:r>
            <a:r>
              <a:rPr lang="en-IN" sz="1600" dirty="0">
                <a:solidFill>
                  <a:schemeClr val="bg1"/>
                </a:solidFill>
              </a:rPr>
              <a:t> &lt;= 2; </a:t>
            </a:r>
            <a:r>
              <a:rPr lang="en-IN" sz="1600" dirty="0" err="1">
                <a:solidFill>
                  <a:schemeClr val="bg1"/>
                </a:solidFill>
              </a:rPr>
              <a:t>i</a:t>
            </a:r>
            <a:r>
              <a:rPr lang="en-IN" sz="1600" dirty="0">
                <a:solidFill>
                  <a:schemeClr val="bg1"/>
                </a:solidFill>
              </a:rPr>
              <a:t>++)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    </a:t>
            </a:r>
            <a:r>
              <a:rPr lang="en-IN" sz="1600" dirty="0" err="1">
                <a:solidFill>
                  <a:schemeClr val="bg1"/>
                </a:solidFill>
              </a:rPr>
              <a:t>spooler.submitJob</a:t>
            </a:r>
            <a:r>
              <a:rPr lang="en-IN" sz="1600" dirty="0">
                <a:solidFill>
                  <a:schemeClr val="bg1"/>
                </a:solidFill>
              </a:rPr>
              <a:t>(</a:t>
            </a:r>
            <a:r>
              <a:rPr lang="en-IN" sz="1600" dirty="0" err="1">
                <a:solidFill>
                  <a:schemeClr val="bg1"/>
                </a:solidFill>
              </a:rPr>
              <a:t>getName</a:t>
            </a:r>
            <a:r>
              <a:rPr lang="en-IN" sz="1600" dirty="0">
                <a:solidFill>
                  <a:schemeClr val="bg1"/>
                </a:solidFill>
              </a:rPr>
              <a:t>() + "-Doc" + </a:t>
            </a:r>
            <a:r>
              <a:rPr lang="en-IN" sz="1600" dirty="0" err="1">
                <a:solidFill>
                  <a:schemeClr val="bg1"/>
                </a:solidFill>
              </a:rPr>
              <a:t>i</a:t>
            </a:r>
            <a:r>
              <a:rPr lang="en-IN" sz="1600" dirty="0">
                <a:solidFill>
                  <a:schemeClr val="bg1"/>
                </a:solidFill>
              </a:rPr>
              <a:t>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    </a:t>
            </a:r>
            <a:r>
              <a:rPr lang="en-IN" sz="1600" dirty="0" err="1">
                <a:solidFill>
                  <a:schemeClr val="bg1"/>
                </a:solidFill>
              </a:rPr>
              <a:t>Thread.sleep</a:t>
            </a:r>
            <a:r>
              <a:rPr lang="en-IN" sz="1600" dirty="0">
                <a:solidFill>
                  <a:schemeClr val="bg1"/>
                </a:solidFill>
              </a:rPr>
              <a:t>(300);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 catch (</a:t>
            </a:r>
            <a:r>
              <a:rPr lang="en-IN" sz="1600" dirty="0" err="1">
                <a:solidFill>
                  <a:schemeClr val="bg1"/>
                </a:solidFill>
              </a:rPr>
              <a:t>InterruptedException</a:t>
            </a:r>
            <a:r>
              <a:rPr lang="en-IN" sz="1600" dirty="0">
                <a:solidFill>
                  <a:schemeClr val="bg1"/>
                </a:solidFill>
              </a:rPr>
              <a:t> e)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e.printStackTrace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C7D59-BD57-FD89-2D03-946DBC9D15E1}"/>
              </a:ext>
            </a:extLst>
          </p:cNvPr>
          <p:cNvSpPr txBox="1"/>
          <p:nvPr/>
        </p:nvSpPr>
        <p:spPr>
          <a:xfrm>
            <a:off x="6096000" y="1340063"/>
            <a:ext cx="5920154" cy="4278094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class Printer extends Thread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private </a:t>
            </a:r>
            <a:r>
              <a:rPr lang="en-IN" sz="1600" dirty="0" err="1">
                <a:solidFill>
                  <a:schemeClr val="bg1"/>
                </a:solidFill>
              </a:rPr>
              <a:t>PrinterSpooler</a:t>
            </a:r>
            <a:r>
              <a:rPr lang="en-IN" sz="1600" dirty="0">
                <a:solidFill>
                  <a:schemeClr val="bg1"/>
                </a:solidFill>
              </a:rPr>
              <a:t> spooler;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Printer(</a:t>
            </a:r>
            <a:r>
              <a:rPr lang="en-IN" sz="1600" dirty="0" err="1">
                <a:solidFill>
                  <a:schemeClr val="bg1"/>
                </a:solidFill>
              </a:rPr>
              <a:t>PrinterSpooler</a:t>
            </a:r>
            <a:r>
              <a:rPr lang="en-IN" sz="1600" dirty="0">
                <a:solidFill>
                  <a:schemeClr val="bg1"/>
                </a:solidFill>
              </a:rPr>
              <a:t> spooler)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this.spooler</a:t>
            </a:r>
            <a:r>
              <a:rPr lang="en-IN" sz="1600" dirty="0">
                <a:solidFill>
                  <a:schemeClr val="bg1"/>
                </a:solidFill>
              </a:rPr>
              <a:t> = spooler;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public void run()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try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while (true)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    </a:t>
            </a:r>
            <a:r>
              <a:rPr lang="en-IN" sz="1600" dirty="0" err="1">
                <a:solidFill>
                  <a:schemeClr val="bg1"/>
                </a:solidFill>
              </a:rPr>
              <a:t>spooler.printJob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 catch (</a:t>
            </a:r>
            <a:r>
              <a:rPr lang="en-IN" sz="1600" dirty="0" err="1">
                <a:solidFill>
                  <a:schemeClr val="bg1"/>
                </a:solidFill>
              </a:rPr>
              <a:t>InterruptedException</a:t>
            </a:r>
            <a:r>
              <a:rPr lang="en-IN" sz="1600" dirty="0">
                <a:solidFill>
                  <a:schemeClr val="bg1"/>
                </a:solidFill>
              </a:rPr>
              <a:t> e)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("Printer shutting down...");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D97CF-928D-F959-DC8F-E695578D2F54}"/>
              </a:ext>
            </a:extLst>
          </p:cNvPr>
          <p:cNvSpPr txBox="1"/>
          <p:nvPr/>
        </p:nvSpPr>
        <p:spPr>
          <a:xfrm>
            <a:off x="69560" y="920262"/>
            <a:ext cx="2826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User Thread (producer)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648EC7-A95C-D3D5-157A-7242B9066859}"/>
              </a:ext>
            </a:extLst>
          </p:cNvPr>
          <p:cNvSpPr txBox="1"/>
          <p:nvPr/>
        </p:nvSpPr>
        <p:spPr>
          <a:xfrm>
            <a:off x="6030744" y="920262"/>
            <a:ext cx="3119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Printer Thread (consumer)</a:t>
            </a:r>
          </a:p>
        </p:txBody>
      </p:sp>
    </p:spTree>
    <p:extLst>
      <p:ext uri="{BB962C8B-B14F-4D97-AF65-F5344CB8AC3E}">
        <p14:creationId xmlns:p14="http://schemas.microsoft.com/office/powerpoint/2010/main" val="880843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FF310-31FA-7D98-0C0A-365D75CFE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FA0B-9BA5-EAF5-4D7F-515EED73D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Inter-thread communication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4446F-0C1D-001A-A316-DE10DADD29B9}"/>
              </a:ext>
            </a:extLst>
          </p:cNvPr>
          <p:cNvSpPr txBox="1"/>
          <p:nvPr/>
        </p:nvSpPr>
        <p:spPr>
          <a:xfrm>
            <a:off x="76818" y="920262"/>
            <a:ext cx="5908431" cy="5755422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public class Test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600" dirty="0" err="1">
                <a:solidFill>
                  <a:schemeClr val="bg1"/>
                </a:solidFill>
              </a:rPr>
              <a:t>args</a:t>
            </a:r>
            <a:r>
              <a:rPr lang="en-IN" sz="1600" dirty="0">
                <a:solidFill>
                  <a:schemeClr val="bg1"/>
                </a:solidFill>
              </a:rPr>
              <a:t>) throws </a:t>
            </a:r>
            <a:r>
              <a:rPr lang="en-IN" sz="1600" dirty="0" err="1">
                <a:solidFill>
                  <a:schemeClr val="bg1"/>
                </a:solidFill>
              </a:rPr>
              <a:t>InterruptedException</a:t>
            </a:r>
            <a:r>
              <a:rPr lang="en-IN" sz="1600" dirty="0">
                <a:solidFill>
                  <a:schemeClr val="bg1"/>
                </a:solidFill>
              </a:rPr>
              <a:t> {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PrinterSpooler</a:t>
            </a:r>
            <a:r>
              <a:rPr lang="en-IN" sz="1600" dirty="0">
                <a:solidFill>
                  <a:schemeClr val="bg1"/>
                </a:solidFill>
              </a:rPr>
              <a:t> spooler = new </a:t>
            </a:r>
            <a:r>
              <a:rPr lang="en-IN" sz="1600" dirty="0" err="1">
                <a:solidFill>
                  <a:schemeClr val="bg1"/>
                </a:solidFill>
              </a:rPr>
              <a:t>PrinterSpooler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Printer </a:t>
            </a:r>
            <a:r>
              <a:rPr lang="en-IN" sz="1600" dirty="0" err="1">
                <a:solidFill>
                  <a:schemeClr val="bg1"/>
                </a:solidFill>
              </a:rPr>
              <a:t>printer</a:t>
            </a:r>
            <a:r>
              <a:rPr lang="en-IN" sz="1600" dirty="0">
                <a:solidFill>
                  <a:schemeClr val="bg1"/>
                </a:solidFill>
              </a:rPr>
              <a:t> = new Printer(spooler);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printer.start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User u1 = new User(spooler, "Alice");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User u2 = new User(spooler, "Bob");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u1.start();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u2.start();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u1.join();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u2.join(); // Wait for all users to submit jobs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Thread.sleep</a:t>
            </a:r>
            <a:r>
              <a:rPr lang="en-IN" sz="1600" dirty="0">
                <a:solidFill>
                  <a:schemeClr val="bg1"/>
                </a:solidFill>
              </a:rPr>
              <a:t>(3000); // Allow printer to finish jobs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printer.interrupt</a:t>
            </a:r>
            <a:r>
              <a:rPr lang="en-IN" sz="1600" dirty="0">
                <a:solidFill>
                  <a:schemeClr val="bg1"/>
                </a:solidFill>
              </a:rPr>
              <a:t>();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        </a:t>
            </a:r>
            <a:r>
              <a:rPr lang="en-IN" sz="1600" dirty="0" err="1">
                <a:solidFill>
                  <a:schemeClr val="bg1"/>
                </a:solidFill>
              </a:rPr>
              <a:t>System.out.println</a:t>
            </a:r>
            <a:r>
              <a:rPr lang="en-IN" sz="1600" dirty="0">
                <a:solidFill>
                  <a:schemeClr val="bg1"/>
                </a:solidFill>
              </a:rPr>
              <a:t>("All printing completed.");</a:t>
            </a:r>
          </a:p>
          <a:p>
            <a:r>
              <a:rPr lang="en-IN" sz="16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BE8DC79-3EC7-2DFE-2716-E8092388C9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87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F1F8-E09E-EEFD-DCDD-ED3EFECA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auhaus 93" panose="04030905020B02020C02" pitchFamily="82" charset="0"/>
              </a:rPr>
              <a:t>Thank you!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F2CC60C-CCCA-D126-A44D-7042E9DE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36652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893</TotalTime>
  <Words>2419</Words>
  <Application>Microsoft Office PowerPoint</Application>
  <PresentationFormat>Widescreen</PresentationFormat>
  <Paragraphs>461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Agency FB</vt:lpstr>
      <vt:lpstr>Aptos</vt:lpstr>
      <vt:lpstr>Arial</vt:lpstr>
      <vt:lpstr>Arial Black</vt:lpstr>
      <vt:lpstr>Bauhaus 93</vt:lpstr>
      <vt:lpstr>Trebuchet MS</vt:lpstr>
      <vt:lpstr>Berlin</vt:lpstr>
      <vt:lpstr>&lt;ai/&gt; &lt;IQ/&gt; LABS</vt:lpstr>
      <vt:lpstr>Multi threading and concurrency {Agenda}</vt:lpstr>
      <vt:lpstr>Thread</vt:lpstr>
      <vt:lpstr>Thread lifecycle</vt:lpstr>
      <vt:lpstr>Thread lifecycle</vt:lpstr>
      <vt:lpstr>Creating Thread</vt:lpstr>
      <vt:lpstr>Creating Thread</vt:lpstr>
      <vt:lpstr>Creating Thread</vt:lpstr>
      <vt:lpstr>Creating Thread</vt:lpstr>
      <vt:lpstr>Synchronization</vt:lpstr>
      <vt:lpstr>Synchronization</vt:lpstr>
      <vt:lpstr>Synchronization</vt:lpstr>
      <vt:lpstr>Synchronization</vt:lpstr>
      <vt:lpstr>Synchronization</vt:lpstr>
      <vt:lpstr>Synchronization</vt:lpstr>
      <vt:lpstr>Synchronization</vt:lpstr>
      <vt:lpstr>Inter-thread communication</vt:lpstr>
      <vt:lpstr>Inter-thread communication</vt:lpstr>
      <vt:lpstr>Inter-thread communication</vt:lpstr>
      <vt:lpstr>Inter-thread communication</vt:lpstr>
      <vt:lpstr>Inter-thread communication</vt:lpstr>
      <vt:lpstr>Inter-thread communication</vt:lpstr>
      <vt:lpstr>Inter-thread communication</vt:lpstr>
      <vt:lpstr>Inter-thread communication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Slick Ark</dc:creator>
  <cp:lastModifiedBy>Slick Ark</cp:lastModifiedBy>
  <cp:revision>207</cp:revision>
  <dcterms:created xsi:type="dcterms:W3CDTF">2026-02-04T04:23:12Z</dcterms:created>
  <dcterms:modified xsi:type="dcterms:W3CDTF">2026-02-08T08:39:58Z</dcterms:modified>
</cp:coreProperties>
</file>